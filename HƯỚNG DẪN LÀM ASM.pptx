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5.webp" ContentType="image/webp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324" r:id="rId4"/>
    <p:sldId id="325" r:id="rId6"/>
    <p:sldId id="322" r:id="rId7"/>
    <p:sldId id="323" r:id="rId8"/>
    <p:sldId id="326" r:id="rId9"/>
    <p:sldId id="327" r:id="rId10"/>
    <p:sldId id="328" r:id="rId11"/>
    <p:sldId id="329" r:id="rId12"/>
    <p:sldId id="330" r:id="rId13"/>
    <p:sldId id="332" r:id="rId14"/>
    <p:sldId id="331" r:id="rId15"/>
    <p:sldId id="333" r:id="rId16"/>
    <p:sldId id="283" r:id="rId17"/>
    <p:sldId id="274" r:id="rId18"/>
    <p:sldId id="260" r:id="rId19"/>
    <p:sldId id="257" r:id="rId20"/>
    <p:sldId id="316" r:id="rId21"/>
    <p:sldId id="304" r:id="rId22"/>
    <p:sldId id="306" r:id="rId23"/>
    <p:sldId id="307" r:id="rId24"/>
    <p:sldId id="308" r:id="rId25"/>
    <p:sldId id="311" r:id="rId26"/>
    <p:sldId id="312" r:id="rId27"/>
    <p:sldId id="313" r:id="rId28"/>
    <p:sldId id="314" r:id="rId29"/>
    <p:sldId id="315" r:id="rId30"/>
    <p:sldId id="320" r:id="rId31"/>
    <p:sldId id="3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hi Mai Phuong (FE FPL HO)" initials="N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1" autoAdjust="0"/>
    <p:restoredTop sz="95710" autoAdjust="0"/>
  </p:normalViewPr>
  <p:slideViewPr>
    <p:cSldViewPr snapToGrid="0" showGuides="1">
      <p:cViewPr varScale="1">
        <p:scale>
          <a:sx n="153" d="100"/>
          <a:sy n="153" d="100"/>
        </p:scale>
        <p:origin x="928" y="184"/>
      </p:cViewPr>
      <p:guideLst>
        <p:guide orient="horz" pos="2132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C297E-28F0-408D-B6E4-57AFB62EEE3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D1A98-D8FD-481F-878D-C9D9FA9CB00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 u="sng"/>
              <a:t>5 TIÊU CHÍ ĐÁNH GIÁ DỰ ÁN:</a:t>
            </a:r>
            <a:endParaRPr lang="en-US" b="1" u="sng"/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Đánh giá tính khả thi: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Cần đánh giá thời gian - nhân lực - tài lực - vật lực có đủ để thực hiện dự án hay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Đánh giá tính đáp ứng: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Sản phẩm tạo ra là hữu hình hay vô hình có góp phần giải quyết một vấn đề gì đó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Đánh giá tính mới lạ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Đánh giá sản phẩm đã có người thực hiện hay chưa (nếu có số liệu thì tốt).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Tính cộng đồng: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Sức lan tỏa của dự án đến một nhóm cộng đồng nào đó. Để đánh giá được tiêu chí này cần có đối tượng mục tiêu - số lượng muốn lan tỏa.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Tính đo lường: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Có thể dùng các chỉ số, các công cụ đo lường sản phẩm đầu ra không?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1. Dự án quản l</a:t>
            </a:r>
            <a:r>
              <a:rPr lang="en-US" altLang="en-US"/>
              <a:t>ý</a:t>
            </a:r>
            <a:r>
              <a:rPr lang="en-US" altLang="en-US"/>
              <a:t> và vận chuyển hàng từ thiện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Nhóm sinh viên lên kế hoạch thu gom </a:t>
            </a:r>
            <a:r>
              <a:rPr lang="en-US" altLang="en-US"/>
              <a:t>đ</a:t>
            </a:r>
            <a:r>
              <a:rPr lang="en-US" altLang="en-US"/>
              <a:t>ồ từ thiện, phân loại, </a:t>
            </a:r>
            <a:r>
              <a:rPr lang="en-US" altLang="en-US"/>
              <a:t>đ</a:t>
            </a:r>
            <a:r>
              <a:rPr lang="en-US" altLang="en-US"/>
              <a:t>óng gói, sắp xếp vận chuyển </a:t>
            </a:r>
            <a:r>
              <a:rPr lang="en-US" altLang="en-US"/>
              <a:t>đ</a:t>
            </a:r>
            <a:r>
              <a:rPr lang="en-US" altLang="en-US"/>
              <a:t>ến nơi cần.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Gồm các b</a:t>
            </a:r>
            <a:r>
              <a:rPr lang="en-US" altLang="en-US"/>
              <a:t>ư</a:t>
            </a:r>
            <a:r>
              <a:rPr lang="en-US" altLang="en-US"/>
              <a:t>ớc: lập kế hoạch thu gom – dự trù chi phí – phân công nhân sự – báo cáo kết quả.</a:t>
            </a:r>
            <a:endParaRPr lang="en-US" altLang="en-US"/>
          </a:p>
          <a:p>
            <a:r>
              <a:rPr lang="en-US" altLang="en-US"/>
              <a:t>2. Khảo sát logistics tại doanh nghiệp </a:t>
            </a:r>
            <a:r>
              <a:rPr lang="en-US" altLang="en-US"/>
              <a:t>đ</a:t>
            </a:r>
            <a:r>
              <a:rPr lang="en-US" altLang="en-US"/>
              <a:t>ịa ph</a:t>
            </a:r>
            <a:r>
              <a:rPr lang="en-US" altLang="en-US"/>
              <a:t>ư</a:t>
            </a:r>
            <a:r>
              <a:rPr lang="en-US" altLang="en-US"/>
              <a:t>ơng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Liên hệ với một công ty giao nhận, kho bãi hoặc siêu thị.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Thực hiện khảo sát quy trình logistics, phỏng vấn nhân viên.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Tổng hợp thành báo cáo phân tích thực trạng &amp; </a:t>
            </a:r>
            <a:r>
              <a:rPr lang="en-US" altLang="en-US"/>
              <a:t>đ</a:t>
            </a:r>
            <a:r>
              <a:rPr lang="en-US" altLang="en-US"/>
              <a:t>ề xuất cải tiến.</a:t>
            </a:r>
            <a:endParaRPr lang="en-US" altLang="en-US"/>
          </a:p>
          <a:p>
            <a:r>
              <a:rPr lang="en-US" altLang="en-US"/>
              <a:t>3. Tổ chức sự kiện trong tr</a:t>
            </a:r>
            <a:r>
              <a:rPr lang="en-US" altLang="en-US"/>
              <a:t>ư</a:t>
            </a:r>
            <a:r>
              <a:rPr lang="en-US" altLang="en-US"/>
              <a:t>ờng (logistics cho sự kiện)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Ví dụ: tổ chức hội thảo nghề nghiệp hoặc hội chợ việc làm.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Sinh viên sẽ chịu trách nhiệm lên kế hoạch, phân công nhóm phụ trách hậu cần (vận chuyển, sắp xếp thiết bị, </a:t>
            </a:r>
            <a:r>
              <a:rPr lang="en-US" altLang="en-US"/>
              <a:t>đ</a:t>
            </a:r>
            <a:r>
              <a:rPr lang="en-US" altLang="en-US"/>
              <a:t>iều phối nhân sự, tiếp </a:t>
            </a:r>
            <a:r>
              <a:rPr lang="en-US" altLang="en-US"/>
              <a:t>đ</a:t>
            </a:r>
            <a:r>
              <a:rPr lang="en-US" altLang="en-US"/>
              <a:t>ón khách).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Đ</a:t>
            </a:r>
            <a:r>
              <a:rPr lang="en-US" altLang="en-US"/>
              <a:t>ây c</a:t>
            </a:r>
            <a:r>
              <a:rPr lang="en-US" altLang="en-US"/>
              <a:t>ũ</a:t>
            </a:r>
            <a:r>
              <a:rPr lang="en-US" altLang="en-US"/>
              <a:t>ng là môi tr</a:t>
            </a:r>
            <a:r>
              <a:rPr lang="en-US" altLang="en-US"/>
              <a:t>ư</a:t>
            </a:r>
            <a:r>
              <a:rPr lang="en-US" altLang="en-US"/>
              <a:t>ờng logistics thực tế ở quy mô nhỏ.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 u="sng">
                <a:sym typeface="+mn-ea"/>
              </a:rPr>
              <a:t>5 TIÊU CHÍ ĐÁNH GIÁ DỰ ÁN:</a:t>
            </a:r>
            <a:endParaRPr lang="en-US" b="1" u="sng"/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Đánh giá tính khả thi: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Cần đánh giá thời gian - nhân lực - tài lực - vật lực có đủ để thực hiện dự án hay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Đánh giá tính đáp ứng: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Sản phẩm tạo ra là hữu hình hay vô hình có góp phần giải quyết một vấn đề gì đó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Đánh giá tính mới lạ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Đánh giá sản phẩm đã có người thực hiện hay chưa (nếu có số liệu thì tốt).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Tính cộng đồng: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Sức lan tỏa của dự án đến một nhóm cộng đồng nào đó. Để đánh giá được tiêu chí này cần có đối tượng mục tiêu - số lượng muốn lan tỏa.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Tính đo lường: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Có thể dùng các chỉ số, các công cụ đo lường sản phẩm đầu ra không?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 u="sng"/>
              <a:t>5 TIÊU CHÍ ĐÁNH GIÁ DỰ ÁN:</a:t>
            </a:r>
            <a:endParaRPr lang="en-US" b="1" u="sng"/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Đánh giá tính khả thi: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Cần đánh giá thời gian - nhân lực - tài lực - vật lực có đủ để thực hiện dự án hay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Đánh giá tính đáp ứng: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Sản phẩm tạo ra là hữu hình hay vô hình có góp phần giải quyết một vấn đề gì đó không?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Đánh giá tính mới lạ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Đánh giá sản phẩm đã có người thực hiện hay chưa (nếu có số liệu thì tốt).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Tính cộng đồng: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Sức lan tỏa của dự án đến một nhóm cộng đồng nào đó. Để đánh giá được tiêu chí này cần có đối tượng mục tiêu - số lượng muốn lan tỏa.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Tính đo lường: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Có thể dùng các chỉ số, các công cụ đo lường sản phẩm đầu ra không?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D1A98-D8FD-481F-878D-C9D9FA9CB00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D1A98-D8FD-481F-878D-C9D9FA9CB00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D1A98-D8FD-481F-878D-C9D9FA9CB00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pic>
        <p:nvPicPr>
          <p:cNvPr id="4" name="Picture 3" hidden="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ebp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5.svg"/><Relationship Id="rId7" Type="http://schemas.openxmlformats.org/officeDocument/2006/relationships/image" Target="../media/image20.png"/><Relationship Id="rId6" Type="http://schemas.openxmlformats.org/officeDocument/2006/relationships/image" Target="../media/image13.svg"/><Relationship Id="rId5" Type="http://schemas.openxmlformats.org/officeDocument/2006/relationships/image" Target="../media/image19.png"/><Relationship Id="rId4" Type="http://schemas.openxmlformats.org/officeDocument/2006/relationships/image" Target="../media/image11.svg"/><Relationship Id="rId3" Type="http://schemas.openxmlformats.org/officeDocument/2006/relationships/image" Target="../media/image18.png"/><Relationship Id="rId2" Type="http://schemas.openxmlformats.org/officeDocument/2006/relationships/image" Target="../media/image9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5.svg"/><Relationship Id="rId7" Type="http://schemas.openxmlformats.org/officeDocument/2006/relationships/image" Target="../media/image20.png"/><Relationship Id="rId6" Type="http://schemas.openxmlformats.org/officeDocument/2006/relationships/image" Target="../media/image13.svg"/><Relationship Id="rId5" Type="http://schemas.openxmlformats.org/officeDocument/2006/relationships/image" Target="../media/image19.png"/><Relationship Id="rId4" Type="http://schemas.openxmlformats.org/officeDocument/2006/relationships/image" Target="../media/image11.svg"/><Relationship Id="rId3" Type="http://schemas.openxmlformats.org/officeDocument/2006/relationships/image" Target="../media/image18.png"/><Relationship Id="rId2" Type="http://schemas.openxmlformats.org/officeDocument/2006/relationships/image" Target="../media/image9.sv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5.svg"/><Relationship Id="rId7" Type="http://schemas.openxmlformats.org/officeDocument/2006/relationships/image" Target="../media/image20.png"/><Relationship Id="rId6" Type="http://schemas.openxmlformats.org/officeDocument/2006/relationships/image" Target="../media/image13.svg"/><Relationship Id="rId5" Type="http://schemas.openxmlformats.org/officeDocument/2006/relationships/image" Target="../media/image19.png"/><Relationship Id="rId4" Type="http://schemas.openxmlformats.org/officeDocument/2006/relationships/image" Target="../media/image11.svg"/><Relationship Id="rId3" Type="http://schemas.openxmlformats.org/officeDocument/2006/relationships/image" Target="../media/image18.png"/><Relationship Id="rId2" Type="http://schemas.openxmlformats.org/officeDocument/2006/relationships/image" Target="../media/image9.sv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3.pn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7599" y="469221"/>
            <a:ext cx="10116457" cy="2387600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 DẪN ASM MÔN KỸ NĂNG LÀM VIỆC</a:t>
            </a:r>
            <a:r>
              <a:rPr lang="en-US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(*)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29" y="52022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GV: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Nguyễn Khánh Ly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[P]: 0908387543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[M]: lynk18@fe.edu.vn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94141" y="6030119"/>
            <a:ext cx="5438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ý file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Kết quả hình ảnh cho project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05" y="1828909"/>
            <a:ext cx="6529052" cy="543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625" y="3229610"/>
            <a:ext cx="36576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/>
          <p:cNvSpPr/>
          <p:nvPr/>
        </p:nvSpPr>
        <p:spPr>
          <a:xfrm>
            <a:off x="374015" y="1052830"/>
            <a:ext cx="11389995" cy="525526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64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TỔNG QUAN DỰ ÁN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360" y="1241425"/>
            <a:ext cx="10709275" cy="5067300"/>
          </a:xfrm>
        </p:spPr>
        <p:txBody>
          <a:bodyPr>
            <a:no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xấu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vi-VN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altLang="en-US" sz="3200" b="1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85800" y="638175"/>
            <a:ext cx="10819765" cy="549529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73150" y="2643505"/>
            <a:ext cx="4897755" cy="249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1. Chuyên ngành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2. Truyền thông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3. Workshop/sự kiện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36570" y="140970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GỢI Ý CÁC LOẠI DỰ ÁN</a:t>
            </a:r>
            <a:endParaRPr lang="en-US" sz="40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363075" y="729615"/>
            <a:ext cx="2026073" cy="88646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977380" y="2428240"/>
            <a:ext cx="41014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Môi trường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Thiện nguyện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Bán hàng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14620" y="5027295"/>
            <a:ext cx="21666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Phim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703" y="5867400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0730" y="1251585"/>
            <a:ext cx="10818495" cy="4900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6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1: Tìm các vấn đề của nhóm đối tượng cụ thể </a:t>
            </a:r>
            <a:endParaRPr lang="vi-VN" altLang="en-US" sz="36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vi-VN" altLang="en-US" sz="3600" b="1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Ví dụ:</a:t>
            </a:r>
            <a:endParaRPr lang="vi-VN" altLang="en-US" sz="3600" b="1">
              <a:solidFill>
                <a:srgbClr val="00000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  <a:p>
            <a:pPr algn="just">
              <a:lnSpc>
                <a:spcPts val="5460"/>
              </a:lnSpc>
              <a:spcBef>
                <a:spcPct val="0"/>
              </a:spcBef>
            </a:pPr>
            <a:r>
              <a:rPr lang="vi-V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- N</a:t>
            </a:r>
            <a:r>
              <a:rPr lang="en-US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gười cao tuổi gặp khó khăn khi tìm thông tin dịch vụ hỗ trợ</a:t>
            </a:r>
            <a:r>
              <a:rPr lang="vi-V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 =&gt; xây dựng app để hỗ trợ</a:t>
            </a:r>
            <a:endParaRPr lang="en-US" altLang="en-US" sz="3600">
              <a:solidFill>
                <a:srgbClr val="00000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  <a:p>
            <a:pPr algn="just">
              <a:lnSpc>
                <a:spcPts val="5460"/>
              </a:lnSpc>
              <a:spcBef>
                <a:spcPct val="0"/>
              </a:spcBef>
            </a:pPr>
            <a:r>
              <a:rPr lang="vi-V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- S</a:t>
            </a:r>
            <a:r>
              <a:rPr lang="en-US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inh viên muốn làm hoạt động thiện nguyện nhưng không biết tìm chương trình ở đâu</a:t>
            </a:r>
            <a:r>
              <a:rPr lang="vi-V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 =&gt; Xây dựng web để tra cứu các chương trình thiện </a:t>
            </a:r>
            <a:r>
              <a:rPr lang="vi-V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nguyện</a:t>
            </a:r>
            <a:endParaRPr lang="vi-VN" altLang="en-US" sz="3600">
              <a:solidFill>
                <a:srgbClr val="00000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703" y="5867400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29339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0730" y="1174115"/>
            <a:ext cx="1081849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6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2: Chọn vấn đề để giải </a:t>
            </a:r>
            <a:r>
              <a:rPr lang="vi-VN" altLang="en-US" sz="36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quyết</a:t>
            </a:r>
            <a:endParaRPr lang="vi-VN" altLang="en-US" sz="36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7915" y="1936115"/>
            <a:ext cx="10818495" cy="49390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3000">
                <a:latin typeface="Times New Roman" panose="02020603050405020304" pitchFamily="18" charset="0"/>
                <a:cs typeface="Times New Roman" panose="02020603050405020304" pitchFamily="18" charset="0"/>
              </a:rPr>
              <a:t>Từ 3-5 vấn đề cộng đồng đã tìm, </a:t>
            </a: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tiến hành đánh giá vấn đề để tìm ra vấn đề đáng giải quyết.</a:t>
            </a:r>
            <a:endParaRPr lang="vi-V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- Các câu hỏi cần trả lời:</a:t>
            </a:r>
            <a:endParaRPr lang="vi-V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Có nhiều ng</a:t>
            </a:r>
            <a:r>
              <a:rPr lang="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ời cần giải quyết không</a:t>
            </a: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altLang="en-US" sz="3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ức </a:t>
            </a:r>
            <a:r>
              <a:rPr lang="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ộ ảnh h</a:t>
            </a:r>
            <a:r>
              <a:rPr lang="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ởng có lớn không</a:t>
            </a: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3. C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huyên môn có thể giúp gì</a:t>
            </a: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altLang="en-US" sz="3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4. N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hóm có </a:t>
            </a:r>
            <a:r>
              <a:rPr lang="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ủ khả n</a:t>
            </a:r>
            <a:r>
              <a:rPr lang="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ng làm không</a:t>
            </a:r>
            <a:r>
              <a:rPr lang="vi-VN" altLang="en-US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altLang="en-US" sz="3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3: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Xác định</a:t>
            </a:r>
            <a:r>
              <a:rPr lang="en-US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 “vấn </a:t>
            </a:r>
            <a:r>
              <a:rPr lang="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đ</a:t>
            </a:r>
            <a:r>
              <a:rPr lang="en-US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ề này có thật không?”</a:t>
            </a:r>
            <a:endParaRPr lang="en-US" altLang="en-US" sz="32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  <p:sp>
        <p:nvSpPr>
          <p:cNvPr id="13" name="Content Placeholder 2">
            <a:hlinkClick r:id="rId2" action="ppaction://hlinksldjump"/>
          </p:cNvPr>
          <p:cNvSpPr txBox="1"/>
          <p:nvPr/>
        </p:nvSpPr>
        <p:spPr>
          <a:xfrm>
            <a:off x="871220" y="1811655"/>
            <a:ext cx="10819130" cy="4406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hực hiện khảo sát nhanh với 5 - 10 người thuộc đối tượng thụ hưởng.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 câu hỏi gợi ý để xác định vấn đề: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vi-VN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 có từng gặp khó kh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 này ch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a? </a:t>
            </a:r>
            <a:endParaRPr lang="en-US" altLang="en-US" sz="28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vi-VN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 gặp rồi bạn th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 làm gì? </a:t>
            </a:r>
            <a:endParaRPr lang="en-US" altLang="en-US" sz="28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vi-VN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iều gì khiến bạn thấy bất tiện nhất? </a:t>
            </a:r>
            <a:endParaRPr lang="en-US" altLang="en-US" sz="28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vi-VN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 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ề này ảnh h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 thế nào 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ến bạn? </a:t>
            </a:r>
            <a:endParaRPr lang="en-US" altLang="en-US" sz="28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vi-VN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 muốn 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iều gì </a:t>
            </a:r>
            <a:r>
              <a:rPr lang="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ể việc này trở nên tốt hơn?</a:t>
            </a:r>
            <a:endParaRPr lang="en-US" altLang="en-US" sz="28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4: Xác định</a:t>
            </a:r>
            <a:r>
              <a:rPr lang="en-US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nhu cầu thật sự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của người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dùng</a:t>
            </a:r>
            <a:endParaRPr lang="vi-VN" altLang="en-US" sz="32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  <p:sp>
        <p:nvSpPr>
          <p:cNvPr id="13" name="Content Placeholder 2">
            <a:hlinkClick r:id="rId2" action="ppaction://hlinksldjump"/>
          </p:cNvPr>
          <p:cNvSpPr txBox="1"/>
          <p:nvPr/>
        </p:nvSpPr>
        <p:spPr>
          <a:xfrm>
            <a:off x="871220" y="1811655"/>
            <a:ext cx="10819130" cy="4406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vấn đề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sau: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Who: Họ là ai?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 đang gặp phải khó khăn gì?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Why: Tại sao vấn đề khó khăn này lại tồn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tại?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What: Họ thật sự cần điều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gì? 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3" name="Content Placeholder 2">
            <a:hlinkClick r:id="rId2" action="ppaction://hlinksldjump"/>
          </p:cNvPr>
          <p:cNvSpPr txBox="1"/>
          <p:nvPr/>
        </p:nvSpPr>
        <p:spPr>
          <a:xfrm>
            <a:off x="493395" y="1811655"/>
            <a:ext cx="11196955" cy="4406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dụ: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Who: S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 viên FPT Polytechnic muốn thiện nguyện. Khó kh</a:t>
            </a:r>
            <a:r>
              <a:rPr lang="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 là không biết tìm thông tin hoạt </a:t>
            </a:r>
            <a:r>
              <a:rPr lang="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ộng ở </a:t>
            </a:r>
            <a:r>
              <a:rPr lang="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âu.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Why: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 thông tin nằm rải rác nhiều nơi.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What: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 cần một cách dễ dàng </a:t>
            </a:r>
            <a:r>
              <a:rPr lang="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ể tìm hoạt </a:t>
            </a:r>
            <a:r>
              <a:rPr lang="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ộng thiện nguyện phù hợp.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4: Xác định</a:t>
            </a:r>
            <a:r>
              <a:rPr lang="en-US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nhu cầu thật sự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của người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dùng</a:t>
            </a:r>
            <a:endParaRPr lang="vi-VN" altLang="en-US" sz="32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3" name="Content Placeholder 2">
            <a:hlinkClick r:id="rId2" action="ppaction://hlinksldjump"/>
          </p:cNvPr>
          <p:cNvSpPr txBox="1"/>
          <p:nvPr/>
        </p:nvSpPr>
        <p:spPr>
          <a:xfrm>
            <a:off x="493395" y="1811655"/>
            <a:ext cx="11196955" cy="4406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Trả lời các câu hỏi sau:</a:t>
            </a:r>
            <a:endParaRPr lang="vi-VN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 ta giải quyết nhu cầu này bằng cách nào? </a:t>
            </a:r>
            <a:endParaRPr lang="en-US" altLang="en-US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 dùng </a:t>
            </a:r>
            <a:r>
              <a:rPr lang="vi-VN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 môn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thì sản phẩm</a:t>
            </a:r>
            <a:r>
              <a:rPr lang="vi-VN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/giải pháp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có thể là gì?</a:t>
            </a:r>
            <a:endParaRPr lang="en-US" altLang="en-US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vi-VN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Có cách nào khác ngoài </a:t>
            </a:r>
            <a:r>
              <a:rPr lang="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 </a:t>
            </a:r>
            <a:r>
              <a:rPr lang="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ầu tiên không?</a:t>
            </a:r>
            <a:endParaRPr lang="en-US" altLang="en-US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5: Liệt kê các giải pháp có thể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có</a:t>
            </a:r>
            <a:endParaRPr lang="vi-VN" altLang="en-US" sz="32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6: Chọn ra giải pháp phù hợp </a:t>
            </a:r>
            <a:r>
              <a:rPr lang="vi-VN" altLang="en-US" sz="32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nhất</a:t>
            </a:r>
            <a:endParaRPr lang="vi-VN" altLang="en-US" sz="32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63245" y="1978660"/>
            <a:ext cx="11371580" cy="4568190"/>
            <a:chOff x="887" y="3116"/>
            <a:chExt cx="17908" cy="7194"/>
          </a:xfrm>
        </p:grpSpPr>
        <p:sp>
          <p:nvSpPr>
            <p:cNvPr id="11" name="Rectangle: Rounded Corners 8"/>
            <p:cNvSpPr/>
            <p:nvPr/>
          </p:nvSpPr>
          <p:spPr>
            <a:xfrm>
              <a:off x="887" y="3116"/>
              <a:ext cx="17908" cy="70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/>
            </a:p>
          </p:txBody>
        </p:sp>
        <p:sp>
          <p:nvSpPr>
            <p:cNvPr id="12" name="Content Placeholder 2">
              <a:hlinkClick r:id="rId2" action="ppaction://hlinksldjump"/>
            </p:cNvPr>
            <p:cNvSpPr txBox="1"/>
            <p:nvPr/>
          </p:nvSpPr>
          <p:spPr>
            <a:xfrm>
              <a:off x="1034" y="3309"/>
              <a:ext cx="17612" cy="700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khả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khả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vừa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sức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đáp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góp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giải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quyết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vấn đề </a:t>
              </a:r>
              <a:endPara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mới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lạ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trước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hoặc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ít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người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cộng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toả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thông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điệp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nhiều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người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đến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đo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lường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đo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lường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hoặc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thấy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đầu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297815" y="1247775"/>
            <a:ext cx="11527790" cy="541083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ề là sinh viên muốn tham gia thiện nguyện nh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không tìm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 ch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 trình phù hợp. Nhu cầu là cần một nơi tập trung thông tin thiện nguyện r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õ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ràng, dễ tìm. Giải pháp có thể ngh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ĩ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 là một website hoặc trang tổng hợp các hoạt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ộng thiện nguyện uy tín, có bộ lọc theo thời gian,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ịa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iểm, yêu cầu, k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thông tin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k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 bạch.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53164" y="177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vi-V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dụ: </a:t>
            </a:r>
            <a:endParaRPr lang="vi-V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297815" y="1247775"/>
            <a:ext cx="11527790" cy="541083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ính khả thi 4/5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ính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ứng</a:t>
            </a: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4/5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ính mới lạ 3/5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ính cộng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ồng 5/5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ính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l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4/5. 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20/25 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iểm</a:t>
            </a: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53164" y="177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vi-V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dụ: </a:t>
            </a:r>
            <a:endParaRPr lang="vi-V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282055" y="2635885"/>
            <a:ext cx="47872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thích tại sao lại đưa ra điểm chấm như thế?</a:t>
            </a:r>
            <a:endParaRPr lang="vi-VN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3038" y="6030595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116867"/>
            <a:ext cx="9907543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Các bước xây dựng ý tưởng dự </a:t>
            </a:r>
            <a:r>
              <a:rPr lang="vi-VN" alt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án</a:t>
            </a:r>
            <a:endParaRPr lang="vi-VN" alt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1085850" y="998855"/>
            <a:ext cx="9645015" cy="6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B050"/>
                </a:solidFill>
                <a:latin typeface="Times New Roman" panose="02020603050405020304" pitchFamily="18" charset="0"/>
                <a:ea typeface="Arial Bold Italics" panose="020B0802020202090204"/>
                <a:cs typeface="Times New Roman" panose="02020603050405020304" pitchFamily="18" charset="0"/>
                <a:sym typeface="Arial Bold Italics" panose="020B0802020202090204"/>
              </a:rPr>
              <a:t>Bước 7: Viết mô tả dự án</a:t>
            </a:r>
            <a:endParaRPr lang="vi-VN" altLang="en-US" sz="4000" b="1">
              <a:solidFill>
                <a:srgbClr val="00B050"/>
              </a:solidFill>
              <a:latin typeface="Times New Roman" panose="02020603050405020304" pitchFamily="18" charset="0"/>
              <a:ea typeface="Arial Bold Italics" panose="020B0802020202090204"/>
              <a:cs typeface="Times New Roman" panose="02020603050405020304" pitchFamily="18" charset="0"/>
              <a:sym typeface="Arial Bold Italics" panose="020B0802020202090204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65860" y="1902460"/>
            <a:ext cx="477139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457200"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Tên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endParaRPr lang="en-US" sz="3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vi-VN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Lý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do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chọn</a:t>
            </a:r>
            <a:endParaRPr lang="en-US" sz="3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vi-VN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- Mô tả dự án</a:t>
            </a:r>
            <a:endParaRPr lang="en-US" sz="3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Mục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tiêu dự án</a:t>
            </a:r>
            <a:endParaRPr lang="en-US" sz="3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Đối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tượng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thụ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hưởng</a:t>
            </a:r>
            <a:endParaRPr lang="en-US" sz="32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vi-VN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Kết quả dự kiến</a:t>
            </a:r>
            <a:endParaRPr lang="vi-VN" altLang="en-US" sz="32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5" name="Picture 14"/>
          <p:cNvPicPr/>
          <p:nvPr/>
        </p:nvPicPr>
        <p:blipFill>
          <a:blip r:embed="rId2"/>
          <a:srcRect l="15241" t="-84" r="18197" b="802"/>
          <a:stretch>
            <a:fillRect/>
          </a:stretch>
        </p:blipFill>
        <p:spPr>
          <a:xfrm>
            <a:off x="6203315" y="2041525"/>
            <a:ext cx="5278755" cy="43840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Placeholder 4"/>
          <p:cNvPicPr>
            <a:picLocks noChangeAspect="1"/>
          </p:cNvPicPr>
          <p:nvPr>
            <p:ph type="pic" sz="quarter" idx="10"/>
          </p:nvPr>
        </p:nvPicPr>
        <p:blipFill>
          <a:blip r:embed="rId1"/>
          <a:srcRect l="-2219" t="14408" b="7614"/>
          <a:stretch>
            <a:fillRect/>
          </a:stretch>
        </p:blipFill>
        <p:spPr>
          <a:xfrm>
            <a:off x="7122160" y="64770"/>
            <a:ext cx="5008880" cy="679323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19480" y="172720"/>
            <a:ext cx="5425440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0" b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Ý tưởng dự án</a:t>
            </a:r>
            <a:endParaRPr lang="en-US" sz="5400" b="1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9560" y="1094740"/>
            <a:ext cx="67443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 trên 5W1H để xác định:</a:t>
            </a:r>
            <a:endParaRPr 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Chúng ta sẽ làm gì?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(Sản phẩm và Mục tiêu)</a:t>
            </a:r>
            <a:endParaRPr 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DA phục vụ cho ai?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(Đối tượng thụ hưởng)</a:t>
            </a:r>
            <a:endParaRPr 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Tại sao chúng ta phải làm dự án này? Mục đích dự án?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(Lý do đưa ra ý tưởng)</a:t>
            </a:r>
            <a:endParaRPr 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Dự án kéo dài bao lâu?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Khi nào bắt đầu và khi nào kết thúc?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Chúng ta sẽ làm dự án ở đâu?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Chúng ta sẽ làm dự án này như thế nào?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675" y="172720"/>
            <a:ext cx="1089025" cy="476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51510"/>
            <a:ext cx="5354955" cy="62064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nghĩa.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Nội quy nhóm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Ư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dự án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 - Lý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- Mô tả dự án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 - Mục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 dự án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Đối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tượng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thụ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hưởng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Đánh giá dự án dựa trên 5 tiêu chí</a:t>
            </a: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endParaRPr lang="en-US" sz="20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56325" y="948690"/>
            <a:ext cx="5702300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1. Kế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- Kế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p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hân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Gantt)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Kế hoạch đăng bài (Nếu có làm truyền thông)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D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2. Kết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được +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KẾT LUẬN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Thuận lợi và khó khăn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Bài học rút ra từ dự án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22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4. Clip quá trình làm dự án</a:t>
            </a:r>
            <a:endParaRPr lang="en-US" sz="22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700405" y="0"/>
            <a:ext cx="10515600" cy="920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TRÌNH BÀY DỰ ÁN – BẢO VỆ ASM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5908040" y="975360"/>
            <a:ext cx="0" cy="57404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003280" y="177800"/>
            <a:ext cx="9931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25" y="-335280"/>
            <a:ext cx="11836400" cy="13258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TRÌNH BÀY DỰ ÁN GIAI ĐOẠN 01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5" y="567055"/>
            <a:ext cx="6618605" cy="59620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I.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Tổng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quan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về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cách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thức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hoạt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động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của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nhóm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tin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nhóm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Tên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nhóm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ý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nghĩa.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Nội quy nhóm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thực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hiện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tên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Ư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nhược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điểm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từng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viên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Thông tin dự 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Tên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endParaRPr lang="en-US" sz="24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Lý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chọn</a:t>
            </a:r>
            <a:endParaRPr lang="en-US" sz="24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Mục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tiêu dự án</a:t>
            </a:r>
            <a:endParaRPr lang="en-US" sz="24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Đối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tượng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thụ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hưởng</a:t>
            </a:r>
            <a:endParaRPr lang="en-US" sz="2400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Đánh giá dự án dựa trên 5 tiêu chí</a:t>
            </a:r>
            <a:endParaRPr lang="en-US" sz="24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821170" y="656590"/>
            <a:ext cx="17145" cy="5970905"/>
          </a:xfrm>
          <a:prstGeom prst="line">
            <a:avLst/>
          </a:prstGeom>
          <a:ln w="6350" cap="flat" cmpd="sng" algn="ctr">
            <a:solidFill>
              <a:srgbClr val="FFC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7065645" y="554990"/>
            <a:ext cx="488759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II.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Nội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dung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triển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khai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Tx/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Kế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hoạch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Tx/>
              <a:buNone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 Kế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hoạch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hành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động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và p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hân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nhân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sự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sơ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đồ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Gantt)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Tx/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 Kế hoạch đăng bài (Nếu có làm truyền thông)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Tx/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 D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ự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trù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phí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Tx/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2.Đánh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thành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trong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nhóm</a:t>
            </a:r>
            <a:endParaRPr lang="en-US" sz="2400" b="1" i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154545" y="5259705"/>
            <a:ext cx="4782820" cy="14763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cầu: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Tất cả các thành viên đều tham gia thuyết trình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Làm slide để trình bày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Thời gian trình bày tối đa 10 phút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Chỉnh chu trang phục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85475" y="104140"/>
            <a:ext cx="1263650" cy="553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03910"/>
            <a:ext cx="5354955" cy="59112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vi-V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dự án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buNone/>
            </a:pP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 Mục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 dự án</a:t>
            </a:r>
            <a:endParaRPr lang="en-US" sz="2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buNone/>
            </a:pP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Đối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tượng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thụ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hưởng</a:t>
            </a:r>
            <a:endParaRPr lang="en-US" sz="2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II.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Nội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dung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triển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khai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án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Kế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hoạch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- Sơ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đồ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Gantt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 Kế hoạch đăng bài (Nếu có)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Kết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quả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Bảng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tổng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kết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phí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Kết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quả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đã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đạt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được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-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Hồ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</a:t>
            </a:r>
            <a:r>
              <a:rPr lang="vi-VN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ơ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chứng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endParaRPr lang="en-US" sz="2200" i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68720" y="975360"/>
            <a:ext cx="577088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KẾT LUẬN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=&gt; </a:t>
            </a:r>
            <a:r>
              <a:rPr lang="en-US" sz="24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Thuận lợi và khó khăn.</a:t>
            </a:r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Bài học rút ra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3. Đánh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700405" y="0"/>
            <a:ext cx="10515600" cy="920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TRÌNH BÀY ASM GĐ 2</a:t>
            </a: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5908040" y="975360"/>
            <a:ext cx="0" cy="57404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6156325" y="4445000"/>
            <a:ext cx="5762625" cy="163004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cầu: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Tất cả các thành viên đều tham gia thuyết trình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Làm slide để trình bày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Thời gian trình bày tối đa 10 phút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Chỉnh chu trang phục</a:t>
            </a:r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0"/>
            <a:ext cx="10515600" cy="1325563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 tiêu dự án</a:t>
            </a:r>
            <a:endParaRPr lang="en-US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6540" y="4348480"/>
            <a:ext cx="117995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Viết chuẩn smart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Cần ghi mục tiêu chính và cho thấy điều sẽ làm cho dự án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Các mục tiêu phụ để hỗ trợ cho MT chính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XÁC ĐỊNH MỤC TIÊU THEO NGUYÊN TẮC SMART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385" y="1096010"/>
            <a:ext cx="7397750" cy="318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808" flipH="1">
            <a:off x="-217141" y="-195747"/>
            <a:ext cx="2354781" cy="20636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121089" y="4639563"/>
            <a:ext cx="27258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  <a:spcBef>
                <a:spcPct val="0"/>
              </a:spcBef>
            </a:pPr>
            <a:r>
              <a:rPr lang="en-US" sz="169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TIN LIÊN HỆ</a:t>
            </a:r>
            <a:endParaRPr lang="en-US" sz="1695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V="1">
            <a:off x="9459967" y="4354471"/>
            <a:ext cx="3240476" cy="283983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4808">
            <a:off x="1290139" y="573927"/>
            <a:ext cx="363097" cy="36309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252734">
            <a:off x="9769499" y="5832635"/>
            <a:ext cx="385603" cy="385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498868" y="5995961"/>
            <a:ext cx="879907" cy="39195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898775" y="216535"/>
            <a:ext cx="5809615" cy="12388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MẪU </a:t>
            </a: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 </a:t>
            </a:r>
            <a:endParaRPr lang="en-US" sz="4000" b="1">
              <a:solidFill>
                <a:srgbClr val="FA96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rcRect b="57298"/>
          <a:stretch>
            <a:fillRect/>
          </a:stretch>
        </p:blipFill>
        <p:spPr>
          <a:xfrm>
            <a:off x="290830" y="1754505"/>
            <a:ext cx="11607165" cy="3869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808" flipH="1">
            <a:off x="-217141" y="-195747"/>
            <a:ext cx="2354781" cy="20636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121089" y="4639563"/>
            <a:ext cx="27258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  <a:spcBef>
                <a:spcPct val="0"/>
              </a:spcBef>
            </a:pPr>
            <a:r>
              <a:rPr lang="en-US" sz="169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TIN LIÊN HỆ</a:t>
            </a:r>
            <a:endParaRPr lang="en-US" sz="1695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V="1">
            <a:off x="9459967" y="4354471"/>
            <a:ext cx="3240476" cy="283983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4808">
            <a:off x="1290139" y="573927"/>
            <a:ext cx="363097" cy="36309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252734">
            <a:off x="9769499" y="5832635"/>
            <a:ext cx="385603" cy="385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498868" y="5995961"/>
            <a:ext cx="879907" cy="39195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292350" y="216535"/>
            <a:ext cx="7256780" cy="12388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MẪU </a:t>
            </a: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ĐĂNG BÀI</a:t>
            </a:r>
            <a:endParaRPr lang="en-US" sz="4000" b="1">
              <a:solidFill>
                <a:srgbClr val="FA96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" y="1219200"/>
            <a:ext cx="11302365" cy="5516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808" flipH="1">
            <a:off x="-217141" y="-195747"/>
            <a:ext cx="2354781" cy="20636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121089" y="4639563"/>
            <a:ext cx="27258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  <a:spcBef>
                <a:spcPct val="0"/>
              </a:spcBef>
            </a:pPr>
            <a:r>
              <a:rPr lang="en-US" sz="169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TIN LIÊN HỆ</a:t>
            </a:r>
            <a:endParaRPr lang="en-US" sz="1695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V="1">
            <a:off x="9459967" y="4354471"/>
            <a:ext cx="3240476" cy="283983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4808">
            <a:off x="1290139" y="573927"/>
            <a:ext cx="363097" cy="36309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252734">
            <a:off x="9769499" y="5832635"/>
            <a:ext cx="385603" cy="385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498868" y="5995961"/>
            <a:ext cx="879907" cy="39195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898775" y="216535"/>
            <a:ext cx="5809615" cy="12388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MẪU </a:t>
            </a: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PHÍ DỰ TRÙ</a:t>
            </a:r>
            <a:endParaRPr lang="en-US" sz="4000" b="1">
              <a:solidFill>
                <a:srgbClr val="FA96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8585" y="1820545"/>
            <a:ext cx="9004935" cy="3242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808" flipH="1">
            <a:off x="-217141" y="-195747"/>
            <a:ext cx="2354781" cy="20636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121089" y="4639563"/>
            <a:ext cx="27258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  <a:spcBef>
                <a:spcPct val="0"/>
              </a:spcBef>
            </a:pPr>
            <a:r>
              <a:rPr lang="en-US" sz="169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TIN LIÊN HỆ</a:t>
            </a:r>
            <a:endParaRPr lang="en-US" sz="1695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V="1">
            <a:off x="9459967" y="4354471"/>
            <a:ext cx="3240476" cy="283983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4808">
            <a:off x="1290139" y="573927"/>
            <a:ext cx="363097" cy="36309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252734">
            <a:off x="9769499" y="5832635"/>
            <a:ext cx="385603" cy="385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498868" y="5995961"/>
            <a:ext cx="879907" cy="39195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898775" y="216535"/>
            <a:ext cx="5809615" cy="12388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sz="4000" b="1">
                <a:solidFill>
                  <a:srgbClr val="FA962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MẪU ĐÁNH GIÁ DỰ ÁN</a:t>
            </a:r>
            <a:endParaRPr lang="en-US" sz="4000" b="1">
              <a:solidFill>
                <a:srgbClr val="FA96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70135" y="177800"/>
            <a:ext cx="2026073" cy="8864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1285240"/>
            <a:ext cx="11068050" cy="5248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66800" y="518160"/>
            <a:ext cx="1005840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Gợi ý thang điểm đánh giá 5 tiêu chí của dự án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3400" y="1603375"/>
            <a:ext cx="1103312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tính khả thi: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Cần đánh giá thời gian - nhân lực - tài lực - vật lực có đủ để thực hiện dự án hay không. Chia làm các mức điểm đánh giá như sau: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+ 0: Không thể thực hiện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+ 1: Có thể thực hiện nhưng thiếu 2 trong 4 yếu tố trên và chưa có cách giải quyết.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+ 2: Có thể thực hiện nhưng thiếu 2 trong 4 yếu tố trên và có cách giải quyết.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+ 3: Có thể thực hiện được nhưng thiếu 1 yếu tố và chưa có cách giải quyết.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+ 4: Có thể thực hiện được nhưng thiếu 1 yếu tố và có cách giải quyết.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+ 5: Có đủ cả 4 yếu tố thời gian - nhân - tài - vật lực.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25200" y="177800"/>
            <a:ext cx="87122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66800" y="518160"/>
            <a:ext cx="1005840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Gợi ý thang điểm đánh giá 5 tiêu chí của dự án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3400" y="1603375"/>
            <a:ext cx="1141920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Đánh giá tính đáp ứng: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 tạo ra là hữu hình hay vô hình đều góp phần giải quyết một vấn đề gì đó.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+ 0 : Hoàn toàn không giải quyết được vấn đề.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+ 1 : Không giải quyết được vấn đề nhưng bước đầu có sáng kiến.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+ 2 : Không giải quyết được vấn đề nhưng ý tưởng có thể tiếp tục phát huy.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+ 3: Giải quyết được 1 phần vấn đề nhưng không triệt để và chưa có hiệu quả cao.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+ 4: Giải quyết được vấn đề nhưng còn tồn đọng một phần nhỏ.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+ 5: Hoàn toàn giải quyết được vấn đề.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25200" y="177800"/>
            <a:ext cx="87122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66800" y="518160"/>
            <a:ext cx="1005840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Gợi ý thang điểm đánh giá 5 tiêu chí của dự án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800" y="1420495"/>
            <a:ext cx="1107376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Đánh giá tính mới lạ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ánh giá sản phẩm đã có người thực hiện hay chưa (nếu có số liệu thì tốt)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+ 0: Đã rất nhiều đơn vị thực hiện và phổ biến rộng rãi với khách hàng/ người sử dụng.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+ 1: Đã có rất nhiều đơn vị thực hiện nhưng chưa phổ biến với người dùng tại khu vực bạn làm.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+ 2: Đã có một vài đơn vị làm tại khu vực bạn thực hiện dự án.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+ 3: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Chưa có nhiều đơn vị làm nhưng phổ biến với khách hàng.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+ 4: Chưa có đơn vị nào làm nhưng người dùng lại biết sản phẩm/dịch vụ đó.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+ 5: Hoàn toàn mới lạ chưa ai làm.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25200" y="177800"/>
            <a:ext cx="87122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66800" y="365760"/>
            <a:ext cx="1005840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Gợi ý thang điểm đánh giá 5 tiêu chí của dự án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165" y="1276350"/>
            <a:ext cx="1138809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2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Tính cộng đồng: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Sức lan tỏa của dự án đến một nhóm cộng đồng nào đó. Để đánh giá được tiêu chí này cần có đối tượng khách hàng mục tiêu - số lượng muốn lan tỏa.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+ 0: Hoàn toàn không tiếp cận được cộng đồng.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+ 1: Có thể tiếp cận nhưng chưa lan tỏa được tới đối tượng thụ hưởng mục tiêu (Có &lt;20% cộng đồng biết về dự án).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+ 2: Có thể tiếp cận nhưng số lượng lan tỏa chưa lớn (Có &lt; 50% cộng đồng biết về dự án) 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+ 3: Có thể tiếp cận và số lượng người biết đến dự án đạt &gt; 70% quy mô cộng đồng mục tiêu.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+ 4: Dễ dàng tiếp cận và lan tỏa tới cộng động mong muốn.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+ 5: Hoàn toàn dễ dàng tiếp cận với đối tượng thụ hưởng mục tiêu + cộng đồng lân cận.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25200" y="177800"/>
            <a:ext cx="87122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>
            <a:hlinkClick r:id="rId1" action="ppaction://hlinksldjump"/>
          </p:cNvPr>
          <p:cNvSpPr txBox="1"/>
          <p:nvPr/>
        </p:nvSpPr>
        <p:spPr>
          <a:xfrm>
            <a:off x="1066800" y="203200"/>
            <a:ext cx="1005840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Gợi ý thang điểm đánh giá 5 tiêu chí của dự án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800" y="1125855"/>
            <a:ext cx="114865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Tính đo lường: </a:t>
            </a:r>
            <a:r>
              <a:rPr lang="en-US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thể dùng các chỉ số, các công cụ đo lường sản phẩm đầu ra không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8800" y="2160905"/>
            <a:ext cx="1148651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+ 0: Không thể đo lường kết quả dự án.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+ 1: Kết quả chỉ có thể đo lường định tính (Đạt/Không đạt; Tốt/Không tốt).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+ 2: Kết quả có thể đo lường bằng 1 chỉ số nhưng chưa xác định thời gian.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Kết quả có thể đo lường bằng 2+ chỉ số nhưng chưa xác định thời gian.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+ 4: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Kết quả có thể đo lường bằng 2+ chỉ số và có thể xác định ít nhất 1 mốc thời gian.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+ 5: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Kết quả có thể đo lường bằng 2+ chỉ số và có thể xác định ít nhất 2 mốc thời gian.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5200" y="177800"/>
            <a:ext cx="87122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4587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66800" y="670560"/>
            <a:ext cx="10058400" cy="645160"/>
          </a:xfrm>
          <a:prstGeom prst="rect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3600" b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BÁO CÁO NHANH DỰ ÁN </a:t>
            </a:r>
            <a:endParaRPr lang="en-US" sz="3600" b="1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800" y="1562735"/>
            <a:ext cx="1148651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Báo cáo nhanh các nội dung sau:</a:t>
            </a:r>
            <a:endParaRPr lang="en-US" sz="24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Đã làm được gì? (Các hoạt động đã triển khai và kết quả của chúng)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Vấn đề đang tồn đọng là gì? (Các khó khăn, thắc mắc chưa có phương án giải quyết)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Sẽ làm gì tiếp theo? (Các hoạt động/công việc sẽ triển khai ở tuần này)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đích: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GV nắm được tiến độ dự án và kịp thời hỗ trợ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Nhóm gia tăng tinh thần làm việc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Đảm bảo kết quả của dự án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67060" y="76200"/>
            <a:ext cx="1330960" cy="582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9909</Words>
  <Application>WPS Presentation</Application>
  <PresentationFormat>Widescreen</PresentationFormat>
  <Paragraphs>311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SimSun</vt:lpstr>
      <vt:lpstr>Wingdings</vt:lpstr>
      <vt:lpstr>Biome Light</vt:lpstr>
      <vt:lpstr>Yu Gothic UI Light</vt:lpstr>
      <vt:lpstr>Times New Roman</vt:lpstr>
      <vt:lpstr>Wingdings</vt:lpstr>
      <vt:lpstr>Microsoft YaHei</vt:lpstr>
      <vt:lpstr>Arial Unicode MS</vt:lpstr>
      <vt:lpstr>Calibri Light</vt:lpstr>
      <vt:lpstr>Calibri</vt:lpstr>
      <vt:lpstr>Arial Bold</vt:lpstr>
      <vt:lpstr>Arial Bold Italics</vt:lpstr>
      <vt:lpstr>Office Theme</vt:lpstr>
      <vt:lpstr>HƯỚNG DẪN ASM MÔN KỸ NĂNG LÀM VIỆC(*) (*) Cách thức thực hiện &amp; trình bày dự án</vt:lpstr>
      <vt:lpstr>GIỚI THIỆU TỔNG QUAN DỰ ÁN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CẤU TRÚC TRÌNH BÀY DỰ ÁN GIAI ĐOẠN 01</vt:lpstr>
      <vt:lpstr>PowerPoint 演示文稿</vt:lpstr>
      <vt:lpstr>Mục tiêu dự án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ASM MÔN KỸ NĂNG LÀM VIỆC(*) (*) Cách thức thực hiện &amp; trình bày dự án</dc:title>
  <dc:creator>LUTUNGTHANH</dc:creator>
  <cp:lastModifiedBy>KhanhLy</cp:lastModifiedBy>
  <cp:revision>168</cp:revision>
  <dcterms:created xsi:type="dcterms:W3CDTF">2017-03-16T13:12:00Z</dcterms:created>
  <dcterms:modified xsi:type="dcterms:W3CDTF">2026-09-16T05:11:47Z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CFB8F0B436EF432F98F00E80D0586222</vt:lpwstr>
  </property>
  <property fmtid="{D5CDD505-2E9C-101B-9397-08002B2CF9AE}" pid="3" name="KSOProductBuildVer">
    <vt:lpwstr>1033-12.1.0.28485</vt:lpwstr>
  </property>
</Properties>
</file>