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 id="280" r:id="rId31"/>
    <p:sldId id="281" r:id="rId32"/>
    <p:sldId id="282" r:id="rId3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Điểm dự kiến</c:v>
                </c:pt>
              </c:strCache>
            </c:strRef>
          </c:tx>
          <c:spPr>
            <a:solidFill>
              <a:srgbClr val="FF8A4C"/>
            </a:solidFill>
            <a:effectLst/>
          </c:spPr>
          <c:invertIfNegative val="0"/>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Khả thi</c:v>
                  </c:pt>
                  <c:pt idx="1">
                    <c:v>Đáp ứng</c:v>
                  </c:pt>
                  <c:pt idx="2">
                    <c:v>Mới lạ</c:v>
                  </c:pt>
                  <c:pt idx="3">
                    <c:v>Cộng đồng</c:v>
                  </c:pt>
                  <c:pt idx="4">
                    <c:v>Đo lường</c:v>
                  </c:pt>
                </c:lvl>
              </c:multiLvlStrCache>
            </c:multiLvlStrRef>
          </c:cat>
          <c:val>
            <c:numRef>
              <c:f>Sheet1!$B$2:$B$6</c:f>
              <c:numCache>
                <c:formatCode>General</c:formatCode>
                <c:ptCount val="5"/>
                <c:pt idx="0">
                  <c:v>4</c:v>
                </c:pt>
                <c:pt idx="1">
                  <c:v>4</c:v>
                </c:pt>
                <c:pt idx="2">
                  <c:v>2</c:v>
                </c:pt>
                <c:pt idx="3">
                  <c:v>3</c:v>
                </c:pt>
                <c:pt idx="4">
                  <c:v>5</c:v>
                </c:pt>
              </c:numCache>
            </c:numRef>
          </c:val>
        </c:ser>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DCE8F7"/>
                </a:solidFill>
                <a:latin typeface="Calibri"/>
              </a:defRPr>
            </a:pPr>
            <a:endParaRPr lang="en-US"/>
          </a:p>
        </c:txPr>
        <c:crossAx val="2094734552"/>
        <c:crosses val="autoZero"/>
        <c:auto val="1"/>
        <c:lblAlgn val="ctr"/>
        <c:noMultiLvlLbl val="1"/>
      </c:catAx>
      <c:valAx>
        <c:axId val="2094734552"/>
        <c:scaling>
          <c:orientation val="minMax"/>
          <c:max val="5.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~10 giây
Chào cô và các bạn. Nhóm xin báo cáo dự án FixNear – website giúp sinh viên tìm nơi sửa laptop và điện thoại phù hợp quanh khu vực trường. Bên phải là luồng sử dụng chính của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~10 giây
Báo cáo đi theo cấu trúc ASM giai đoạn 1: (I) tổng quan nhóm và dự án, trong đó có 7 bước xây dựng ý tưởng; (II) kế hoạch triển khai gồm Gantt, truyền thông và kinh phí; (III) đánh giá thành viên và kết luận. Cả 5 thành viên cùng thuyết trình, phân chia như bảng bên dưới (có thể chỉnh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~35 giây
Nhóm có 5 thành viên, cùng chịu trách nhiệm về tiến độ, chất lượng dữ liệu và sản phẩm cuối. Tên nhóm FIXNEAR = Fix (sửa chữa) + Near (gần), tức “sửa ở gần” – cũng là mục tiêu của sản phẩm. Nội quy nhấn mạnh 3 điều: mỗi việc có người phụ trách + hạn + đầu ra; không bịa số liệu; và tranh luận dựa trên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~35 giây
Giới thiệu nhanh 5 thành viên: vai trò, ưu điểm và điểm cần lưu ý. Nhóm chia việc theo thế mạnh (điều phối/full-stack, khảo sát/dữ liệu, UI/UX, backend/testing, nội dung/đối ngoại) và đã tính trước điểm yếu để phân công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~10 giây
Nhóm làm theo đúng 7 bước trong hướng dẫn ASM: tìm vấn đề → chọn vấn đề → kiểm chứng → nhu cầu thật → liệt kê giải pháp → chọn giải pháp → mô tả dự án. Ở các bước đầu nhóm chưa mặc định giải pháp là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Trung  ·  ~30 giây
Nhóm đối tượng là sinh viên. Khi laptop/điện thoại hỏng, sinh viên gặp 5 khó khăn: khó tìm nơi sửa gần trường; không biết khoảng giá; không rõ cửa hàng nhận đúng lỗi không; review nằm rải rác; thông tin giờ mở cửa, bảo hành, liên hệ thiếu đồng nhất. Lưu ý: ở bước này chưa chốt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Hiếu  ·  ~35 giây
Từ 5 vấn đề, nhóm chốt vấn đề trọng tâm và trả lời 4 câu hỏi của cô: số người gặp (chưa kết luận, sẽ khảo sát), mức ảnh hưởng, chuyên môn của nhóm, và năng lực nhóm trong 3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Hiếu  ·  ~30 giây
Để kiểm chứng vấn đề có thật, nhóm khảo sát nhanh bằng Google Form, mục tiêu tối thiểu 10 sinh viên (hướng dẫn gợi ý 5–10). Đây là MỤC TIÊU; nhóm sẽ chỉ báo cáo số liệu sau khi thu được dữ liệu thật, không điền số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Hiếu  ·  ~30 giây
Cô nhận xét ý tưởng có tính khả thi cao, nhưng nếu chỉ quanh trường thì số cửa hàng có thể ít. Nhóm điều chỉnh 3 việc: (1) khảo sát thực địa đếm số cửa hàng trong bán kính nhóm đặt ra; (2) chốt phạm vi dựa trên kết quả — đủ ít nhất 10 cửa hàng thì giữ, chưa đủ thì mở rộng bán kính hoặc thêm khu vực; (3) mở rộng sản phẩm: lọc nhiều khu vực và nhúng bản đồ xem khoảng cách. Bán kính cụ thể và kết quả khảo sát sẽ cập nhật sau khi nhóm đi thực địa.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Đình  ·  ~30 giây
Who: sinh viên dùng laptop/điện thoại, nhất là người ít kinh nghiệm sửa. Why: thông tin phân tán, giá phụ thuộc model và tình trạng máy. What: một cách tìm nơi sửa theo lỗi và xem giá tham khảo, vị trí, review, chỉ đường trong cùng một luồng.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Đình  ·  ~30 giây
Nhóm liệt kê 5 phương án: Google Sheet, fanpage/nhóm Facebook, danh sách Google Maps, website FixNear, ứng dụng mobile — mỗi phương án đều có ưu và nhược. Website được chọn vì có dữ liệu có cấu trúc, tìm/lọc theo lỗi và phù hợp chuyên môn; app mobile vượt phạm vi 3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Phúc  ·  ~45 giây
Cô đã nhận xét ý tưởng có tính khả thi cao. Nhóm chọn website FixNear và chấm theo 5 tiêu chí: khả thi 4, đáp ứng 4, mới lạ 2, cộng đồng 3, đo lường 5 — tổng 18/25. Nhóm tự nhận tính mới lạ thấp vì mô hình danh bạ/review đã tồn tại; điểm khác biệt là ngách sinh viên quanh trường + tìm theo lỗi + giá tham khảo. Đây là điểm dự kiến trước triển khai, sẽ đối chiếu lại cuối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Kim  ·  ~35 giây
Mô tả dự án theo hướng dẫn: tên, lý do chọn, mô tả, mục tiêu, đối tượng thụ hưởng và kết quả dự kiến. Nhấn mạnh luồng: thiết bị/lỗi → cửa hàng → giá tham khảo/review → chỉ đường, và mục tiêu tối thiểu: 10 cửa hàng, 10 khảo sát, 1 vòng dùng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Kim  ·  ~25 giây
Mục tiêu viết theo SMART. Mục tiêu chính là MVP website FixNear; các chỉ số đo được: ≥10 cửa hàng, ≥10 khảo sát, ≥6 chức năng, ≥1 vòng dùng thử; thời hạn 3 tuần; phạm vi được giới hạn để khả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Kim  ·  ~15 giây
Ý tưởng dự án theo 5W1H: làm gì, cho ai, vì sao, khi nào, ở đâu và làm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Kim  ·  ~30 giây
Luồng chính: chọn thiết bị → chọn lỗi/dịch vụ → xem cửa hàng phù hợp → xem giá tham khảo và review → mở chỉ đường. Phạm vi MVP gồm 7 nhóm chức năng; các tính năng ngoài phạm vi (thanh toán, đặt lịch, chat, AI, giao nhận, app mobile, toàn thành phố) được loại có chủ đích để kịp 3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Phúc  ·  ~35 giây
Kế hoạch 21 ngày chia 3 tuần. Tuần 1: khảo sát, thu thập cửa hàng, wireframe, database. Tuần 2: giao diện tìm kiếm/danh sách/chi tiết, login, nhập dữ liệu. Tuần 3: review + admin, kiểm thử, dùng thử, báo cáo/slide/clip. Theo góp ý của cô, ngay tuần 1 nhóm khảo sát số cửa hàng theo bán kính để chốt phạm vi, và tuần 2–3 làm bộ lọc khu vực + bản đồ nhúng. Mỗi việc có người phụ trách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Phúc  ·  ~20 giây
Nhóm kiểm soát tiến độ bằng 3 mốc cuối tuần với đầu ra bắt buộc, và báo cáo nhanh cho cô mỗi tuần theo 3 câu hỏi: đã làm gì, tồn đọng gì, sẽ làm gì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Hiếu  ·  ~20 giây
Kế hoạch đăng bài bám theo 3 tuần: tuần 1 phát form khảo sát; tuần 2 giới thiệu FixNear và mời dùng thử; tuần 3 mời dùng thử và thu feedback; cuối cùng chia sẻ sản phẩm để có minh chứng tính cộng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Hiếu  ·  ~25 giây
Tổng dự trù 200.000đ: hosting và tên miền dùng miễn phí/localhost; di chuyển khảo sát 100.000đ chỉ phát sinh nếu cần đi thực địa; in tài liệu/QR 50.000đ; dự phòng 50.000đ. Nếu làm hoàn toàn online, chi phí có thể thấp hơn. Cột thực tế sẽ cập nhật ở giai đoạn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Đình  ·  ~25 giây
Mỗi thành viên có trọng trách và tiêu chí đánh giá gắn với đầu ra cụ thể. Cuối kỳ nhóm sẽ tự đánh giá và đánh giá chéo, đối chiếu với tiến độ và minh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(đề xuất): Đình  ·  ~20 giây
Thuận lợi: nhóm đủ người, hợp chuyên môn web, dùng công cụ miễn phí, sinh viên dễ tiếp cận. Khó khăn dự kiến: thời gian 3 tuần, thu thập giá thật, dữ liệu thay đổi, review cần kiểm duyệt. Nhóm xin cô góp ý về vấn đề trọng tâm, phạm vi và kế hoạch. Xin cảm ơn cô và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slideLayout" Target="../slideLayouts/slideLayout1.xml"/><Relationship Id="rId2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A"/>
        </a:solidFill>
      </p:bgPr>
    </p:bg>
    <p:spTree>
      <p:nvGrpSpPr>
        <p:cNvPr id="1" name=""/>
        <p:cNvGrpSpPr/>
        <p:nvPr/>
      </p:nvGrpSpPr>
      <p:grpSpPr>
        <a:xfrm>
          <a:off x="0" y="0"/>
          <a:ext cx="0" cy="0"/>
          <a:chOff x="0" y="0"/>
          <a:chExt cx="0" cy="0"/>
        </a:xfrm>
      </p:grpSpPr>
      <p:sp>
        <p:nvSpPr>
          <p:cNvPr id="2" name="Text 0"/>
          <p:cNvSpPr txBox="1"/>
          <p:nvPr/>
        </p:nvSpPr>
        <p:spPr>
          <a:xfrm>
            <a:off x="731520" y="1143000"/>
            <a:ext cx="6035040" cy="320040"/>
          </a:xfrm>
          <a:prstGeom prst="rect">
            <a:avLst/>
          </a:prstGeom>
          <a:noFill/>
          <a:ln/>
        </p:spPr>
        <p:txBody>
          <a:bodyPr wrap="square" lIns="0" tIns="0" rIns="0" bIns="0" rtlCol="0" anchor="t"/>
          <a:lstStyle/>
          <a:p>
            <a:pPr indent="0" marL="0">
              <a:buNone/>
            </a:pPr>
            <a:r>
              <a:rPr lang="en-US" sz="1400" b="1" spc="300" kern="0" dirty="0">
                <a:solidFill>
                  <a:srgbClr val="FF8A4C"/>
                </a:solidFill>
                <a:latin typeface="Arial" pitchFamily="34" charset="0"/>
                <a:ea typeface="Arial" pitchFamily="34" charset="-122"/>
                <a:cs typeface="Arial" pitchFamily="34" charset="-120"/>
              </a:rPr>
              <a:t>BÁO CÁO DỰ ÁN  ·  ASM GIAI ĐOẠN 1</a:t>
            </a:r>
            <a:endParaRPr lang="en-US" sz="1400" dirty="0"/>
          </a:p>
        </p:txBody>
      </p:sp>
      <p:sp>
        <p:nvSpPr>
          <p:cNvPr id="3" name="Text 1"/>
          <p:cNvSpPr txBox="1"/>
          <p:nvPr/>
        </p:nvSpPr>
        <p:spPr>
          <a:xfrm>
            <a:off x="731520" y="1554480"/>
            <a:ext cx="6035040" cy="123444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FIXNEAR</a:t>
            </a:r>
            <a:endParaRPr lang="en-US" sz="8000" dirty="0"/>
          </a:p>
        </p:txBody>
      </p:sp>
      <p:sp>
        <p:nvSpPr>
          <p:cNvPr id="4" name="Text 2"/>
          <p:cNvSpPr txBox="1"/>
          <p:nvPr/>
        </p:nvSpPr>
        <p:spPr>
          <a:xfrm>
            <a:off x="731520" y="2880360"/>
            <a:ext cx="6035040" cy="502920"/>
          </a:xfrm>
          <a:prstGeom prst="rect">
            <a:avLst/>
          </a:prstGeom>
          <a:noFill/>
          <a:ln/>
        </p:spPr>
        <p:txBody>
          <a:bodyPr wrap="square" lIns="0" tIns="0" rIns="0" bIns="0" rtlCol="0" anchor="ctr"/>
          <a:lstStyle/>
          <a:p>
            <a:pPr indent="0" marL="0">
              <a:buNone/>
            </a:pPr>
            <a:r>
              <a:rPr lang="en-US" sz="2600" b="1" dirty="0">
                <a:solidFill>
                  <a:srgbClr val="3DD6C6"/>
                </a:solidFill>
                <a:latin typeface="Calibri" pitchFamily="34" charset="0"/>
                <a:ea typeface="Calibri" pitchFamily="34" charset="-122"/>
                <a:cs typeface="Calibri" pitchFamily="34" charset="-120"/>
              </a:rPr>
              <a:t>Hỏng đồ? Tìm đúng chỗ sửa.</a:t>
            </a:r>
            <a:endParaRPr lang="en-US" sz="2600" dirty="0"/>
          </a:p>
        </p:txBody>
      </p:sp>
      <p:sp>
        <p:nvSpPr>
          <p:cNvPr id="5" name="Text 3"/>
          <p:cNvSpPr txBox="1"/>
          <p:nvPr/>
        </p:nvSpPr>
        <p:spPr>
          <a:xfrm>
            <a:off x="731520" y="3566160"/>
            <a:ext cx="5669280" cy="868680"/>
          </a:xfrm>
          <a:prstGeom prst="rect">
            <a:avLst/>
          </a:prstGeom>
          <a:noFill/>
          <a:ln/>
        </p:spPr>
        <p:txBody>
          <a:bodyPr wrap="square" lIns="0" tIns="0" rIns="0" bIns="0" rtlCol="0" anchor="t"/>
          <a:lstStyle/>
          <a:p>
            <a:pPr indent="0" marL="0">
              <a:buNone/>
            </a:pPr>
            <a:r>
              <a:rPr lang="en-US" sz="1800" dirty="0">
                <a:solidFill>
                  <a:srgbClr val="DCE8F7"/>
                </a:solidFill>
                <a:latin typeface="Calibri" pitchFamily="34" charset="0"/>
                <a:ea typeface="Calibri" pitchFamily="34" charset="-122"/>
                <a:cs typeface="Calibri" pitchFamily="34" charset="-120"/>
              </a:rPr>
              <a:t>Website hỗ trợ sinh viên tìm nơi sửa laptop và điện thoại phù hợp quanh khu vực trường</a:t>
            </a:r>
            <a:endParaRPr lang="en-US" sz="1800" dirty="0"/>
          </a:p>
        </p:txBody>
      </p:sp>
      <p:sp>
        <p:nvSpPr>
          <p:cNvPr id="6" name="Text 4"/>
          <p:cNvSpPr txBox="1"/>
          <p:nvPr/>
        </p:nvSpPr>
        <p:spPr>
          <a:xfrm>
            <a:off x="731520" y="4892040"/>
            <a:ext cx="5852160" cy="1097280"/>
          </a:xfrm>
          <a:prstGeom prst="rect">
            <a:avLst/>
          </a:prstGeom>
          <a:noFill/>
          <a:ln/>
        </p:spPr>
        <p:txBody>
          <a:bodyPr wrap="square" lIns="0" tIns="0" rIns="0" bIns="0" rtlCol="0" anchor="t"/>
          <a:lstStyle/>
          <a:p>
            <a:pPr indent="0" marL="0">
              <a:spcAft>
                <a:spcPts val="600"/>
              </a:spcAft>
              <a:buNone/>
            </a:pPr>
            <a:r>
              <a:rPr lang="en-US" sz="1500" dirty="0">
                <a:solidFill>
                  <a:srgbClr val="8FA3C4"/>
                </a:solidFill>
                <a:latin typeface="Calibri" pitchFamily="34" charset="0"/>
                <a:ea typeface="Calibri" pitchFamily="34" charset="-122"/>
                <a:cs typeface="Calibri" pitchFamily="34" charset="-120"/>
              </a:rPr>
              <a:t>Môn học   </a:t>
            </a:r>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PDP104 – Kỹ năng làm việc</a:t>
            </a:r>
            <a:endParaRPr lang="en-US" sz="1500" dirty="0"/>
          </a:p>
          <a:p>
            <a:pPr indent="0" marL="0">
              <a:spcAft>
                <a:spcPts val="600"/>
              </a:spcAft>
              <a:buNone/>
            </a:pPr>
            <a:r>
              <a:rPr lang="en-US" sz="1500" dirty="0">
                <a:solidFill>
                  <a:srgbClr val="8FA3C4"/>
                </a:solidFill>
                <a:latin typeface="Calibri" pitchFamily="34" charset="0"/>
                <a:ea typeface="Calibri" pitchFamily="34" charset="-122"/>
                <a:cs typeface="Calibri" pitchFamily="34" charset="-120"/>
              </a:rPr>
              <a:t>Giảng viên   </a:t>
            </a:r>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Nguyễn Khánh Ly</a:t>
            </a:r>
            <a:endParaRPr lang="en-US" sz="1500" dirty="0"/>
          </a:p>
          <a:p>
            <a:pPr indent="0" marL="0">
              <a:spcAft>
                <a:spcPts val="600"/>
              </a:spcAft>
              <a:buNone/>
            </a:pPr>
            <a:r>
              <a:rPr lang="en-US" sz="1500" dirty="0">
                <a:solidFill>
                  <a:srgbClr val="8FA3C4"/>
                </a:solidFill>
                <a:latin typeface="Calibri" pitchFamily="34" charset="0"/>
                <a:ea typeface="Calibri" pitchFamily="34" charset="-122"/>
                <a:cs typeface="Calibri" pitchFamily="34" charset="-120"/>
              </a:rPr>
              <a:t>Nhóm   </a:t>
            </a:r>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FIXNEAR  ·  FPT Polytechnic</a:t>
            </a:r>
            <a:endParaRPr lang="en-US" sz="1500" dirty="0"/>
          </a:p>
        </p:txBody>
      </p:sp>
      <p:sp>
        <p:nvSpPr>
          <p:cNvPr id="7" name="Text 5"/>
          <p:cNvSpPr txBox="1"/>
          <p:nvPr/>
        </p:nvSpPr>
        <p:spPr>
          <a:xfrm>
            <a:off x="7086600" y="960120"/>
            <a:ext cx="4553712" cy="274320"/>
          </a:xfrm>
          <a:prstGeom prst="rect">
            <a:avLst/>
          </a:prstGeom>
          <a:noFill/>
          <a:ln/>
        </p:spPr>
        <p:txBody>
          <a:bodyPr wrap="square" lIns="0" tIns="0" rIns="0" bIns="0" rtlCol="0" anchor="t"/>
          <a:lstStyle/>
          <a:p>
            <a:pPr indent="0" marL="0">
              <a:buNone/>
            </a:pPr>
            <a:r>
              <a:rPr lang="en-US" sz="1200" b="1" spc="300" kern="0" dirty="0">
                <a:solidFill>
                  <a:srgbClr val="3DD6C6"/>
                </a:solidFill>
                <a:latin typeface="Calibri" pitchFamily="34" charset="0"/>
                <a:ea typeface="Calibri" pitchFamily="34" charset="-122"/>
                <a:cs typeface="Calibri" pitchFamily="34" charset="-120"/>
              </a:rPr>
              <a:t>LUỒNG NGƯỜI DÙNG</a:t>
            </a:r>
            <a:endParaRPr lang="en-US" sz="1200" dirty="0"/>
          </a:p>
        </p:txBody>
      </p:sp>
      <p:sp>
        <p:nvSpPr>
          <p:cNvPr id="8" name="Shape 6"/>
          <p:cNvSpPr/>
          <p:nvPr/>
        </p:nvSpPr>
        <p:spPr>
          <a:xfrm>
            <a:off x="7086600" y="1417320"/>
            <a:ext cx="4553712" cy="731520"/>
          </a:xfrm>
          <a:prstGeom prst="roundRect">
            <a:avLst>
              <a:gd name="adj" fmla="val 50000"/>
            </a:avLst>
          </a:prstGeom>
          <a:solidFill>
            <a:srgbClr val="14305C"/>
          </a:solidFill>
          <a:ln/>
        </p:spPr>
      </p:sp>
      <p:sp>
        <p:nvSpPr>
          <p:cNvPr id="9" name="Shape 7"/>
          <p:cNvSpPr/>
          <p:nvPr/>
        </p:nvSpPr>
        <p:spPr>
          <a:xfrm>
            <a:off x="7223760" y="1527048"/>
            <a:ext cx="512064" cy="512064"/>
          </a:xfrm>
          <a:prstGeom prst="ellipse">
            <a:avLst/>
          </a:prstGeom>
          <a:solidFill>
            <a:srgbClr val="E4590F"/>
          </a:solidFill>
          <a:ln/>
        </p:spPr>
      </p:sp>
      <p:pic>
        <p:nvPicPr>
          <p:cNvPr id="10" name="Image 0" descr="preencoded.png">    </p:cNvPr>
          <p:cNvPicPr>
            <a:picLocks noChangeAspect="1"/>
          </p:cNvPicPr>
          <p:nvPr/>
        </p:nvPicPr>
        <p:blipFill>
          <a:blip r:embed="rId1"/>
          <a:stretch>
            <a:fillRect/>
          </a:stretch>
        </p:blipFill>
        <p:spPr>
          <a:xfrm>
            <a:off x="7351776" y="1655064"/>
            <a:ext cx="256032" cy="256032"/>
          </a:xfrm>
          <a:prstGeom prst="rect">
            <a:avLst/>
          </a:prstGeom>
        </p:spPr>
      </p:pic>
      <p:sp>
        <p:nvSpPr>
          <p:cNvPr id="11" name="Text 8"/>
          <p:cNvSpPr txBox="1"/>
          <p:nvPr/>
        </p:nvSpPr>
        <p:spPr>
          <a:xfrm>
            <a:off x="7955280" y="1417320"/>
            <a:ext cx="35661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Chọn thiết bị</a:t>
            </a:r>
            <a:endParaRPr lang="en-US" sz="1800" dirty="0"/>
          </a:p>
        </p:txBody>
      </p:sp>
      <p:sp>
        <p:nvSpPr>
          <p:cNvPr id="12" name="Shape 9"/>
          <p:cNvSpPr/>
          <p:nvPr/>
        </p:nvSpPr>
        <p:spPr>
          <a:xfrm>
            <a:off x="7086600" y="2313432"/>
            <a:ext cx="4553712" cy="731520"/>
          </a:xfrm>
          <a:prstGeom prst="roundRect">
            <a:avLst>
              <a:gd name="adj" fmla="val 50000"/>
            </a:avLst>
          </a:prstGeom>
          <a:solidFill>
            <a:srgbClr val="14305C"/>
          </a:solidFill>
          <a:ln/>
        </p:spPr>
      </p:sp>
      <p:sp>
        <p:nvSpPr>
          <p:cNvPr id="13" name="Shape 10"/>
          <p:cNvSpPr/>
          <p:nvPr/>
        </p:nvSpPr>
        <p:spPr>
          <a:xfrm>
            <a:off x="7223760" y="2423160"/>
            <a:ext cx="512064" cy="512064"/>
          </a:xfrm>
          <a:prstGeom prst="ellipse">
            <a:avLst/>
          </a:prstGeom>
          <a:solidFill>
            <a:srgbClr val="E4590F"/>
          </a:solidFill>
          <a:ln/>
        </p:spPr>
      </p:sp>
      <p:pic>
        <p:nvPicPr>
          <p:cNvPr id="14" name="Image 1" descr="preencoded.png">    </p:cNvPr>
          <p:cNvPicPr>
            <a:picLocks noChangeAspect="1"/>
          </p:cNvPicPr>
          <p:nvPr/>
        </p:nvPicPr>
        <p:blipFill>
          <a:blip r:embed="rId2"/>
          <a:stretch>
            <a:fillRect/>
          </a:stretch>
        </p:blipFill>
        <p:spPr>
          <a:xfrm>
            <a:off x="7351776" y="2551176"/>
            <a:ext cx="256032" cy="256032"/>
          </a:xfrm>
          <a:prstGeom prst="rect">
            <a:avLst/>
          </a:prstGeom>
        </p:spPr>
      </p:pic>
      <p:sp>
        <p:nvSpPr>
          <p:cNvPr id="15" name="Text 11"/>
          <p:cNvSpPr txBox="1"/>
          <p:nvPr/>
        </p:nvSpPr>
        <p:spPr>
          <a:xfrm>
            <a:off x="7955280" y="2313432"/>
            <a:ext cx="35661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Chọn lỗi / dịch vụ</a:t>
            </a:r>
            <a:endParaRPr lang="en-US" sz="1800" dirty="0"/>
          </a:p>
        </p:txBody>
      </p:sp>
      <p:sp>
        <p:nvSpPr>
          <p:cNvPr id="16" name="Shape 12"/>
          <p:cNvSpPr/>
          <p:nvPr/>
        </p:nvSpPr>
        <p:spPr>
          <a:xfrm>
            <a:off x="7086600" y="3209544"/>
            <a:ext cx="4553712" cy="731520"/>
          </a:xfrm>
          <a:prstGeom prst="roundRect">
            <a:avLst>
              <a:gd name="adj" fmla="val 50000"/>
            </a:avLst>
          </a:prstGeom>
          <a:solidFill>
            <a:srgbClr val="14305C"/>
          </a:solidFill>
          <a:ln/>
        </p:spPr>
      </p:sp>
      <p:sp>
        <p:nvSpPr>
          <p:cNvPr id="17" name="Shape 13"/>
          <p:cNvSpPr/>
          <p:nvPr/>
        </p:nvSpPr>
        <p:spPr>
          <a:xfrm>
            <a:off x="7223760" y="3319272"/>
            <a:ext cx="512064" cy="512064"/>
          </a:xfrm>
          <a:prstGeom prst="ellipse">
            <a:avLst/>
          </a:prstGeom>
          <a:solidFill>
            <a:srgbClr val="E4590F"/>
          </a:solidFill>
          <a:ln/>
        </p:spPr>
      </p:sp>
      <p:pic>
        <p:nvPicPr>
          <p:cNvPr id="18" name="Image 2" descr="preencoded.png">    </p:cNvPr>
          <p:cNvPicPr>
            <a:picLocks noChangeAspect="1"/>
          </p:cNvPicPr>
          <p:nvPr/>
        </p:nvPicPr>
        <p:blipFill>
          <a:blip r:embed="rId3"/>
          <a:stretch>
            <a:fillRect/>
          </a:stretch>
        </p:blipFill>
        <p:spPr>
          <a:xfrm>
            <a:off x="7351776" y="3447288"/>
            <a:ext cx="256032" cy="256032"/>
          </a:xfrm>
          <a:prstGeom prst="rect">
            <a:avLst/>
          </a:prstGeom>
        </p:spPr>
      </p:pic>
      <p:sp>
        <p:nvSpPr>
          <p:cNvPr id="19" name="Text 14"/>
          <p:cNvSpPr txBox="1"/>
          <p:nvPr/>
        </p:nvSpPr>
        <p:spPr>
          <a:xfrm>
            <a:off x="7955280" y="3209544"/>
            <a:ext cx="35661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Xem cửa hàng phù hợp</a:t>
            </a:r>
            <a:endParaRPr lang="en-US" sz="1800" dirty="0"/>
          </a:p>
        </p:txBody>
      </p:sp>
      <p:sp>
        <p:nvSpPr>
          <p:cNvPr id="20" name="Shape 15"/>
          <p:cNvSpPr/>
          <p:nvPr/>
        </p:nvSpPr>
        <p:spPr>
          <a:xfrm>
            <a:off x="7086600" y="4105656"/>
            <a:ext cx="4553712" cy="731520"/>
          </a:xfrm>
          <a:prstGeom prst="roundRect">
            <a:avLst>
              <a:gd name="adj" fmla="val 50000"/>
            </a:avLst>
          </a:prstGeom>
          <a:solidFill>
            <a:srgbClr val="14305C"/>
          </a:solidFill>
          <a:ln/>
        </p:spPr>
      </p:sp>
      <p:sp>
        <p:nvSpPr>
          <p:cNvPr id="21" name="Shape 16"/>
          <p:cNvSpPr/>
          <p:nvPr/>
        </p:nvSpPr>
        <p:spPr>
          <a:xfrm>
            <a:off x="7223760" y="4215384"/>
            <a:ext cx="512064" cy="512064"/>
          </a:xfrm>
          <a:prstGeom prst="ellipse">
            <a:avLst/>
          </a:prstGeom>
          <a:solidFill>
            <a:srgbClr val="E4590F"/>
          </a:solidFill>
          <a:ln/>
        </p:spPr>
      </p:sp>
      <p:pic>
        <p:nvPicPr>
          <p:cNvPr id="22" name="Image 3" descr="preencoded.png">    </p:cNvPr>
          <p:cNvPicPr>
            <a:picLocks noChangeAspect="1"/>
          </p:cNvPicPr>
          <p:nvPr/>
        </p:nvPicPr>
        <p:blipFill>
          <a:blip r:embed="rId4"/>
          <a:stretch>
            <a:fillRect/>
          </a:stretch>
        </p:blipFill>
        <p:spPr>
          <a:xfrm>
            <a:off x="7351776" y="4343400"/>
            <a:ext cx="256032" cy="256032"/>
          </a:xfrm>
          <a:prstGeom prst="rect">
            <a:avLst/>
          </a:prstGeom>
        </p:spPr>
      </p:pic>
      <p:sp>
        <p:nvSpPr>
          <p:cNvPr id="23" name="Text 17"/>
          <p:cNvSpPr txBox="1"/>
          <p:nvPr/>
        </p:nvSpPr>
        <p:spPr>
          <a:xfrm>
            <a:off x="7955280" y="4105656"/>
            <a:ext cx="35661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Giá tham khảo &amp; review</a:t>
            </a:r>
            <a:endParaRPr lang="en-US" sz="1800" dirty="0"/>
          </a:p>
        </p:txBody>
      </p:sp>
      <p:sp>
        <p:nvSpPr>
          <p:cNvPr id="24" name="Shape 18"/>
          <p:cNvSpPr/>
          <p:nvPr/>
        </p:nvSpPr>
        <p:spPr>
          <a:xfrm>
            <a:off x="7086600" y="5001768"/>
            <a:ext cx="4553712" cy="731520"/>
          </a:xfrm>
          <a:prstGeom prst="roundRect">
            <a:avLst>
              <a:gd name="adj" fmla="val 50000"/>
            </a:avLst>
          </a:prstGeom>
          <a:solidFill>
            <a:srgbClr val="14305C"/>
          </a:solidFill>
          <a:ln/>
        </p:spPr>
      </p:sp>
      <p:sp>
        <p:nvSpPr>
          <p:cNvPr id="25" name="Shape 19"/>
          <p:cNvSpPr/>
          <p:nvPr/>
        </p:nvSpPr>
        <p:spPr>
          <a:xfrm>
            <a:off x="7223760" y="5111496"/>
            <a:ext cx="512064" cy="512064"/>
          </a:xfrm>
          <a:prstGeom prst="ellipse">
            <a:avLst/>
          </a:prstGeom>
          <a:solidFill>
            <a:srgbClr val="E4590F"/>
          </a:solidFill>
          <a:ln/>
        </p:spPr>
      </p:sp>
      <p:pic>
        <p:nvPicPr>
          <p:cNvPr id="26" name="Image 4" descr="preencoded.png">    </p:cNvPr>
          <p:cNvPicPr>
            <a:picLocks noChangeAspect="1"/>
          </p:cNvPicPr>
          <p:nvPr/>
        </p:nvPicPr>
        <p:blipFill>
          <a:blip r:embed="rId5"/>
          <a:stretch>
            <a:fillRect/>
          </a:stretch>
        </p:blipFill>
        <p:spPr>
          <a:xfrm>
            <a:off x="7351776" y="5239512"/>
            <a:ext cx="256032" cy="256032"/>
          </a:xfrm>
          <a:prstGeom prst="rect">
            <a:avLst/>
          </a:prstGeom>
        </p:spPr>
      </p:pic>
      <p:sp>
        <p:nvSpPr>
          <p:cNvPr id="27" name="Text 20"/>
          <p:cNvSpPr txBox="1"/>
          <p:nvPr/>
        </p:nvSpPr>
        <p:spPr>
          <a:xfrm>
            <a:off x="7955280" y="5001768"/>
            <a:ext cx="356616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Mở chỉ đường</a:t>
            </a:r>
            <a:endParaRPr lang="en-US" sz="1800" dirty="0"/>
          </a:p>
        </p:txBody>
      </p:sp>
      <p:sp>
        <p:nvSpPr>
          <p:cNvPr id="28" name="TextBox 27"/>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9" name="TextBox 28"/>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01 / 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NỘI DUNG BÁO CÁO</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Nội dung báo cáo</a:t>
            </a:r>
            <a:endParaRPr lang="en-US" sz="3200" dirty="0"/>
          </a:p>
        </p:txBody>
      </p:sp>
      <p:sp>
        <p:nvSpPr>
          <p:cNvPr id="4" name="Text 2"/>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Cấu trúc theo hướng dẫn ASM giai đoạn 1</a:t>
            </a:r>
            <a:endParaRPr lang="en-US" sz="1600" dirty="0"/>
          </a:p>
        </p:txBody>
      </p:sp>
      <p:sp>
        <p:nvSpPr>
          <p:cNvPr id="5" name="Shape 3"/>
          <p:cNvSpPr/>
          <p:nvPr/>
        </p:nvSpPr>
        <p:spPr>
          <a:xfrm>
            <a:off x="548640" y="2103120"/>
            <a:ext cx="3545738" cy="2697480"/>
          </a:xfrm>
          <a:prstGeom prst="roundRect">
            <a:avLst>
              <a:gd name="adj" fmla="val 4068"/>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6" name="Shape 4"/>
          <p:cNvSpPr/>
          <p:nvPr/>
        </p:nvSpPr>
        <p:spPr>
          <a:xfrm>
            <a:off x="822960" y="2377440"/>
            <a:ext cx="548640" cy="548640"/>
          </a:xfrm>
          <a:prstGeom prst="ellipse">
            <a:avLst/>
          </a:prstGeom>
          <a:solidFill>
            <a:srgbClr val="0B1B3A"/>
          </a:solidFill>
          <a:ln/>
        </p:spPr>
      </p:sp>
      <p:sp>
        <p:nvSpPr>
          <p:cNvPr id="7" name="Text 5"/>
          <p:cNvSpPr txBox="1"/>
          <p:nvPr/>
        </p:nvSpPr>
        <p:spPr>
          <a:xfrm>
            <a:off x="822960" y="23774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a:t>
            </a:r>
            <a:endParaRPr lang="en-US" sz="2000" dirty="0"/>
          </a:p>
        </p:txBody>
      </p:sp>
      <p:sp>
        <p:nvSpPr>
          <p:cNvPr id="8" name="Text 6"/>
          <p:cNvSpPr txBox="1"/>
          <p:nvPr/>
        </p:nvSpPr>
        <p:spPr>
          <a:xfrm>
            <a:off x="1554480" y="2377440"/>
            <a:ext cx="2357018" cy="548640"/>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Tổng quan nhóm &amp; dự án</a:t>
            </a:r>
            <a:endParaRPr lang="en-US" sz="1800" dirty="0"/>
          </a:p>
        </p:txBody>
      </p:sp>
      <p:sp>
        <p:nvSpPr>
          <p:cNvPr id="9" name="Text 7"/>
          <p:cNvSpPr txBox="1"/>
          <p:nvPr/>
        </p:nvSpPr>
        <p:spPr>
          <a:xfrm>
            <a:off x="822960" y="3154680"/>
            <a:ext cx="2997098"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Thông tin nhóm &amp; thành viên</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7 bước hình thành ý tưởng &amp; góp ý của cô</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Mục tiêu SMART, 5W1H, phạm vi MVP</a:t>
            </a:r>
            <a:endParaRPr lang="en-US" sz="1500" dirty="0"/>
          </a:p>
        </p:txBody>
      </p:sp>
      <p:sp>
        <p:nvSpPr>
          <p:cNvPr id="10" name="Shape 8"/>
          <p:cNvSpPr/>
          <p:nvPr/>
        </p:nvSpPr>
        <p:spPr>
          <a:xfrm>
            <a:off x="4322978" y="2103120"/>
            <a:ext cx="3545738" cy="2697480"/>
          </a:xfrm>
          <a:prstGeom prst="roundRect">
            <a:avLst>
              <a:gd name="adj" fmla="val 4068"/>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4597298" y="2377440"/>
            <a:ext cx="548640" cy="548640"/>
          </a:xfrm>
          <a:prstGeom prst="ellipse">
            <a:avLst/>
          </a:prstGeom>
          <a:solidFill>
            <a:srgbClr val="0B1B3A"/>
          </a:solidFill>
          <a:ln/>
        </p:spPr>
      </p:sp>
      <p:sp>
        <p:nvSpPr>
          <p:cNvPr id="12" name="Text 10"/>
          <p:cNvSpPr txBox="1"/>
          <p:nvPr/>
        </p:nvSpPr>
        <p:spPr>
          <a:xfrm>
            <a:off x="4597298" y="23774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II</a:t>
            </a:r>
            <a:endParaRPr lang="en-US" sz="2000" dirty="0"/>
          </a:p>
        </p:txBody>
      </p:sp>
      <p:sp>
        <p:nvSpPr>
          <p:cNvPr id="13" name="Text 11"/>
          <p:cNvSpPr txBox="1"/>
          <p:nvPr/>
        </p:nvSpPr>
        <p:spPr>
          <a:xfrm>
            <a:off x="5328818" y="2377440"/>
            <a:ext cx="2357018" cy="548640"/>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Nội dung triển khai</a:t>
            </a:r>
            <a:endParaRPr lang="en-US" sz="1800" dirty="0"/>
          </a:p>
        </p:txBody>
      </p:sp>
      <p:sp>
        <p:nvSpPr>
          <p:cNvPr id="14" name="Text 12"/>
          <p:cNvSpPr txBox="1"/>
          <p:nvPr/>
        </p:nvSpPr>
        <p:spPr>
          <a:xfrm>
            <a:off x="4597298" y="3154680"/>
            <a:ext cx="2997098"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Kế hoạch 03 tuần &amp; mốc kiểm soát</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Kế hoạch đăng bài / truyền thông</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Dự trù kinh phí</a:t>
            </a:r>
            <a:endParaRPr lang="en-US" sz="1500" dirty="0"/>
          </a:p>
        </p:txBody>
      </p:sp>
      <p:sp>
        <p:nvSpPr>
          <p:cNvPr id="15" name="Shape 13"/>
          <p:cNvSpPr/>
          <p:nvPr/>
        </p:nvSpPr>
        <p:spPr>
          <a:xfrm>
            <a:off x="8097317" y="2103120"/>
            <a:ext cx="3545738" cy="2697480"/>
          </a:xfrm>
          <a:prstGeom prst="roundRect">
            <a:avLst>
              <a:gd name="adj" fmla="val 4068"/>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8371637" y="2377440"/>
            <a:ext cx="548640" cy="548640"/>
          </a:xfrm>
          <a:prstGeom prst="ellipse">
            <a:avLst/>
          </a:prstGeom>
          <a:solidFill>
            <a:srgbClr val="0B1B3A"/>
          </a:solidFill>
          <a:ln/>
        </p:spPr>
      </p:sp>
      <p:sp>
        <p:nvSpPr>
          <p:cNvPr id="17" name="Text 15"/>
          <p:cNvSpPr txBox="1"/>
          <p:nvPr/>
        </p:nvSpPr>
        <p:spPr>
          <a:xfrm>
            <a:off x="8371637" y="237744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III</a:t>
            </a:r>
            <a:endParaRPr lang="en-US" sz="1500" dirty="0"/>
          </a:p>
        </p:txBody>
      </p:sp>
      <p:sp>
        <p:nvSpPr>
          <p:cNvPr id="18" name="Text 16"/>
          <p:cNvSpPr txBox="1"/>
          <p:nvPr/>
        </p:nvSpPr>
        <p:spPr>
          <a:xfrm>
            <a:off x="9103157" y="2377440"/>
            <a:ext cx="2357018" cy="548640"/>
          </a:xfrm>
          <a:prstGeom prst="rect">
            <a:avLst/>
          </a:prstGeom>
          <a:noFill/>
          <a:ln/>
        </p:spPr>
        <p:txBody>
          <a:bodyPr wrap="square" lIns="0" tIns="0" rIns="0" bIns="0" rtlCol="0" anchor="ctr"/>
          <a:lstStyle/>
          <a:p>
            <a:pPr indent="0" marL="0">
              <a:buNone/>
            </a:pPr>
            <a:r>
              <a:rPr lang="en-US" sz="1800" b="1" dirty="0">
                <a:solidFill>
                  <a:srgbClr val="0B1B3A"/>
                </a:solidFill>
                <a:latin typeface="Calibri" pitchFamily="34" charset="0"/>
                <a:ea typeface="Calibri" pitchFamily="34" charset="-122"/>
                <a:cs typeface="Calibri" pitchFamily="34" charset="-120"/>
              </a:rPr>
              <a:t>Đánh giá &amp; kết luận</a:t>
            </a:r>
            <a:endParaRPr lang="en-US" sz="1800" dirty="0"/>
          </a:p>
        </p:txBody>
      </p:sp>
      <p:sp>
        <p:nvSpPr>
          <p:cNvPr id="19" name="Text 17"/>
          <p:cNvSpPr txBox="1"/>
          <p:nvPr/>
        </p:nvSpPr>
        <p:spPr>
          <a:xfrm>
            <a:off x="8371637" y="3154680"/>
            <a:ext cx="2997098"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Đánh giá thành viên trong nhóm</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Thuận lợi &amp; khó khăn dự kiến</a:t>
            </a:r>
            <a:endParaRPr lang="en-US" sz="1500" dirty="0"/>
          </a:p>
          <a:p>
            <a:pPr marL="342900" indent="-342900">
              <a:spcAft>
                <a:spcPts val="600"/>
              </a:spcAft>
              <a:buSzPct val="100000"/>
              <a:buChar char="•"/>
            </a:pPr>
            <a:r>
              <a:rPr lang="en-US" sz="1500" dirty="0">
                <a:solidFill>
                  <a:srgbClr val="0B1B3A"/>
                </a:solidFill>
                <a:latin typeface="Calibri" pitchFamily="34" charset="0"/>
                <a:ea typeface="Calibri" pitchFamily="34" charset="-122"/>
                <a:cs typeface="Calibri" pitchFamily="34" charset="-120"/>
              </a:rPr>
              <a:t>Xin ý kiến góp ý của cô</a:t>
            </a:r>
            <a:endParaRPr lang="en-US" sz="1500" dirty="0"/>
          </a:p>
        </p:txBody>
      </p:sp>
      <p:sp>
        <p:nvSpPr>
          <p:cNvPr id="20" name="Text 18"/>
          <p:cNvSpPr txBox="1"/>
          <p:nvPr/>
        </p:nvSpPr>
        <p:spPr>
          <a:xfrm>
            <a:off x="548640" y="4937760"/>
            <a:ext cx="5486400" cy="274320"/>
          </a:xfrm>
          <a:prstGeom prst="rect">
            <a:avLst/>
          </a:prstGeom>
          <a:noFill/>
          <a:ln/>
        </p:spPr>
        <p:txBody>
          <a:bodyPr wrap="square" lIns="0" tIns="0" rIns="0" bIns="0" rtlCol="0" anchor="t"/>
          <a:lstStyle/>
          <a:p>
            <a:pPr indent="0" marL="0">
              <a:buNone/>
            </a:pPr>
            <a:r>
              <a:rPr lang="en-US" sz="1100" b="1" spc="200" kern="0" dirty="0">
                <a:solidFill>
                  <a:srgbClr val="1E5AA8"/>
                </a:solidFill>
                <a:latin typeface="Calibri" pitchFamily="34" charset="0"/>
                <a:ea typeface="Calibri" pitchFamily="34" charset="-122"/>
                <a:cs typeface="Calibri" pitchFamily="34" charset="-120"/>
              </a:rPr>
              <a:t>PHÂN CHIA PHẦN NÓI (ĐỀ XUẤT)</a:t>
            </a:r>
            <a:endParaRPr lang="en-US" sz="1100" dirty="0"/>
          </a:p>
        </p:txBody>
      </p:sp>
      <p:sp>
        <p:nvSpPr>
          <p:cNvPr id="21" name="Shape 19"/>
          <p:cNvSpPr/>
          <p:nvPr/>
        </p:nvSpPr>
        <p:spPr>
          <a:xfrm>
            <a:off x="548640" y="5257800"/>
            <a:ext cx="2072579" cy="960120"/>
          </a:xfrm>
          <a:prstGeom prst="roundRect">
            <a:avLst>
              <a:gd name="adj" fmla="val 11429"/>
            </a:avLst>
          </a:prstGeom>
          <a:solidFill>
            <a:srgbClr val="FFFFFF"/>
          </a:solidFill>
          <a:ln w="9525">
            <a:solidFill>
              <a:srgbClr val="D6DEEA"/>
            </a:solidFill>
            <a:prstDash val="solid"/>
          </a:ln>
        </p:spPr>
      </p:sp>
      <p:sp>
        <p:nvSpPr>
          <p:cNvPr id="22" name="Text 20"/>
          <p:cNvSpPr txBox="1"/>
          <p:nvPr/>
        </p:nvSpPr>
        <p:spPr>
          <a:xfrm>
            <a:off x="685800" y="5349240"/>
            <a:ext cx="1798259" cy="274320"/>
          </a:xfrm>
          <a:prstGeom prst="rect">
            <a:avLst/>
          </a:prstGeom>
          <a:noFill/>
          <a:ln/>
        </p:spPr>
        <p:txBody>
          <a:bodyPr wrap="square" lIns="0" tIns="0" rIns="0" bIns="0" rtlCol="0" anchor="t"/>
          <a:lstStyle/>
          <a:p>
            <a:pPr indent="0" marL="0">
              <a:buNone/>
            </a:pPr>
            <a:r>
              <a:rPr lang="en-US" sz="1500" b="1" dirty="0">
                <a:solidFill>
                  <a:srgbClr val="C2410C"/>
                </a:solidFill>
                <a:latin typeface="Arial" pitchFamily="34" charset="0"/>
                <a:ea typeface="Arial" pitchFamily="34" charset="-122"/>
                <a:cs typeface="Arial" pitchFamily="34" charset="-120"/>
              </a:rPr>
              <a:t>Trung</a:t>
            </a:r>
            <a:endParaRPr lang="en-US" sz="1500" dirty="0"/>
          </a:p>
        </p:txBody>
      </p:sp>
      <p:sp>
        <p:nvSpPr>
          <p:cNvPr id="23" name="Text 21"/>
          <p:cNvSpPr txBox="1"/>
          <p:nvPr/>
        </p:nvSpPr>
        <p:spPr>
          <a:xfrm>
            <a:off x="685800" y="5641848"/>
            <a:ext cx="1798259" cy="5029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Mở đầu · Nhóm · Thành viên · Bước 1</a:t>
            </a:r>
            <a:endParaRPr lang="en-US" sz="1200" dirty="0"/>
          </a:p>
        </p:txBody>
      </p:sp>
      <p:sp>
        <p:nvSpPr>
          <p:cNvPr id="24" name="Shape 22"/>
          <p:cNvSpPr/>
          <p:nvPr/>
        </p:nvSpPr>
        <p:spPr>
          <a:xfrm>
            <a:off x="2804099" y="5257800"/>
            <a:ext cx="2072579" cy="960120"/>
          </a:xfrm>
          <a:prstGeom prst="roundRect">
            <a:avLst>
              <a:gd name="adj" fmla="val 11429"/>
            </a:avLst>
          </a:prstGeom>
          <a:solidFill>
            <a:srgbClr val="FFFFFF"/>
          </a:solidFill>
          <a:ln w="9525">
            <a:solidFill>
              <a:srgbClr val="D6DEEA"/>
            </a:solidFill>
            <a:prstDash val="solid"/>
          </a:ln>
        </p:spPr>
      </p:sp>
      <p:sp>
        <p:nvSpPr>
          <p:cNvPr id="25" name="Text 23"/>
          <p:cNvSpPr txBox="1"/>
          <p:nvPr/>
        </p:nvSpPr>
        <p:spPr>
          <a:xfrm>
            <a:off x="2941259" y="5349240"/>
            <a:ext cx="1798259" cy="274320"/>
          </a:xfrm>
          <a:prstGeom prst="rect">
            <a:avLst/>
          </a:prstGeom>
          <a:noFill/>
          <a:ln/>
        </p:spPr>
        <p:txBody>
          <a:bodyPr wrap="square" lIns="0" tIns="0" rIns="0" bIns="0" rtlCol="0" anchor="t"/>
          <a:lstStyle/>
          <a:p>
            <a:pPr indent="0" marL="0">
              <a:buNone/>
            </a:pPr>
            <a:r>
              <a:rPr lang="en-US" sz="1500" b="1" dirty="0">
                <a:solidFill>
                  <a:srgbClr val="C2410C"/>
                </a:solidFill>
                <a:latin typeface="Arial" pitchFamily="34" charset="0"/>
                <a:ea typeface="Arial" pitchFamily="34" charset="-122"/>
                <a:cs typeface="Arial" pitchFamily="34" charset="-120"/>
              </a:rPr>
              <a:t>Hiếu</a:t>
            </a:r>
            <a:endParaRPr lang="en-US" sz="1500" dirty="0"/>
          </a:p>
        </p:txBody>
      </p:sp>
      <p:sp>
        <p:nvSpPr>
          <p:cNvPr id="26" name="Text 24"/>
          <p:cNvSpPr txBox="1"/>
          <p:nvPr/>
        </p:nvSpPr>
        <p:spPr>
          <a:xfrm>
            <a:off x="2941259" y="5641848"/>
            <a:ext cx="1798259" cy="5029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Bước 2 · Bước 3 · Góp ý của cô · Truyền thông · Kinh phí</a:t>
            </a:r>
            <a:endParaRPr lang="en-US" sz="1200" dirty="0"/>
          </a:p>
        </p:txBody>
      </p:sp>
      <p:sp>
        <p:nvSpPr>
          <p:cNvPr id="27" name="Shape 25"/>
          <p:cNvSpPr/>
          <p:nvPr/>
        </p:nvSpPr>
        <p:spPr>
          <a:xfrm>
            <a:off x="5059558" y="5257800"/>
            <a:ext cx="2072579" cy="960120"/>
          </a:xfrm>
          <a:prstGeom prst="roundRect">
            <a:avLst>
              <a:gd name="adj" fmla="val 11429"/>
            </a:avLst>
          </a:prstGeom>
          <a:solidFill>
            <a:srgbClr val="FFFFFF"/>
          </a:solidFill>
          <a:ln w="9525">
            <a:solidFill>
              <a:srgbClr val="D6DEEA"/>
            </a:solidFill>
            <a:prstDash val="solid"/>
          </a:ln>
        </p:spPr>
      </p:sp>
      <p:sp>
        <p:nvSpPr>
          <p:cNvPr id="28" name="Text 26"/>
          <p:cNvSpPr txBox="1"/>
          <p:nvPr/>
        </p:nvSpPr>
        <p:spPr>
          <a:xfrm>
            <a:off x="5196718" y="5349240"/>
            <a:ext cx="1798259" cy="274320"/>
          </a:xfrm>
          <a:prstGeom prst="rect">
            <a:avLst/>
          </a:prstGeom>
          <a:noFill/>
          <a:ln/>
        </p:spPr>
        <p:txBody>
          <a:bodyPr wrap="square" lIns="0" tIns="0" rIns="0" bIns="0" rtlCol="0" anchor="t"/>
          <a:lstStyle/>
          <a:p>
            <a:pPr indent="0" marL="0">
              <a:buNone/>
            </a:pPr>
            <a:r>
              <a:rPr lang="en-US" sz="1500" b="1" dirty="0">
                <a:solidFill>
                  <a:srgbClr val="C2410C"/>
                </a:solidFill>
                <a:latin typeface="Arial" pitchFamily="34" charset="0"/>
                <a:ea typeface="Arial" pitchFamily="34" charset="-122"/>
                <a:cs typeface="Arial" pitchFamily="34" charset="-120"/>
              </a:rPr>
              <a:t>Đình</a:t>
            </a:r>
            <a:endParaRPr lang="en-US" sz="1500" dirty="0"/>
          </a:p>
        </p:txBody>
      </p:sp>
      <p:sp>
        <p:nvSpPr>
          <p:cNvPr id="29" name="Text 27"/>
          <p:cNvSpPr txBox="1"/>
          <p:nvPr/>
        </p:nvSpPr>
        <p:spPr>
          <a:xfrm>
            <a:off x="5196718" y="5641848"/>
            <a:ext cx="1798259" cy="5029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Bước 4 · Bước 5 · Đánh giá thành viên · Kết luận</a:t>
            </a:r>
            <a:endParaRPr lang="en-US" sz="1200" dirty="0"/>
          </a:p>
        </p:txBody>
      </p:sp>
      <p:sp>
        <p:nvSpPr>
          <p:cNvPr id="30" name="Shape 28"/>
          <p:cNvSpPr/>
          <p:nvPr/>
        </p:nvSpPr>
        <p:spPr>
          <a:xfrm>
            <a:off x="7315017" y="5257800"/>
            <a:ext cx="2072579" cy="960120"/>
          </a:xfrm>
          <a:prstGeom prst="roundRect">
            <a:avLst>
              <a:gd name="adj" fmla="val 11429"/>
            </a:avLst>
          </a:prstGeom>
          <a:solidFill>
            <a:srgbClr val="FFFFFF"/>
          </a:solidFill>
          <a:ln w="9525">
            <a:solidFill>
              <a:srgbClr val="D6DEEA"/>
            </a:solidFill>
            <a:prstDash val="solid"/>
          </a:ln>
        </p:spPr>
      </p:sp>
      <p:sp>
        <p:nvSpPr>
          <p:cNvPr id="31" name="Text 29"/>
          <p:cNvSpPr txBox="1"/>
          <p:nvPr/>
        </p:nvSpPr>
        <p:spPr>
          <a:xfrm>
            <a:off x="7452177" y="5349240"/>
            <a:ext cx="1798259" cy="274320"/>
          </a:xfrm>
          <a:prstGeom prst="rect">
            <a:avLst/>
          </a:prstGeom>
          <a:noFill/>
          <a:ln/>
        </p:spPr>
        <p:txBody>
          <a:bodyPr wrap="square" lIns="0" tIns="0" rIns="0" bIns="0" rtlCol="0" anchor="t"/>
          <a:lstStyle/>
          <a:p>
            <a:pPr indent="0" marL="0">
              <a:buNone/>
            </a:pPr>
            <a:r>
              <a:rPr lang="en-US" sz="1500" b="1" dirty="0">
                <a:solidFill>
                  <a:srgbClr val="C2410C"/>
                </a:solidFill>
                <a:latin typeface="Arial" pitchFamily="34" charset="0"/>
                <a:ea typeface="Arial" pitchFamily="34" charset="-122"/>
                <a:cs typeface="Arial" pitchFamily="34" charset="-120"/>
              </a:rPr>
              <a:t>Phúc</a:t>
            </a:r>
            <a:endParaRPr lang="en-US" sz="1500" dirty="0"/>
          </a:p>
        </p:txBody>
      </p:sp>
      <p:sp>
        <p:nvSpPr>
          <p:cNvPr id="32" name="Text 30"/>
          <p:cNvSpPr txBox="1"/>
          <p:nvPr/>
        </p:nvSpPr>
        <p:spPr>
          <a:xfrm>
            <a:off x="7452177" y="5641848"/>
            <a:ext cx="1798259" cy="5029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Bước 6 · Gantt &amp; mốc kiểm soát</a:t>
            </a:r>
            <a:endParaRPr lang="en-US" sz="1200" dirty="0"/>
          </a:p>
        </p:txBody>
      </p:sp>
      <p:sp>
        <p:nvSpPr>
          <p:cNvPr id="33" name="Shape 31"/>
          <p:cNvSpPr/>
          <p:nvPr/>
        </p:nvSpPr>
        <p:spPr>
          <a:xfrm>
            <a:off x="9570476" y="5257800"/>
            <a:ext cx="2072579" cy="960120"/>
          </a:xfrm>
          <a:prstGeom prst="roundRect">
            <a:avLst>
              <a:gd name="adj" fmla="val 11429"/>
            </a:avLst>
          </a:prstGeom>
          <a:solidFill>
            <a:srgbClr val="FFFFFF"/>
          </a:solidFill>
          <a:ln w="9525">
            <a:solidFill>
              <a:srgbClr val="D6DEEA"/>
            </a:solidFill>
            <a:prstDash val="solid"/>
          </a:ln>
        </p:spPr>
      </p:sp>
      <p:sp>
        <p:nvSpPr>
          <p:cNvPr id="34" name="Text 32"/>
          <p:cNvSpPr txBox="1"/>
          <p:nvPr/>
        </p:nvSpPr>
        <p:spPr>
          <a:xfrm>
            <a:off x="9707636" y="5349240"/>
            <a:ext cx="1798259" cy="274320"/>
          </a:xfrm>
          <a:prstGeom prst="rect">
            <a:avLst/>
          </a:prstGeom>
          <a:noFill/>
          <a:ln/>
        </p:spPr>
        <p:txBody>
          <a:bodyPr wrap="square" lIns="0" tIns="0" rIns="0" bIns="0" rtlCol="0" anchor="t"/>
          <a:lstStyle/>
          <a:p>
            <a:pPr indent="0" marL="0">
              <a:buNone/>
            </a:pPr>
            <a:r>
              <a:rPr lang="en-US" sz="1500" b="1" dirty="0">
                <a:solidFill>
                  <a:srgbClr val="C2410C"/>
                </a:solidFill>
                <a:latin typeface="Arial" pitchFamily="34" charset="0"/>
                <a:ea typeface="Arial" pitchFamily="34" charset="-122"/>
                <a:cs typeface="Arial" pitchFamily="34" charset="-120"/>
              </a:rPr>
              <a:t>Kim</a:t>
            </a:r>
            <a:endParaRPr lang="en-US" sz="1500" dirty="0"/>
          </a:p>
        </p:txBody>
      </p:sp>
      <p:sp>
        <p:nvSpPr>
          <p:cNvPr id="35" name="Text 33"/>
          <p:cNvSpPr txBox="1"/>
          <p:nvPr/>
        </p:nvSpPr>
        <p:spPr>
          <a:xfrm>
            <a:off x="9707636" y="5641848"/>
            <a:ext cx="1798259" cy="502920"/>
          </a:xfrm>
          <a:prstGeom prst="rect">
            <a:avLst/>
          </a:prstGeom>
          <a:noFill/>
          <a:ln/>
        </p:spPr>
        <p:txBody>
          <a:bodyPr wrap="square" lIns="0" tIns="0" rIns="0" bIns="0" rtlCol="0" anchor="t"/>
          <a:lstStyle/>
          <a:p>
            <a:pPr indent="0" marL="0">
              <a:buNone/>
            </a:pPr>
            <a:r>
              <a:rPr lang="en-US" sz="1200" dirty="0">
                <a:solidFill>
                  <a:srgbClr val="55657F"/>
                </a:solidFill>
                <a:latin typeface="Calibri" pitchFamily="34" charset="0"/>
                <a:ea typeface="Calibri" pitchFamily="34" charset="-122"/>
                <a:cs typeface="Calibri" pitchFamily="34" charset="-120"/>
              </a:rPr>
              <a:t>Bước 7 · SMART · 5W1H · Phạm vi MVP</a:t>
            </a:r>
            <a:endParaRPr lang="en-US" sz="1200" dirty="0"/>
          </a:p>
        </p:txBody>
      </p:sp>
      <p:sp>
        <p:nvSpPr>
          <p:cNvPr id="36" name="Text 34"/>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7" name="Text 35"/>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02 / 22</a:t>
            </a:r>
            <a:endParaRPr lang="en-US" sz="1000" dirty="0"/>
          </a:p>
        </p:txBody>
      </p:sp>
      <p:sp>
        <p:nvSpPr>
          <p:cNvPr id="38" name="TextBox 37"/>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9" name="TextBox 38"/>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02 / 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THÔNG TIN NHÓM</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Nhóm FIXNEAR · cách nhóm làm việc</a:t>
            </a:r>
            <a:endParaRPr lang="en-US" sz="3200" dirty="0"/>
          </a:p>
        </p:txBody>
      </p:sp>
      <p:sp>
        <p:nvSpPr>
          <p:cNvPr id="4" name="Shape 2"/>
          <p:cNvSpPr/>
          <p:nvPr/>
        </p:nvSpPr>
        <p:spPr>
          <a:xfrm>
            <a:off x="548640" y="1783080"/>
            <a:ext cx="3931920" cy="4389120"/>
          </a:xfrm>
          <a:prstGeom prst="roundRect">
            <a:avLst>
              <a:gd name="adj" fmla="val 3488"/>
            </a:avLst>
          </a:prstGeom>
          <a:solidFill>
            <a:srgbClr val="0B1B3A"/>
          </a:solidFill>
          <a:ln/>
        </p:spPr>
      </p:sp>
      <p:sp>
        <p:nvSpPr>
          <p:cNvPr id="5" name="Text 3"/>
          <p:cNvSpPr txBox="1"/>
          <p:nvPr/>
        </p:nvSpPr>
        <p:spPr>
          <a:xfrm>
            <a:off x="868680" y="2057400"/>
            <a:ext cx="329184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TÊN NHÓM</a:t>
            </a:r>
            <a:endParaRPr lang="en-US" sz="1200" dirty="0"/>
          </a:p>
        </p:txBody>
      </p:sp>
      <p:sp>
        <p:nvSpPr>
          <p:cNvPr id="6" name="Text 4"/>
          <p:cNvSpPr txBox="1"/>
          <p:nvPr/>
        </p:nvSpPr>
        <p:spPr>
          <a:xfrm>
            <a:off x="868680" y="2331720"/>
            <a:ext cx="3291840" cy="128016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FIXNEAR</a:t>
            </a:r>
            <a:endParaRPr lang="en-US" sz="5400" dirty="0"/>
          </a:p>
        </p:txBody>
      </p:sp>
      <p:sp>
        <p:nvSpPr>
          <p:cNvPr id="7" name="Text 5"/>
          <p:cNvSpPr txBox="1"/>
          <p:nvPr/>
        </p:nvSpPr>
        <p:spPr>
          <a:xfrm>
            <a:off x="868680" y="3657600"/>
            <a:ext cx="3291840" cy="365760"/>
          </a:xfrm>
          <a:prstGeom prst="rect">
            <a:avLst/>
          </a:prstGeom>
          <a:noFill/>
          <a:ln/>
        </p:spPr>
        <p:txBody>
          <a:bodyPr wrap="square" lIns="0" tIns="0" rIns="0" bIns="0" rtlCol="0" anchor="ctr"/>
          <a:lstStyle/>
          <a:p>
            <a:pPr indent="0" marL="0">
              <a:buNone/>
            </a:pPr>
            <a:r>
              <a:rPr lang="en-US" sz="1600" b="1" dirty="0">
                <a:solidFill>
                  <a:srgbClr val="3DD6C6"/>
                </a:solidFill>
                <a:latin typeface="Calibri" pitchFamily="34" charset="0"/>
                <a:ea typeface="Calibri" pitchFamily="34" charset="-122"/>
                <a:cs typeface="Calibri" pitchFamily="34" charset="-120"/>
              </a:rPr>
              <a:t>05 thành viên · 01 mục tiêu</a:t>
            </a:r>
            <a:endParaRPr lang="en-US" sz="1600" dirty="0"/>
          </a:p>
        </p:txBody>
      </p:sp>
      <p:sp>
        <p:nvSpPr>
          <p:cNvPr id="8" name="Text 6"/>
          <p:cNvSpPr txBox="1"/>
          <p:nvPr/>
        </p:nvSpPr>
        <p:spPr>
          <a:xfrm>
            <a:off x="868680" y="4343400"/>
            <a:ext cx="329184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Ý NGHĨA</a:t>
            </a:r>
            <a:endParaRPr lang="en-US" sz="1200" dirty="0"/>
          </a:p>
        </p:txBody>
      </p:sp>
      <p:sp>
        <p:nvSpPr>
          <p:cNvPr id="9" name="Text 7"/>
          <p:cNvSpPr txBox="1"/>
          <p:nvPr/>
        </p:nvSpPr>
        <p:spPr>
          <a:xfrm>
            <a:off x="868680" y="4663440"/>
            <a:ext cx="3291840" cy="1280160"/>
          </a:xfrm>
          <a:prstGeom prst="rect">
            <a:avLst/>
          </a:prstGeom>
          <a:noFill/>
          <a:ln/>
        </p:spPr>
        <p:txBody>
          <a:bodyPr wrap="square" lIns="0" tIns="0" rIns="0" bIns="0" rtlCol="0" anchor="t"/>
          <a:lstStyle/>
          <a:p>
            <a:pPr indent="0" marL="0">
              <a:buNone/>
            </a:pPr>
            <a:r>
              <a:rPr lang="en-US" sz="1400" dirty="0">
                <a:solidFill>
                  <a:srgbClr val="DCE8F7"/>
                </a:solidFill>
                <a:latin typeface="Calibri" pitchFamily="34" charset="0"/>
                <a:ea typeface="Calibri" pitchFamily="34" charset="-122"/>
                <a:cs typeface="Calibri" pitchFamily="34" charset="-120"/>
              </a:rPr>
              <a:t>Fix (sửa chữa) + Near (gần) = “sửa ở gần”: giúp sinh viên tìm đúng nơi sửa gần mình. Mọi thành viên cùng chịu trách nhiệm về tiến độ, chất lượng dữ liệu và sản phẩm cuối.</a:t>
            </a:r>
            <a:endParaRPr lang="en-US" sz="1400" dirty="0"/>
          </a:p>
        </p:txBody>
      </p:sp>
      <p:sp>
        <p:nvSpPr>
          <p:cNvPr id="10" name="Shape 8"/>
          <p:cNvSpPr/>
          <p:nvPr/>
        </p:nvSpPr>
        <p:spPr>
          <a:xfrm>
            <a:off x="4709160" y="1783080"/>
            <a:ext cx="6931152" cy="4389120"/>
          </a:xfrm>
          <a:prstGeom prst="roundRect">
            <a:avLst>
              <a:gd name="adj" fmla="val 25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Text 9"/>
          <p:cNvSpPr txBox="1"/>
          <p:nvPr/>
        </p:nvSpPr>
        <p:spPr>
          <a:xfrm>
            <a:off x="5029200" y="2011680"/>
            <a:ext cx="4572000"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NỘI QUY NHÓM</a:t>
            </a:r>
            <a:endParaRPr lang="en-US" sz="1200" dirty="0"/>
          </a:p>
        </p:txBody>
      </p:sp>
      <p:sp>
        <p:nvSpPr>
          <p:cNvPr id="12" name="Shape 10"/>
          <p:cNvSpPr/>
          <p:nvPr/>
        </p:nvSpPr>
        <p:spPr>
          <a:xfrm>
            <a:off x="5029200" y="2441448"/>
            <a:ext cx="329184" cy="329184"/>
          </a:xfrm>
          <a:prstGeom prst="ellipse">
            <a:avLst/>
          </a:prstGeom>
          <a:solidFill>
            <a:srgbClr val="0B1B3A"/>
          </a:solidFill>
          <a:ln/>
        </p:spPr>
      </p:sp>
      <p:sp>
        <p:nvSpPr>
          <p:cNvPr id="13" name="Text 11"/>
          <p:cNvSpPr txBox="1"/>
          <p:nvPr/>
        </p:nvSpPr>
        <p:spPr>
          <a:xfrm>
            <a:off x="5029200" y="2441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4" name="Text 12"/>
          <p:cNvSpPr txBox="1"/>
          <p:nvPr/>
        </p:nvSpPr>
        <p:spPr>
          <a:xfrm>
            <a:off x="5577840" y="2377440"/>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Đúng giờ; phản hồi tin nhắn công việc trong ngày và báo sớm khi có trở ngại.</a:t>
            </a:r>
            <a:endParaRPr lang="en-US" sz="1400" dirty="0"/>
          </a:p>
        </p:txBody>
      </p:sp>
      <p:sp>
        <p:nvSpPr>
          <p:cNvPr id="15" name="Shape 13"/>
          <p:cNvSpPr/>
          <p:nvPr/>
        </p:nvSpPr>
        <p:spPr>
          <a:xfrm>
            <a:off x="5029200" y="2971800"/>
            <a:ext cx="329184" cy="329184"/>
          </a:xfrm>
          <a:prstGeom prst="ellipse">
            <a:avLst/>
          </a:prstGeom>
          <a:solidFill>
            <a:srgbClr val="0B1B3A"/>
          </a:solidFill>
          <a:ln/>
        </p:spPr>
      </p:sp>
      <p:sp>
        <p:nvSpPr>
          <p:cNvPr id="16" name="Text 14"/>
          <p:cNvSpPr txBox="1"/>
          <p:nvPr/>
        </p:nvSpPr>
        <p:spPr>
          <a:xfrm>
            <a:off x="502920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txBox="1"/>
          <p:nvPr/>
        </p:nvSpPr>
        <p:spPr>
          <a:xfrm>
            <a:off x="5577840" y="2907792"/>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Mỗi nhiệm vụ có người phụ trách chính, thời hạn và đầu ra cụ thể.</a:t>
            </a:r>
            <a:endParaRPr lang="en-US" sz="1400" dirty="0"/>
          </a:p>
        </p:txBody>
      </p:sp>
      <p:sp>
        <p:nvSpPr>
          <p:cNvPr id="18" name="Shape 16"/>
          <p:cNvSpPr/>
          <p:nvPr/>
        </p:nvSpPr>
        <p:spPr>
          <a:xfrm>
            <a:off x="5029200" y="3502152"/>
            <a:ext cx="329184" cy="329184"/>
          </a:xfrm>
          <a:prstGeom prst="ellipse">
            <a:avLst/>
          </a:prstGeom>
          <a:solidFill>
            <a:srgbClr val="0B1B3A"/>
          </a:solidFill>
          <a:ln/>
        </p:spPr>
      </p:sp>
      <p:sp>
        <p:nvSpPr>
          <p:cNvPr id="19" name="Text 17"/>
          <p:cNvSpPr txBox="1"/>
          <p:nvPr/>
        </p:nvSpPr>
        <p:spPr>
          <a:xfrm>
            <a:off x="5029200" y="3502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txBox="1"/>
          <p:nvPr/>
        </p:nvSpPr>
        <p:spPr>
          <a:xfrm>
            <a:off x="5577840" y="3438144"/>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Không tự ý thay đổi phạm vi chức năng khi chưa thống nhất với nhóm.</a:t>
            </a:r>
            <a:endParaRPr lang="en-US" sz="1400" dirty="0"/>
          </a:p>
        </p:txBody>
      </p:sp>
      <p:sp>
        <p:nvSpPr>
          <p:cNvPr id="21" name="Shape 19"/>
          <p:cNvSpPr/>
          <p:nvPr/>
        </p:nvSpPr>
        <p:spPr>
          <a:xfrm>
            <a:off x="5029200" y="4032504"/>
            <a:ext cx="329184" cy="329184"/>
          </a:xfrm>
          <a:prstGeom prst="ellipse">
            <a:avLst/>
          </a:prstGeom>
          <a:solidFill>
            <a:srgbClr val="0B1B3A"/>
          </a:solidFill>
          <a:ln/>
        </p:spPr>
      </p:sp>
      <p:sp>
        <p:nvSpPr>
          <p:cNvPr id="22" name="Text 20"/>
          <p:cNvSpPr txBox="1"/>
          <p:nvPr/>
        </p:nvSpPr>
        <p:spPr>
          <a:xfrm>
            <a:off x="5029200" y="40325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1"/>
          <p:cNvSpPr txBox="1"/>
          <p:nvPr/>
        </p:nvSpPr>
        <p:spPr>
          <a:xfrm>
            <a:off x="5577840" y="3968496"/>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Không bịa số liệu khảo sát, giá sửa chữa, đánh giá hay kết quả dự án.</a:t>
            </a:r>
            <a:endParaRPr lang="en-US" sz="1400" dirty="0"/>
          </a:p>
        </p:txBody>
      </p:sp>
      <p:sp>
        <p:nvSpPr>
          <p:cNvPr id="24" name="Shape 22"/>
          <p:cNvSpPr/>
          <p:nvPr/>
        </p:nvSpPr>
        <p:spPr>
          <a:xfrm>
            <a:off x="5029200" y="4562856"/>
            <a:ext cx="329184" cy="329184"/>
          </a:xfrm>
          <a:prstGeom prst="ellipse">
            <a:avLst/>
          </a:prstGeom>
          <a:solidFill>
            <a:srgbClr val="0B1B3A"/>
          </a:solidFill>
          <a:ln/>
        </p:spPr>
      </p:sp>
      <p:sp>
        <p:nvSpPr>
          <p:cNvPr id="25" name="Text 23"/>
          <p:cNvSpPr txBox="1"/>
          <p:nvPr/>
        </p:nvSpPr>
        <p:spPr>
          <a:xfrm>
            <a:off x="5029200" y="45628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6" name="Text 24"/>
          <p:cNvSpPr txBox="1"/>
          <p:nvPr/>
        </p:nvSpPr>
        <p:spPr>
          <a:xfrm>
            <a:off x="5577840" y="4498848"/>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Code và tài liệu lưu chung; thay đổi quan trọng có lịch sử phiên bản.</a:t>
            </a:r>
            <a:endParaRPr lang="en-US" sz="1400" dirty="0"/>
          </a:p>
        </p:txBody>
      </p:sp>
      <p:sp>
        <p:nvSpPr>
          <p:cNvPr id="27" name="Shape 25"/>
          <p:cNvSpPr/>
          <p:nvPr/>
        </p:nvSpPr>
        <p:spPr>
          <a:xfrm>
            <a:off x="5029200" y="5093208"/>
            <a:ext cx="329184" cy="329184"/>
          </a:xfrm>
          <a:prstGeom prst="ellipse">
            <a:avLst/>
          </a:prstGeom>
          <a:solidFill>
            <a:srgbClr val="0B1B3A"/>
          </a:solidFill>
          <a:ln/>
        </p:spPr>
      </p:sp>
      <p:sp>
        <p:nvSpPr>
          <p:cNvPr id="28" name="Text 26"/>
          <p:cNvSpPr txBox="1"/>
          <p:nvPr/>
        </p:nvSpPr>
        <p:spPr>
          <a:xfrm>
            <a:off x="5029200" y="50932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9" name="Text 27"/>
          <p:cNvSpPr txBox="1"/>
          <p:nvPr/>
        </p:nvSpPr>
        <p:spPr>
          <a:xfrm>
            <a:off x="5577840" y="5029200"/>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Tranh luận dựa trên dữ liệu và mục tiêu; quyết định theo đa số.</a:t>
            </a:r>
            <a:endParaRPr lang="en-US" sz="1400" dirty="0"/>
          </a:p>
        </p:txBody>
      </p:sp>
      <p:sp>
        <p:nvSpPr>
          <p:cNvPr id="30" name="Shape 28"/>
          <p:cNvSpPr/>
          <p:nvPr/>
        </p:nvSpPr>
        <p:spPr>
          <a:xfrm>
            <a:off x="5029200" y="5623560"/>
            <a:ext cx="329184" cy="329184"/>
          </a:xfrm>
          <a:prstGeom prst="ellipse">
            <a:avLst/>
          </a:prstGeom>
          <a:solidFill>
            <a:srgbClr val="0B1B3A"/>
          </a:solidFill>
          <a:ln/>
        </p:spPr>
      </p:sp>
      <p:sp>
        <p:nvSpPr>
          <p:cNvPr id="31" name="Text 29"/>
          <p:cNvSpPr txBox="1"/>
          <p:nvPr/>
        </p:nvSpPr>
        <p:spPr>
          <a:xfrm>
            <a:off x="5029200" y="5623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2" name="Text 30"/>
          <p:cNvSpPr txBox="1"/>
          <p:nvPr/>
        </p:nvSpPr>
        <p:spPr>
          <a:xfrm>
            <a:off x="5577840" y="5559552"/>
            <a:ext cx="5806440" cy="45720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Cả 05 thành viên cùng chuẩn bị và thuyết trình.</a:t>
            </a:r>
            <a:endParaRPr lang="en-US" sz="1400" dirty="0"/>
          </a:p>
        </p:txBody>
      </p:sp>
      <p:sp>
        <p:nvSpPr>
          <p:cNvPr id="33" name="Text 31"/>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4" name="Text 32"/>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03 / 22</a:t>
            </a:r>
            <a:endParaRPr lang="en-US" sz="1000" dirty="0"/>
          </a:p>
        </p:txBody>
      </p:sp>
      <p:sp>
        <p:nvSpPr>
          <p:cNvPr id="35" name="TextBox 34"/>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6" name="TextBox 35"/>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03 / 27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THÀNH VIÊN</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Thành viên thực hiện dự án</a:t>
            </a:r>
            <a:endParaRPr lang="en-US" sz="3200" dirty="0"/>
          </a:p>
        </p:txBody>
      </p:sp>
      <p:sp>
        <p:nvSpPr>
          <p:cNvPr id="4" name="Shape 2"/>
          <p:cNvSpPr/>
          <p:nvPr/>
        </p:nvSpPr>
        <p:spPr>
          <a:xfrm>
            <a:off x="548640" y="1737360"/>
            <a:ext cx="2072579" cy="4480560"/>
          </a:xfrm>
          <a:prstGeom prst="roundRect">
            <a:avLst>
              <a:gd name="adj" fmla="val 529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31520" y="1920240"/>
            <a:ext cx="420624" cy="420624"/>
          </a:xfrm>
          <a:prstGeom prst="ellipse">
            <a:avLst/>
          </a:prstGeom>
          <a:solidFill>
            <a:srgbClr val="0B1B3A"/>
          </a:solidFill>
          <a:ln/>
        </p:spPr>
      </p:sp>
      <p:sp>
        <p:nvSpPr>
          <p:cNvPr id="6" name="Text 4"/>
          <p:cNvSpPr txBox="1"/>
          <p:nvPr/>
        </p:nvSpPr>
        <p:spPr>
          <a:xfrm>
            <a:off x="731520"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7" name="Text 5"/>
          <p:cNvSpPr txBox="1"/>
          <p:nvPr/>
        </p:nvSpPr>
        <p:spPr>
          <a:xfrm>
            <a:off x="731520" y="2450592"/>
            <a:ext cx="1706819" cy="594360"/>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Nguyễn Phạm</a:t>
            </a:r>
            <a:endParaRPr lang="en-US" sz="1600" dirty="0"/>
          </a:p>
          <a:p>
            <a:pPr indent="0" marL="0">
              <a:buNone/>
            </a:pPr>
            <a:r>
              <a:rPr lang="en-US" sz="1600" b="1" dirty="0">
                <a:solidFill>
                  <a:srgbClr val="0B1B3A"/>
                </a:solidFill>
                <a:latin typeface="Arial" pitchFamily="34" charset="0"/>
                <a:ea typeface="Arial" pitchFamily="34" charset="-122"/>
                <a:cs typeface="Arial" pitchFamily="34" charset="-120"/>
              </a:rPr>
              <a:t>Thành Trung</a:t>
            </a:r>
            <a:endParaRPr lang="en-US" sz="1600" dirty="0"/>
          </a:p>
        </p:txBody>
      </p:sp>
      <p:sp>
        <p:nvSpPr>
          <p:cNvPr id="8" name="Text 6"/>
          <p:cNvSpPr txBox="1"/>
          <p:nvPr/>
        </p:nvSpPr>
        <p:spPr>
          <a:xfrm>
            <a:off x="731520" y="3090672"/>
            <a:ext cx="1706819" cy="256032"/>
          </a:xfrm>
          <a:prstGeom prst="rect">
            <a:avLst/>
          </a:prstGeom>
          <a:noFill/>
          <a:ln/>
        </p:spPr>
        <p:txBody>
          <a:bodyPr wrap="square" lIns="0" tIns="0" rIns="0" bIns="0" rtlCol="0" anchor="t"/>
          <a:lstStyle/>
          <a:p>
            <a:pPr indent="0" marL="0">
              <a:buNone/>
            </a:pPr>
            <a:r>
              <a:rPr lang="en-US" sz="1200" b="1" dirty="0">
                <a:solidFill>
                  <a:srgbClr val="0E8A7E"/>
                </a:solidFill>
                <a:latin typeface="Calibri" pitchFamily="34" charset="0"/>
                <a:ea typeface="Calibri" pitchFamily="34" charset="-122"/>
                <a:cs typeface="Calibri" pitchFamily="34" charset="-120"/>
              </a:rPr>
              <a:t>PS47261</a:t>
            </a:r>
            <a:endParaRPr lang="en-US" sz="1200" dirty="0"/>
          </a:p>
        </p:txBody>
      </p:sp>
      <p:sp>
        <p:nvSpPr>
          <p:cNvPr id="9" name="Shape 7"/>
          <p:cNvSpPr/>
          <p:nvPr/>
        </p:nvSpPr>
        <p:spPr>
          <a:xfrm>
            <a:off x="731520" y="3438144"/>
            <a:ext cx="1706819" cy="530352"/>
          </a:xfrm>
          <a:prstGeom prst="roundRect">
            <a:avLst>
              <a:gd name="adj" fmla="val 13793"/>
            </a:avLst>
          </a:prstGeom>
          <a:solidFill>
            <a:srgbClr val="FDEBDD"/>
          </a:solidFill>
          <a:ln/>
        </p:spPr>
      </p:sp>
      <p:sp>
        <p:nvSpPr>
          <p:cNvPr id="10" name="Text 8"/>
          <p:cNvSpPr txBox="1"/>
          <p:nvPr/>
        </p:nvSpPr>
        <p:spPr>
          <a:xfrm>
            <a:off x="731520" y="3438144"/>
            <a:ext cx="1706819" cy="53035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Trưởng nhóm</a:t>
            </a:r>
            <a:endParaRPr lang="en-US" sz="1200" dirty="0"/>
          </a:p>
          <a:p>
            <a:pPr algn="ctr" indent="0" marL="0">
              <a:buNone/>
            </a:pPr>
            <a:r>
              <a:rPr lang="en-US" sz="1200" b="1" dirty="0">
                <a:solidFill>
                  <a:srgbClr val="C2410C"/>
                </a:solidFill>
                <a:latin typeface="Calibri" pitchFamily="34" charset="0"/>
                <a:ea typeface="Calibri" pitchFamily="34" charset="-122"/>
                <a:cs typeface="Calibri" pitchFamily="34" charset="-120"/>
              </a:rPr>
              <a:t>Full-stack</a:t>
            </a:r>
            <a:endParaRPr lang="en-US" sz="1200" dirty="0"/>
          </a:p>
        </p:txBody>
      </p:sp>
      <p:sp>
        <p:nvSpPr>
          <p:cNvPr id="11" name="Text 9"/>
          <p:cNvSpPr txBox="1"/>
          <p:nvPr/>
        </p:nvSpPr>
        <p:spPr>
          <a:xfrm>
            <a:off x="731520" y="416052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ƯU ĐIỂM</a:t>
            </a:r>
            <a:endParaRPr lang="en-US" sz="1000" dirty="0"/>
          </a:p>
        </p:txBody>
      </p:sp>
      <p:sp>
        <p:nvSpPr>
          <p:cNvPr id="12" name="Text 10"/>
          <p:cNvSpPr txBox="1"/>
          <p:nvPr/>
        </p:nvSpPr>
        <p:spPr>
          <a:xfrm>
            <a:off x="731520" y="437083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Tổng hợp tốt, theo dõi tiến độ, tích hợp chức năng.</a:t>
            </a:r>
            <a:endParaRPr lang="en-US" sz="1300" dirty="0"/>
          </a:p>
        </p:txBody>
      </p:sp>
      <p:sp>
        <p:nvSpPr>
          <p:cNvPr id="13" name="Text 11"/>
          <p:cNvSpPr txBox="1"/>
          <p:nvPr/>
        </p:nvSpPr>
        <p:spPr>
          <a:xfrm>
            <a:off x="731520" y="516636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ĐIỂM CẦN LƯU Ý</a:t>
            </a:r>
            <a:endParaRPr lang="en-US" sz="1000" dirty="0"/>
          </a:p>
        </p:txBody>
      </p:sp>
      <p:sp>
        <p:nvSpPr>
          <p:cNvPr id="14" name="Text 12"/>
          <p:cNvSpPr txBox="1"/>
          <p:nvPr/>
        </p:nvSpPr>
        <p:spPr>
          <a:xfrm>
            <a:off x="731520" y="537667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Dễ ôm nhiều việc nếu phân công không rõ.</a:t>
            </a:r>
            <a:endParaRPr lang="en-US" sz="1300" dirty="0"/>
          </a:p>
        </p:txBody>
      </p:sp>
      <p:sp>
        <p:nvSpPr>
          <p:cNvPr id="15" name="Shape 13"/>
          <p:cNvSpPr/>
          <p:nvPr/>
        </p:nvSpPr>
        <p:spPr>
          <a:xfrm>
            <a:off x="2804099" y="1737360"/>
            <a:ext cx="2072579" cy="4480560"/>
          </a:xfrm>
          <a:prstGeom prst="roundRect">
            <a:avLst>
              <a:gd name="adj" fmla="val 529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2986979" y="1920240"/>
            <a:ext cx="420624" cy="420624"/>
          </a:xfrm>
          <a:prstGeom prst="ellipse">
            <a:avLst/>
          </a:prstGeom>
          <a:solidFill>
            <a:srgbClr val="0B1B3A"/>
          </a:solidFill>
          <a:ln/>
        </p:spPr>
      </p:sp>
      <p:sp>
        <p:nvSpPr>
          <p:cNvPr id="17" name="Text 15"/>
          <p:cNvSpPr txBox="1"/>
          <p:nvPr/>
        </p:nvSpPr>
        <p:spPr>
          <a:xfrm>
            <a:off x="2986979"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8" name="Text 16"/>
          <p:cNvSpPr txBox="1"/>
          <p:nvPr/>
        </p:nvSpPr>
        <p:spPr>
          <a:xfrm>
            <a:off x="2986979" y="2450592"/>
            <a:ext cx="1706819" cy="594360"/>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Nguyễn Minh</a:t>
            </a:r>
            <a:endParaRPr lang="en-US" sz="1600" dirty="0"/>
          </a:p>
          <a:p>
            <a:pPr indent="0" marL="0">
              <a:buNone/>
            </a:pPr>
            <a:r>
              <a:rPr lang="en-US" sz="1600" b="1" dirty="0">
                <a:solidFill>
                  <a:srgbClr val="0B1B3A"/>
                </a:solidFill>
                <a:latin typeface="Arial" pitchFamily="34" charset="0"/>
                <a:ea typeface="Arial" pitchFamily="34" charset="-122"/>
                <a:cs typeface="Arial" pitchFamily="34" charset="-120"/>
              </a:rPr>
              <a:t>Hiếu</a:t>
            </a:r>
            <a:endParaRPr lang="en-US" sz="1600" dirty="0"/>
          </a:p>
        </p:txBody>
      </p:sp>
      <p:sp>
        <p:nvSpPr>
          <p:cNvPr id="19" name="Text 17"/>
          <p:cNvSpPr txBox="1"/>
          <p:nvPr/>
        </p:nvSpPr>
        <p:spPr>
          <a:xfrm>
            <a:off x="2986979" y="3090672"/>
            <a:ext cx="1706819" cy="256032"/>
          </a:xfrm>
          <a:prstGeom prst="rect">
            <a:avLst/>
          </a:prstGeom>
          <a:noFill/>
          <a:ln/>
        </p:spPr>
        <p:txBody>
          <a:bodyPr wrap="square" lIns="0" tIns="0" rIns="0" bIns="0" rtlCol="0" anchor="t"/>
          <a:lstStyle/>
          <a:p>
            <a:pPr indent="0" marL="0">
              <a:buNone/>
            </a:pPr>
            <a:r>
              <a:rPr lang="en-US" sz="1200" b="1" dirty="0">
                <a:solidFill>
                  <a:srgbClr val="0E8A7E"/>
                </a:solidFill>
                <a:latin typeface="Calibri" pitchFamily="34" charset="0"/>
                <a:ea typeface="Calibri" pitchFamily="34" charset="-122"/>
                <a:cs typeface="Calibri" pitchFamily="34" charset="-120"/>
              </a:rPr>
              <a:t>PS47378</a:t>
            </a:r>
            <a:endParaRPr lang="en-US" sz="1200" dirty="0"/>
          </a:p>
        </p:txBody>
      </p:sp>
      <p:sp>
        <p:nvSpPr>
          <p:cNvPr id="20" name="Shape 18"/>
          <p:cNvSpPr/>
          <p:nvPr/>
        </p:nvSpPr>
        <p:spPr>
          <a:xfrm>
            <a:off x="2986979" y="3438144"/>
            <a:ext cx="1706819" cy="530352"/>
          </a:xfrm>
          <a:prstGeom prst="roundRect">
            <a:avLst>
              <a:gd name="adj" fmla="val 13793"/>
            </a:avLst>
          </a:prstGeom>
          <a:solidFill>
            <a:srgbClr val="FDEBDD"/>
          </a:solidFill>
          <a:ln/>
        </p:spPr>
      </p:sp>
      <p:sp>
        <p:nvSpPr>
          <p:cNvPr id="21" name="Text 19"/>
          <p:cNvSpPr txBox="1"/>
          <p:nvPr/>
        </p:nvSpPr>
        <p:spPr>
          <a:xfrm>
            <a:off x="2986979" y="3438144"/>
            <a:ext cx="1706819" cy="53035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Backend</a:t>
            </a:r>
            <a:endParaRPr lang="en-US" sz="1200" dirty="0"/>
          </a:p>
          <a:p>
            <a:pPr algn="ctr" indent="0" marL="0">
              <a:buNone/>
            </a:pPr>
            <a:r>
              <a:rPr lang="en-US" sz="1200" b="1" dirty="0">
                <a:solidFill>
                  <a:srgbClr val="C2410C"/>
                </a:solidFill>
                <a:latin typeface="Calibri" pitchFamily="34" charset="0"/>
                <a:ea typeface="Calibri" pitchFamily="34" charset="-122"/>
                <a:cs typeface="Calibri" pitchFamily="34" charset="-120"/>
              </a:rPr>
              <a:t>Testing</a:t>
            </a:r>
            <a:endParaRPr lang="en-US" sz="1200" dirty="0"/>
          </a:p>
        </p:txBody>
      </p:sp>
      <p:sp>
        <p:nvSpPr>
          <p:cNvPr id="22" name="Text 20"/>
          <p:cNvSpPr txBox="1"/>
          <p:nvPr/>
        </p:nvSpPr>
        <p:spPr>
          <a:xfrm>
            <a:off x="2986979" y="416052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ƯU ĐIỂM</a:t>
            </a:r>
            <a:endParaRPr lang="en-US" sz="1000" dirty="0"/>
          </a:p>
        </p:txBody>
      </p:sp>
      <p:sp>
        <p:nvSpPr>
          <p:cNvPr id="23" name="Text 21"/>
          <p:cNvSpPr txBox="1"/>
          <p:nvPr/>
        </p:nvSpPr>
        <p:spPr>
          <a:xfrm>
            <a:off x="2986979" y="437083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Tư duy logic, kiểm thử và xử lý dữ liệu.</a:t>
            </a:r>
            <a:endParaRPr lang="en-US" sz="1300" dirty="0"/>
          </a:p>
        </p:txBody>
      </p:sp>
      <p:sp>
        <p:nvSpPr>
          <p:cNvPr id="24" name="Text 22"/>
          <p:cNvSpPr txBox="1"/>
          <p:nvPr/>
        </p:nvSpPr>
        <p:spPr>
          <a:xfrm>
            <a:off x="2986979" y="516636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ĐIỂM CẦN LƯU Ý</a:t>
            </a:r>
            <a:endParaRPr lang="en-US" sz="1000" dirty="0"/>
          </a:p>
        </p:txBody>
      </p:sp>
      <p:sp>
        <p:nvSpPr>
          <p:cNvPr id="25" name="Text 23"/>
          <p:cNvSpPr txBox="1"/>
          <p:nvPr/>
        </p:nvSpPr>
        <p:spPr>
          <a:xfrm>
            <a:off x="2986979" y="537667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Cần tài liệu yêu cầu rõ trước khi code.</a:t>
            </a:r>
            <a:endParaRPr lang="en-US" sz="1300" dirty="0"/>
          </a:p>
        </p:txBody>
      </p:sp>
      <p:sp>
        <p:nvSpPr>
          <p:cNvPr id="26" name="Shape 24"/>
          <p:cNvSpPr/>
          <p:nvPr/>
        </p:nvSpPr>
        <p:spPr>
          <a:xfrm>
            <a:off x="5059558" y="1737360"/>
            <a:ext cx="2072579" cy="4480560"/>
          </a:xfrm>
          <a:prstGeom prst="roundRect">
            <a:avLst>
              <a:gd name="adj" fmla="val 529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7" name="Shape 25"/>
          <p:cNvSpPr/>
          <p:nvPr/>
        </p:nvSpPr>
        <p:spPr>
          <a:xfrm>
            <a:off x="5242438" y="1920240"/>
            <a:ext cx="420624" cy="420624"/>
          </a:xfrm>
          <a:prstGeom prst="ellipse">
            <a:avLst/>
          </a:prstGeom>
          <a:solidFill>
            <a:srgbClr val="0B1B3A"/>
          </a:solidFill>
          <a:ln/>
        </p:spPr>
      </p:sp>
      <p:sp>
        <p:nvSpPr>
          <p:cNvPr id="28" name="Text 26"/>
          <p:cNvSpPr txBox="1"/>
          <p:nvPr/>
        </p:nvSpPr>
        <p:spPr>
          <a:xfrm>
            <a:off x="524243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29" name="Text 27"/>
          <p:cNvSpPr txBox="1"/>
          <p:nvPr/>
        </p:nvSpPr>
        <p:spPr>
          <a:xfrm>
            <a:off x="5242438" y="2450592"/>
            <a:ext cx="1706819" cy="594360"/>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Trần Ngọc</a:t>
            </a:r>
            <a:endParaRPr lang="en-US" sz="1600" dirty="0"/>
          </a:p>
          <a:p>
            <a:pPr indent="0" marL="0">
              <a:buNone/>
            </a:pPr>
            <a:r>
              <a:rPr lang="en-US" sz="1600" b="1" dirty="0">
                <a:solidFill>
                  <a:srgbClr val="0B1B3A"/>
                </a:solidFill>
                <a:latin typeface="Arial" pitchFamily="34" charset="0"/>
                <a:ea typeface="Arial" pitchFamily="34" charset="-122"/>
                <a:cs typeface="Arial" pitchFamily="34" charset="-120"/>
              </a:rPr>
              <a:t>Xuân Đình</a:t>
            </a:r>
            <a:endParaRPr lang="en-US" sz="1600" dirty="0"/>
          </a:p>
        </p:txBody>
      </p:sp>
      <p:sp>
        <p:nvSpPr>
          <p:cNvPr id="30" name="Text 28"/>
          <p:cNvSpPr txBox="1"/>
          <p:nvPr/>
        </p:nvSpPr>
        <p:spPr>
          <a:xfrm>
            <a:off x="5242438" y="3090672"/>
            <a:ext cx="1706819" cy="256032"/>
          </a:xfrm>
          <a:prstGeom prst="rect">
            <a:avLst/>
          </a:prstGeom>
          <a:noFill/>
          <a:ln/>
        </p:spPr>
        <p:txBody>
          <a:bodyPr wrap="square" lIns="0" tIns="0" rIns="0" bIns="0" rtlCol="0" anchor="t"/>
          <a:lstStyle/>
          <a:p>
            <a:pPr indent="0" marL="0">
              <a:buNone/>
            </a:pPr>
            <a:r>
              <a:rPr lang="en-US" sz="1200" b="1" dirty="0">
                <a:solidFill>
                  <a:srgbClr val="0E8A7E"/>
                </a:solidFill>
                <a:latin typeface="Calibri" pitchFamily="34" charset="0"/>
                <a:ea typeface="Calibri" pitchFamily="34" charset="-122"/>
                <a:cs typeface="Calibri" pitchFamily="34" charset="-120"/>
              </a:rPr>
              <a:t>PS47346</a:t>
            </a:r>
            <a:endParaRPr lang="en-US" sz="1200" dirty="0"/>
          </a:p>
        </p:txBody>
      </p:sp>
      <p:sp>
        <p:nvSpPr>
          <p:cNvPr id="31" name="Shape 29"/>
          <p:cNvSpPr/>
          <p:nvPr/>
        </p:nvSpPr>
        <p:spPr>
          <a:xfrm>
            <a:off x="5242438" y="3438144"/>
            <a:ext cx="1706819" cy="530352"/>
          </a:xfrm>
          <a:prstGeom prst="roundRect">
            <a:avLst>
              <a:gd name="adj" fmla="val 13793"/>
            </a:avLst>
          </a:prstGeom>
          <a:solidFill>
            <a:srgbClr val="FDEBDD"/>
          </a:solidFill>
          <a:ln/>
        </p:spPr>
      </p:sp>
      <p:sp>
        <p:nvSpPr>
          <p:cNvPr id="32" name="Text 30"/>
          <p:cNvSpPr txBox="1"/>
          <p:nvPr/>
        </p:nvSpPr>
        <p:spPr>
          <a:xfrm>
            <a:off x="5242438" y="3438144"/>
            <a:ext cx="1706819" cy="53035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UI/UX</a:t>
            </a:r>
            <a:endParaRPr lang="en-US" sz="1200" dirty="0"/>
          </a:p>
          <a:p>
            <a:pPr algn="ctr" indent="0" marL="0">
              <a:buNone/>
            </a:pPr>
            <a:r>
              <a:rPr lang="en-US" sz="1200" b="1" dirty="0">
                <a:solidFill>
                  <a:srgbClr val="C2410C"/>
                </a:solidFill>
                <a:latin typeface="Calibri" pitchFamily="34" charset="0"/>
                <a:ea typeface="Calibri" pitchFamily="34" charset="-122"/>
                <a:cs typeface="Calibri" pitchFamily="34" charset="-120"/>
              </a:rPr>
              <a:t>Frontend</a:t>
            </a:r>
            <a:endParaRPr lang="en-US" sz="1200" dirty="0"/>
          </a:p>
        </p:txBody>
      </p:sp>
      <p:sp>
        <p:nvSpPr>
          <p:cNvPr id="33" name="Text 31"/>
          <p:cNvSpPr txBox="1"/>
          <p:nvPr/>
        </p:nvSpPr>
        <p:spPr>
          <a:xfrm>
            <a:off x="5242438" y="416052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ƯU ĐIỂM</a:t>
            </a:r>
            <a:endParaRPr lang="en-US" sz="1000" dirty="0"/>
          </a:p>
        </p:txBody>
      </p:sp>
      <p:sp>
        <p:nvSpPr>
          <p:cNvPr id="34" name="Text 32"/>
          <p:cNvSpPr txBox="1"/>
          <p:nvPr/>
        </p:nvSpPr>
        <p:spPr>
          <a:xfrm>
            <a:off x="5242438" y="437083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Chú ý giao diện và trải nghiệm người dùng.</a:t>
            </a:r>
            <a:endParaRPr lang="en-US" sz="1300" dirty="0"/>
          </a:p>
        </p:txBody>
      </p:sp>
      <p:sp>
        <p:nvSpPr>
          <p:cNvPr id="35" name="Text 33"/>
          <p:cNvSpPr txBox="1"/>
          <p:nvPr/>
        </p:nvSpPr>
        <p:spPr>
          <a:xfrm>
            <a:off x="5242438" y="516636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ĐIỂM CẦN LƯU Ý</a:t>
            </a:r>
            <a:endParaRPr lang="en-US" sz="1000" dirty="0"/>
          </a:p>
        </p:txBody>
      </p:sp>
      <p:sp>
        <p:nvSpPr>
          <p:cNvPr id="36" name="Text 34"/>
          <p:cNvSpPr txBox="1"/>
          <p:nvPr/>
        </p:nvSpPr>
        <p:spPr>
          <a:xfrm>
            <a:off x="5242438" y="537667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Dễ dành nhiều thời gian cho chi tiết giao diện.</a:t>
            </a:r>
            <a:endParaRPr lang="en-US" sz="1300" dirty="0"/>
          </a:p>
        </p:txBody>
      </p:sp>
      <p:sp>
        <p:nvSpPr>
          <p:cNvPr id="37" name="Shape 35"/>
          <p:cNvSpPr/>
          <p:nvPr/>
        </p:nvSpPr>
        <p:spPr>
          <a:xfrm>
            <a:off x="7315017" y="1737360"/>
            <a:ext cx="2072579" cy="4480560"/>
          </a:xfrm>
          <a:prstGeom prst="roundRect">
            <a:avLst>
              <a:gd name="adj" fmla="val 529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8" name="Shape 36"/>
          <p:cNvSpPr/>
          <p:nvPr/>
        </p:nvSpPr>
        <p:spPr>
          <a:xfrm>
            <a:off x="7497897" y="1920240"/>
            <a:ext cx="420624" cy="420624"/>
          </a:xfrm>
          <a:prstGeom prst="ellipse">
            <a:avLst/>
          </a:prstGeom>
          <a:solidFill>
            <a:srgbClr val="0B1B3A"/>
          </a:solidFill>
          <a:ln/>
        </p:spPr>
      </p:sp>
      <p:sp>
        <p:nvSpPr>
          <p:cNvPr id="39" name="Text 37"/>
          <p:cNvSpPr txBox="1"/>
          <p:nvPr/>
        </p:nvSpPr>
        <p:spPr>
          <a:xfrm>
            <a:off x="7497897"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40" name="Text 38"/>
          <p:cNvSpPr txBox="1"/>
          <p:nvPr/>
        </p:nvSpPr>
        <p:spPr>
          <a:xfrm>
            <a:off x="7497897" y="2450592"/>
            <a:ext cx="1706819" cy="594360"/>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Lê Bùi</a:t>
            </a:r>
            <a:endParaRPr lang="en-US" sz="1600" dirty="0"/>
          </a:p>
          <a:p>
            <a:pPr indent="0" marL="0">
              <a:buNone/>
            </a:pPr>
            <a:r>
              <a:rPr lang="en-US" sz="1600" b="1" dirty="0">
                <a:solidFill>
                  <a:srgbClr val="0B1B3A"/>
                </a:solidFill>
                <a:latin typeface="Arial" pitchFamily="34" charset="0"/>
                <a:ea typeface="Arial" pitchFamily="34" charset="-122"/>
                <a:cs typeface="Arial" pitchFamily="34" charset="-120"/>
              </a:rPr>
              <a:t>Hồng Phúc</a:t>
            </a:r>
            <a:endParaRPr lang="en-US" sz="1600" dirty="0"/>
          </a:p>
        </p:txBody>
      </p:sp>
      <p:sp>
        <p:nvSpPr>
          <p:cNvPr id="41" name="Text 39"/>
          <p:cNvSpPr txBox="1"/>
          <p:nvPr/>
        </p:nvSpPr>
        <p:spPr>
          <a:xfrm>
            <a:off x="7497897" y="3090672"/>
            <a:ext cx="1706819" cy="256032"/>
          </a:xfrm>
          <a:prstGeom prst="rect">
            <a:avLst/>
          </a:prstGeom>
          <a:noFill/>
          <a:ln/>
        </p:spPr>
        <p:txBody>
          <a:bodyPr wrap="square" lIns="0" tIns="0" rIns="0" bIns="0" rtlCol="0" anchor="t"/>
          <a:lstStyle/>
          <a:p>
            <a:pPr indent="0" marL="0">
              <a:buNone/>
            </a:pPr>
            <a:r>
              <a:rPr lang="en-US" sz="1200" b="1" dirty="0">
                <a:solidFill>
                  <a:srgbClr val="0E8A7E"/>
                </a:solidFill>
                <a:latin typeface="Calibri" pitchFamily="34" charset="0"/>
                <a:ea typeface="Calibri" pitchFamily="34" charset="-122"/>
                <a:cs typeface="Calibri" pitchFamily="34" charset="-120"/>
              </a:rPr>
              <a:t>PS47318</a:t>
            </a:r>
            <a:endParaRPr lang="en-US" sz="1200" dirty="0"/>
          </a:p>
        </p:txBody>
      </p:sp>
      <p:sp>
        <p:nvSpPr>
          <p:cNvPr id="42" name="Shape 40"/>
          <p:cNvSpPr/>
          <p:nvPr/>
        </p:nvSpPr>
        <p:spPr>
          <a:xfrm>
            <a:off x="7497897" y="3438144"/>
            <a:ext cx="1706819" cy="530352"/>
          </a:xfrm>
          <a:prstGeom prst="roundRect">
            <a:avLst>
              <a:gd name="adj" fmla="val 13793"/>
            </a:avLst>
          </a:prstGeom>
          <a:solidFill>
            <a:srgbClr val="FDEBDD"/>
          </a:solidFill>
          <a:ln/>
        </p:spPr>
      </p:sp>
      <p:sp>
        <p:nvSpPr>
          <p:cNvPr id="43" name="Text 41"/>
          <p:cNvSpPr txBox="1"/>
          <p:nvPr/>
        </p:nvSpPr>
        <p:spPr>
          <a:xfrm>
            <a:off x="7497897" y="3438144"/>
            <a:ext cx="1706819" cy="53035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Khảo sát</a:t>
            </a:r>
            <a:endParaRPr lang="en-US" sz="1200" dirty="0"/>
          </a:p>
          <a:p>
            <a:pPr algn="ctr" indent="0" marL="0">
              <a:buNone/>
            </a:pPr>
            <a:r>
              <a:rPr lang="en-US" sz="1200" b="1" dirty="0">
                <a:solidFill>
                  <a:srgbClr val="C2410C"/>
                </a:solidFill>
                <a:latin typeface="Calibri" pitchFamily="34" charset="0"/>
                <a:ea typeface="Calibri" pitchFamily="34" charset="-122"/>
                <a:cs typeface="Calibri" pitchFamily="34" charset="-120"/>
              </a:rPr>
              <a:t>Dữ liệu</a:t>
            </a:r>
            <a:endParaRPr lang="en-US" sz="1200" dirty="0"/>
          </a:p>
        </p:txBody>
      </p:sp>
      <p:sp>
        <p:nvSpPr>
          <p:cNvPr id="44" name="Text 42"/>
          <p:cNvSpPr txBox="1"/>
          <p:nvPr/>
        </p:nvSpPr>
        <p:spPr>
          <a:xfrm>
            <a:off x="7497897" y="416052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ƯU ĐIỂM</a:t>
            </a:r>
            <a:endParaRPr lang="en-US" sz="1000" dirty="0"/>
          </a:p>
        </p:txBody>
      </p:sp>
      <p:sp>
        <p:nvSpPr>
          <p:cNvPr id="45" name="Text 43"/>
          <p:cNvSpPr txBox="1"/>
          <p:nvPr/>
        </p:nvSpPr>
        <p:spPr>
          <a:xfrm>
            <a:off x="7497897" y="437083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Giao tiếp tốt, thu thập thông tin.</a:t>
            </a:r>
            <a:endParaRPr lang="en-US" sz="1300" dirty="0"/>
          </a:p>
        </p:txBody>
      </p:sp>
      <p:sp>
        <p:nvSpPr>
          <p:cNvPr id="46" name="Text 44"/>
          <p:cNvSpPr txBox="1"/>
          <p:nvPr/>
        </p:nvSpPr>
        <p:spPr>
          <a:xfrm>
            <a:off x="7497897" y="516636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ĐIỂM CẦN LƯU Ý</a:t>
            </a:r>
            <a:endParaRPr lang="en-US" sz="1000" dirty="0"/>
          </a:p>
        </p:txBody>
      </p:sp>
      <p:sp>
        <p:nvSpPr>
          <p:cNvPr id="47" name="Text 45"/>
          <p:cNvSpPr txBox="1"/>
          <p:nvPr/>
        </p:nvSpPr>
        <p:spPr>
          <a:xfrm>
            <a:off x="7497897" y="537667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Cần chuẩn hóa dữ liệu trước khi nhập.</a:t>
            </a:r>
            <a:endParaRPr lang="en-US" sz="1300" dirty="0"/>
          </a:p>
        </p:txBody>
      </p:sp>
      <p:sp>
        <p:nvSpPr>
          <p:cNvPr id="48" name="Shape 46"/>
          <p:cNvSpPr/>
          <p:nvPr/>
        </p:nvSpPr>
        <p:spPr>
          <a:xfrm>
            <a:off x="9570476" y="1737360"/>
            <a:ext cx="2072579" cy="4480560"/>
          </a:xfrm>
          <a:prstGeom prst="roundRect">
            <a:avLst>
              <a:gd name="adj" fmla="val 529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49" name="Shape 47"/>
          <p:cNvSpPr/>
          <p:nvPr/>
        </p:nvSpPr>
        <p:spPr>
          <a:xfrm>
            <a:off x="9753356" y="1920240"/>
            <a:ext cx="420624" cy="420624"/>
          </a:xfrm>
          <a:prstGeom prst="ellipse">
            <a:avLst/>
          </a:prstGeom>
          <a:solidFill>
            <a:srgbClr val="0B1B3A"/>
          </a:solidFill>
          <a:ln/>
        </p:spPr>
      </p:sp>
      <p:sp>
        <p:nvSpPr>
          <p:cNvPr id="50" name="Text 48"/>
          <p:cNvSpPr txBox="1"/>
          <p:nvPr/>
        </p:nvSpPr>
        <p:spPr>
          <a:xfrm>
            <a:off x="975335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51" name="Text 49"/>
          <p:cNvSpPr txBox="1"/>
          <p:nvPr/>
        </p:nvSpPr>
        <p:spPr>
          <a:xfrm>
            <a:off x="9753356" y="2450592"/>
            <a:ext cx="1706819" cy="594360"/>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Bàn Tiến</a:t>
            </a:r>
            <a:endParaRPr lang="en-US" sz="1600" dirty="0"/>
          </a:p>
          <a:p>
            <a:pPr indent="0" marL="0">
              <a:buNone/>
            </a:pPr>
            <a:r>
              <a:rPr lang="en-US" sz="1600" b="1" dirty="0">
                <a:solidFill>
                  <a:srgbClr val="0B1B3A"/>
                </a:solidFill>
                <a:latin typeface="Arial" pitchFamily="34" charset="0"/>
                <a:ea typeface="Arial" pitchFamily="34" charset="-122"/>
                <a:cs typeface="Arial" pitchFamily="34" charset="-120"/>
              </a:rPr>
              <a:t>Kim</a:t>
            </a:r>
            <a:endParaRPr lang="en-US" sz="1600" dirty="0"/>
          </a:p>
        </p:txBody>
      </p:sp>
      <p:sp>
        <p:nvSpPr>
          <p:cNvPr id="52" name="Text 50"/>
          <p:cNvSpPr txBox="1"/>
          <p:nvPr/>
        </p:nvSpPr>
        <p:spPr>
          <a:xfrm>
            <a:off x="9753356" y="3090672"/>
            <a:ext cx="1706819" cy="256032"/>
          </a:xfrm>
          <a:prstGeom prst="rect">
            <a:avLst/>
          </a:prstGeom>
          <a:noFill/>
          <a:ln/>
        </p:spPr>
        <p:txBody>
          <a:bodyPr wrap="square" lIns="0" tIns="0" rIns="0" bIns="0" rtlCol="0" anchor="t"/>
          <a:lstStyle/>
          <a:p>
            <a:pPr indent="0" marL="0">
              <a:buNone/>
            </a:pPr>
            <a:r>
              <a:rPr lang="en-US" sz="1200" b="1" dirty="0">
                <a:solidFill>
                  <a:srgbClr val="0E8A7E"/>
                </a:solidFill>
                <a:latin typeface="Calibri" pitchFamily="34" charset="0"/>
                <a:ea typeface="Calibri" pitchFamily="34" charset="-122"/>
                <a:cs typeface="Calibri" pitchFamily="34" charset="-120"/>
              </a:rPr>
              <a:t>PS47376</a:t>
            </a:r>
            <a:endParaRPr lang="en-US" sz="1200" dirty="0"/>
          </a:p>
        </p:txBody>
      </p:sp>
      <p:sp>
        <p:nvSpPr>
          <p:cNvPr id="53" name="Shape 51"/>
          <p:cNvSpPr/>
          <p:nvPr/>
        </p:nvSpPr>
        <p:spPr>
          <a:xfrm>
            <a:off x="9753356" y="3438144"/>
            <a:ext cx="1706819" cy="530352"/>
          </a:xfrm>
          <a:prstGeom prst="roundRect">
            <a:avLst>
              <a:gd name="adj" fmla="val 13793"/>
            </a:avLst>
          </a:prstGeom>
          <a:solidFill>
            <a:srgbClr val="FDEBDD"/>
          </a:solidFill>
          <a:ln/>
        </p:spPr>
      </p:sp>
      <p:sp>
        <p:nvSpPr>
          <p:cNvPr id="54" name="Text 52"/>
          <p:cNvSpPr txBox="1"/>
          <p:nvPr/>
        </p:nvSpPr>
        <p:spPr>
          <a:xfrm>
            <a:off x="9753356" y="3438144"/>
            <a:ext cx="1706819" cy="53035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Nội dung</a:t>
            </a:r>
            <a:endParaRPr lang="en-US" sz="1200" dirty="0"/>
          </a:p>
          <a:p>
            <a:pPr algn="ctr" indent="0" marL="0">
              <a:buNone/>
            </a:pPr>
            <a:r>
              <a:rPr lang="en-US" sz="1200" b="1" dirty="0">
                <a:solidFill>
                  <a:srgbClr val="C2410C"/>
                </a:solidFill>
                <a:latin typeface="Calibri" pitchFamily="34" charset="0"/>
                <a:ea typeface="Calibri" pitchFamily="34" charset="-122"/>
                <a:cs typeface="Calibri" pitchFamily="34" charset="-120"/>
              </a:rPr>
              <a:t>Đối ngoại</a:t>
            </a:r>
            <a:endParaRPr lang="en-US" sz="1200" dirty="0"/>
          </a:p>
        </p:txBody>
      </p:sp>
      <p:sp>
        <p:nvSpPr>
          <p:cNvPr id="55" name="Text 53"/>
          <p:cNvSpPr txBox="1"/>
          <p:nvPr/>
        </p:nvSpPr>
        <p:spPr>
          <a:xfrm>
            <a:off x="9753356" y="416052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ƯU ĐIỂM</a:t>
            </a:r>
            <a:endParaRPr lang="en-US" sz="1000" dirty="0"/>
          </a:p>
        </p:txBody>
      </p:sp>
      <p:sp>
        <p:nvSpPr>
          <p:cNvPr id="56" name="Text 54"/>
          <p:cNvSpPr txBox="1"/>
          <p:nvPr/>
        </p:nvSpPr>
        <p:spPr>
          <a:xfrm>
            <a:off x="9753356" y="437083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Liên hệ, trình bày và viết nội dung.</a:t>
            </a:r>
            <a:endParaRPr lang="en-US" sz="1300" dirty="0"/>
          </a:p>
        </p:txBody>
      </p:sp>
      <p:sp>
        <p:nvSpPr>
          <p:cNvPr id="57" name="Text 55"/>
          <p:cNvSpPr txBox="1"/>
          <p:nvPr/>
        </p:nvSpPr>
        <p:spPr>
          <a:xfrm>
            <a:off x="9753356" y="5166360"/>
            <a:ext cx="1706819" cy="201168"/>
          </a:xfrm>
          <a:prstGeom prst="rect">
            <a:avLst/>
          </a:prstGeom>
          <a:noFill/>
          <a:ln/>
        </p:spPr>
        <p:txBody>
          <a:bodyPr wrap="square" lIns="0" tIns="0" rIns="0" bIns="0" rtlCol="0" anchor="t"/>
          <a:lstStyle/>
          <a:p>
            <a:pPr indent="0" marL="0">
              <a:buNone/>
            </a:pPr>
            <a:r>
              <a:rPr lang="en-US" sz="1000" b="1" spc="100" kern="0" dirty="0">
                <a:solidFill>
                  <a:srgbClr val="1E5AA8"/>
                </a:solidFill>
                <a:latin typeface="Calibri" pitchFamily="34" charset="0"/>
                <a:ea typeface="Calibri" pitchFamily="34" charset="-122"/>
                <a:cs typeface="Calibri" pitchFamily="34" charset="-120"/>
              </a:rPr>
              <a:t>ĐIỂM CẦN LƯU Ý</a:t>
            </a:r>
            <a:endParaRPr lang="en-US" sz="1000" dirty="0"/>
          </a:p>
        </p:txBody>
      </p:sp>
      <p:sp>
        <p:nvSpPr>
          <p:cNvPr id="58" name="Text 56"/>
          <p:cNvSpPr txBox="1"/>
          <p:nvPr/>
        </p:nvSpPr>
        <p:spPr>
          <a:xfrm>
            <a:off x="9753356" y="5376672"/>
            <a:ext cx="1706819" cy="731520"/>
          </a:xfrm>
          <a:prstGeom prst="rect">
            <a:avLst/>
          </a:prstGeom>
          <a:noFill/>
          <a:ln/>
        </p:spPr>
        <p:txBody>
          <a:bodyPr wrap="square" lIns="0" tIns="0" rIns="0" bIns="0" rtlCol="0" anchor="t"/>
          <a:lstStyle/>
          <a:p>
            <a:pPr indent="0" marL="0">
              <a:buNone/>
            </a:pPr>
            <a:r>
              <a:rPr lang="en-US" sz="1300" dirty="0">
                <a:solidFill>
                  <a:srgbClr val="0B1B3A"/>
                </a:solidFill>
                <a:latin typeface="Calibri" pitchFamily="34" charset="0"/>
                <a:ea typeface="Calibri" pitchFamily="34" charset="-122"/>
                <a:cs typeface="Calibri" pitchFamily="34" charset="-120"/>
              </a:rPr>
              <a:t>Phụ thuộc phản hồi từ cửa hàng.</a:t>
            </a:r>
            <a:endParaRPr lang="en-US" sz="1300" dirty="0"/>
          </a:p>
        </p:txBody>
      </p:sp>
      <p:sp>
        <p:nvSpPr>
          <p:cNvPr id="59" name="Text 57"/>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60" name="Text 58"/>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04 / 22</a:t>
            </a:r>
            <a:endParaRPr lang="en-US" sz="1000" dirty="0"/>
          </a:p>
        </p:txBody>
      </p:sp>
      <p:sp>
        <p:nvSpPr>
          <p:cNvPr id="61" name="TextBox 60"/>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62" name="TextBox 61"/>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04 / 27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QUÁ TRÌNH XÂY DỰNG Ý TƯỞNG</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7 bước hình thành ý tưởng FixNear</a:t>
            </a:r>
            <a:endParaRPr lang="en-US" sz="3200" dirty="0"/>
          </a:p>
        </p:txBody>
      </p:sp>
      <p:sp>
        <p:nvSpPr>
          <p:cNvPr id="4" name="Text 2"/>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Đi từ vấn đề thật đến giải pháp được chọn có căn cứ — không nhảy thẳng vào “làm website”.</a:t>
            </a:r>
            <a:endParaRPr lang="en-US" sz="1600" dirty="0"/>
          </a:p>
        </p:txBody>
      </p:sp>
      <p:sp>
        <p:nvSpPr>
          <p:cNvPr id="5" name="Shape 3"/>
          <p:cNvSpPr/>
          <p:nvPr/>
        </p:nvSpPr>
        <p:spPr>
          <a:xfrm>
            <a:off x="548640" y="210312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6" name="Shape 4"/>
          <p:cNvSpPr/>
          <p:nvPr/>
        </p:nvSpPr>
        <p:spPr>
          <a:xfrm>
            <a:off x="777240" y="2331720"/>
            <a:ext cx="502920" cy="502920"/>
          </a:xfrm>
          <a:prstGeom prst="ellipse">
            <a:avLst/>
          </a:prstGeom>
          <a:solidFill>
            <a:srgbClr val="E4590F"/>
          </a:solidFill>
          <a:ln/>
        </p:spPr>
      </p:sp>
      <p:sp>
        <p:nvSpPr>
          <p:cNvPr id="7" name="Text 5"/>
          <p:cNvSpPr txBox="1"/>
          <p:nvPr/>
        </p:nvSpPr>
        <p:spPr>
          <a:xfrm>
            <a:off x="777240"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777240" y="297180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Tìm vấn đề</a:t>
            </a:r>
            <a:endParaRPr lang="en-US" sz="1800" dirty="0"/>
          </a:p>
        </p:txBody>
      </p:sp>
      <p:sp>
        <p:nvSpPr>
          <p:cNvPr id="9" name="Text 7"/>
          <p:cNvSpPr txBox="1"/>
          <p:nvPr/>
        </p:nvSpPr>
        <p:spPr>
          <a:xfrm>
            <a:off x="777240" y="336499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5 khó khăn của sinh viên khi cần sửa laptop, điện thoại.</a:t>
            </a:r>
            <a:endParaRPr lang="en-US" sz="1350" dirty="0"/>
          </a:p>
        </p:txBody>
      </p:sp>
      <p:sp>
        <p:nvSpPr>
          <p:cNvPr id="10" name="Shape 8"/>
          <p:cNvSpPr/>
          <p:nvPr/>
        </p:nvSpPr>
        <p:spPr>
          <a:xfrm>
            <a:off x="3379394" y="210312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3607994" y="2331720"/>
            <a:ext cx="502920" cy="502920"/>
          </a:xfrm>
          <a:prstGeom prst="ellipse">
            <a:avLst/>
          </a:prstGeom>
          <a:solidFill>
            <a:srgbClr val="E4590F"/>
          </a:solidFill>
          <a:ln/>
        </p:spPr>
      </p:sp>
      <p:sp>
        <p:nvSpPr>
          <p:cNvPr id="12" name="Text 10"/>
          <p:cNvSpPr txBox="1"/>
          <p:nvPr/>
        </p:nvSpPr>
        <p:spPr>
          <a:xfrm>
            <a:off x="3607994"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3607994" y="297180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Chọn vấn đề</a:t>
            </a:r>
            <a:endParaRPr lang="en-US" sz="1800" dirty="0"/>
          </a:p>
        </p:txBody>
      </p:sp>
      <p:sp>
        <p:nvSpPr>
          <p:cNvPr id="14" name="Text 12"/>
          <p:cNvSpPr txBox="1"/>
          <p:nvPr/>
        </p:nvSpPr>
        <p:spPr>
          <a:xfrm>
            <a:off x="3607994" y="336499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Đánh giá bằng 4 câu hỏi để chọn vấn đề trọng tâm.</a:t>
            </a:r>
            <a:endParaRPr lang="en-US" sz="1350" dirty="0"/>
          </a:p>
        </p:txBody>
      </p:sp>
      <p:sp>
        <p:nvSpPr>
          <p:cNvPr id="15" name="Shape 13"/>
          <p:cNvSpPr/>
          <p:nvPr/>
        </p:nvSpPr>
        <p:spPr>
          <a:xfrm>
            <a:off x="6210148" y="210312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6438748" y="2331720"/>
            <a:ext cx="502920" cy="502920"/>
          </a:xfrm>
          <a:prstGeom prst="ellipse">
            <a:avLst/>
          </a:prstGeom>
          <a:solidFill>
            <a:srgbClr val="E4590F"/>
          </a:solidFill>
          <a:ln/>
        </p:spPr>
      </p:sp>
      <p:sp>
        <p:nvSpPr>
          <p:cNvPr id="17" name="Text 15"/>
          <p:cNvSpPr txBox="1"/>
          <p:nvPr/>
        </p:nvSpPr>
        <p:spPr>
          <a:xfrm>
            <a:off x="6438748"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8" name="Text 16"/>
          <p:cNvSpPr txBox="1"/>
          <p:nvPr/>
        </p:nvSpPr>
        <p:spPr>
          <a:xfrm>
            <a:off x="6438748" y="297180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Kiểm chứng</a:t>
            </a:r>
            <a:endParaRPr lang="en-US" sz="1800" dirty="0"/>
          </a:p>
        </p:txBody>
      </p:sp>
      <p:sp>
        <p:nvSpPr>
          <p:cNvPr id="19" name="Text 17"/>
          <p:cNvSpPr txBox="1"/>
          <p:nvPr/>
        </p:nvSpPr>
        <p:spPr>
          <a:xfrm>
            <a:off x="6438748" y="336499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Khảo sát nhanh, mục tiêu tối thiểu 10 sinh viên.</a:t>
            </a:r>
            <a:endParaRPr lang="en-US" sz="1350" dirty="0"/>
          </a:p>
        </p:txBody>
      </p:sp>
      <p:sp>
        <p:nvSpPr>
          <p:cNvPr id="20" name="Shape 18"/>
          <p:cNvSpPr/>
          <p:nvPr/>
        </p:nvSpPr>
        <p:spPr>
          <a:xfrm>
            <a:off x="9040901" y="210312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1" name="Shape 19"/>
          <p:cNvSpPr/>
          <p:nvPr/>
        </p:nvSpPr>
        <p:spPr>
          <a:xfrm>
            <a:off x="9269501" y="2331720"/>
            <a:ext cx="502920" cy="502920"/>
          </a:xfrm>
          <a:prstGeom prst="ellipse">
            <a:avLst/>
          </a:prstGeom>
          <a:solidFill>
            <a:srgbClr val="E4590F"/>
          </a:solidFill>
          <a:ln/>
        </p:spPr>
      </p:sp>
      <p:sp>
        <p:nvSpPr>
          <p:cNvPr id="22" name="Text 20"/>
          <p:cNvSpPr txBox="1"/>
          <p:nvPr/>
        </p:nvSpPr>
        <p:spPr>
          <a:xfrm>
            <a:off x="9269501"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3" name="Text 21"/>
          <p:cNvSpPr txBox="1"/>
          <p:nvPr/>
        </p:nvSpPr>
        <p:spPr>
          <a:xfrm>
            <a:off x="9269501" y="297180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Nhu cầu thật</a:t>
            </a:r>
            <a:endParaRPr lang="en-US" sz="1800" dirty="0"/>
          </a:p>
        </p:txBody>
      </p:sp>
      <p:sp>
        <p:nvSpPr>
          <p:cNvPr id="24" name="Text 22"/>
          <p:cNvSpPr txBox="1"/>
          <p:nvPr/>
        </p:nvSpPr>
        <p:spPr>
          <a:xfrm>
            <a:off x="9269501" y="336499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Xác định Who – Why – What của người dùng.</a:t>
            </a:r>
            <a:endParaRPr lang="en-US" sz="1350" dirty="0"/>
          </a:p>
        </p:txBody>
      </p:sp>
      <p:sp>
        <p:nvSpPr>
          <p:cNvPr id="25" name="Shape 23"/>
          <p:cNvSpPr/>
          <p:nvPr/>
        </p:nvSpPr>
        <p:spPr>
          <a:xfrm>
            <a:off x="548640" y="425196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6" name="Shape 24"/>
          <p:cNvSpPr/>
          <p:nvPr/>
        </p:nvSpPr>
        <p:spPr>
          <a:xfrm>
            <a:off x="777240" y="4480560"/>
            <a:ext cx="502920" cy="502920"/>
          </a:xfrm>
          <a:prstGeom prst="ellipse">
            <a:avLst/>
          </a:prstGeom>
          <a:solidFill>
            <a:srgbClr val="E4590F"/>
          </a:solidFill>
          <a:ln/>
        </p:spPr>
      </p:sp>
      <p:sp>
        <p:nvSpPr>
          <p:cNvPr id="27" name="Text 25"/>
          <p:cNvSpPr txBox="1"/>
          <p:nvPr/>
        </p:nvSpPr>
        <p:spPr>
          <a:xfrm>
            <a:off x="777240"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8" name="Text 26"/>
          <p:cNvSpPr txBox="1"/>
          <p:nvPr/>
        </p:nvSpPr>
        <p:spPr>
          <a:xfrm>
            <a:off x="777240" y="512064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Liệt kê giải pháp</a:t>
            </a:r>
            <a:endParaRPr lang="en-US" sz="1800" dirty="0"/>
          </a:p>
        </p:txBody>
      </p:sp>
      <p:sp>
        <p:nvSpPr>
          <p:cNvPr id="29" name="Text 27"/>
          <p:cNvSpPr txBox="1"/>
          <p:nvPr/>
        </p:nvSpPr>
        <p:spPr>
          <a:xfrm>
            <a:off x="777240" y="551383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So sánh 5 phương án trước khi chọn.</a:t>
            </a:r>
            <a:endParaRPr lang="en-US" sz="1350" dirty="0"/>
          </a:p>
        </p:txBody>
      </p:sp>
      <p:sp>
        <p:nvSpPr>
          <p:cNvPr id="30" name="Shape 28"/>
          <p:cNvSpPr/>
          <p:nvPr/>
        </p:nvSpPr>
        <p:spPr>
          <a:xfrm>
            <a:off x="3379394" y="425196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1" name="Shape 29"/>
          <p:cNvSpPr/>
          <p:nvPr/>
        </p:nvSpPr>
        <p:spPr>
          <a:xfrm>
            <a:off x="3607994" y="4480560"/>
            <a:ext cx="502920" cy="502920"/>
          </a:xfrm>
          <a:prstGeom prst="ellipse">
            <a:avLst/>
          </a:prstGeom>
          <a:solidFill>
            <a:srgbClr val="E4590F"/>
          </a:solidFill>
          <a:ln/>
        </p:spPr>
      </p:sp>
      <p:sp>
        <p:nvSpPr>
          <p:cNvPr id="32" name="Text 30"/>
          <p:cNvSpPr txBox="1"/>
          <p:nvPr/>
        </p:nvSpPr>
        <p:spPr>
          <a:xfrm>
            <a:off x="3607994"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3" name="Text 31"/>
          <p:cNvSpPr txBox="1"/>
          <p:nvPr/>
        </p:nvSpPr>
        <p:spPr>
          <a:xfrm>
            <a:off x="3607994" y="512064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Chọn giải pháp</a:t>
            </a:r>
            <a:endParaRPr lang="en-US" sz="1800" dirty="0"/>
          </a:p>
        </p:txBody>
      </p:sp>
      <p:sp>
        <p:nvSpPr>
          <p:cNvPr id="34" name="Text 32"/>
          <p:cNvSpPr txBox="1"/>
          <p:nvPr/>
        </p:nvSpPr>
        <p:spPr>
          <a:xfrm>
            <a:off x="3607994" y="551383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Website FixNear – 18/25 điểm dự kiến.</a:t>
            </a:r>
            <a:endParaRPr lang="en-US" sz="1350" dirty="0"/>
          </a:p>
        </p:txBody>
      </p:sp>
      <p:sp>
        <p:nvSpPr>
          <p:cNvPr id="35" name="Shape 33"/>
          <p:cNvSpPr/>
          <p:nvPr/>
        </p:nvSpPr>
        <p:spPr>
          <a:xfrm>
            <a:off x="6210148" y="4251960"/>
            <a:ext cx="2602154" cy="1920240"/>
          </a:xfrm>
          <a:prstGeom prst="roundRect">
            <a:avLst>
              <a:gd name="adj" fmla="val 5714"/>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6" name="Shape 34"/>
          <p:cNvSpPr/>
          <p:nvPr/>
        </p:nvSpPr>
        <p:spPr>
          <a:xfrm>
            <a:off x="6438748" y="4480560"/>
            <a:ext cx="502920" cy="502920"/>
          </a:xfrm>
          <a:prstGeom prst="ellipse">
            <a:avLst/>
          </a:prstGeom>
          <a:solidFill>
            <a:srgbClr val="E4590F"/>
          </a:solidFill>
          <a:ln/>
        </p:spPr>
      </p:sp>
      <p:sp>
        <p:nvSpPr>
          <p:cNvPr id="37" name="Text 35"/>
          <p:cNvSpPr txBox="1"/>
          <p:nvPr/>
        </p:nvSpPr>
        <p:spPr>
          <a:xfrm>
            <a:off x="6438748"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38" name="Text 36"/>
          <p:cNvSpPr txBox="1"/>
          <p:nvPr/>
        </p:nvSpPr>
        <p:spPr>
          <a:xfrm>
            <a:off x="6438748" y="5120640"/>
            <a:ext cx="2144954" cy="365760"/>
          </a:xfrm>
          <a:prstGeom prst="rect">
            <a:avLst/>
          </a:prstGeom>
          <a:noFill/>
          <a:ln/>
        </p:spPr>
        <p:txBody>
          <a:bodyPr wrap="square" lIns="0" tIns="0" rIns="0" bIns="0" rtlCol="0" anchor="ctr"/>
          <a:lstStyle/>
          <a:p>
            <a:pPr indent="0" marL="0">
              <a:buNone/>
            </a:pPr>
            <a:r>
              <a:rPr lang="en-US" sz="1800" b="1" dirty="0">
                <a:solidFill>
                  <a:srgbClr val="0B1B3A"/>
                </a:solidFill>
                <a:latin typeface="Arial" pitchFamily="34" charset="0"/>
                <a:ea typeface="Arial" pitchFamily="34" charset="-122"/>
                <a:cs typeface="Arial" pitchFamily="34" charset="-120"/>
              </a:rPr>
              <a:t>Mô tả dự án</a:t>
            </a:r>
            <a:endParaRPr lang="en-US" sz="1800" dirty="0"/>
          </a:p>
        </p:txBody>
      </p:sp>
      <p:sp>
        <p:nvSpPr>
          <p:cNvPr id="39" name="Text 37"/>
          <p:cNvSpPr txBox="1"/>
          <p:nvPr/>
        </p:nvSpPr>
        <p:spPr>
          <a:xfrm>
            <a:off x="6438748" y="5513832"/>
            <a:ext cx="2144954" cy="548640"/>
          </a:xfrm>
          <a:prstGeom prst="rect">
            <a:avLst/>
          </a:prstGeom>
          <a:noFill/>
          <a:ln/>
        </p:spPr>
        <p:txBody>
          <a:bodyPr wrap="square" lIns="0" tIns="0" rIns="0" bIns="0" rtlCol="0" anchor="t"/>
          <a:lstStyle/>
          <a:p>
            <a:pPr indent="0" marL="0">
              <a:buNone/>
            </a:pPr>
            <a:r>
              <a:rPr lang="en-US" sz="1350" dirty="0">
                <a:solidFill>
                  <a:srgbClr val="55657F"/>
                </a:solidFill>
                <a:latin typeface="Calibri" pitchFamily="34" charset="0"/>
                <a:ea typeface="Calibri" pitchFamily="34" charset="-122"/>
                <a:cs typeface="Calibri" pitchFamily="34" charset="-120"/>
              </a:rPr>
              <a:t>Tên, lý do, mô tả, mục tiêu, đối tượng, kết quả dự kiến.</a:t>
            </a:r>
            <a:endParaRPr lang="en-US" sz="1350" dirty="0"/>
          </a:p>
        </p:txBody>
      </p:sp>
      <p:sp>
        <p:nvSpPr>
          <p:cNvPr id="40" name="Shape 38"/>
          <p:cNvSpPr/>
          <p:nvPr/>
        </p:nvSpPr>
        <p:spPr>
          <a:xfrm>
            <a:off x="9040901" y="4251960"/>
            <a:ext cx="2602154" cy="1920240"/>
          </a:xfrm>
          <a:prstGeom prst="roundRect">
            <a:avLst>
              <a:gd name="adj" fmla="val 5714"/>
            </a:avLst>
          </a:prstGeom>
          <a:solidFill>
            <a:srgbClr val="0B1B3A"/>
          </a:solidFill>
          <a:ln/>
        </p:spPr>
      </p:sp>
      <p:sp>
        <p:nvSpPr>
          <p:cNvPr id="41" name="Text 39"/>
          <p:cNvSpPr txBox="1"/>
          <p:nvPr/>
        </p:nvSpPr>
        <p:spPr>
          <a:xfrm>
            <a:off x="9269501" y="4526280"/>
            <a:ext cx="2144954"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KẾT QUẢ</a:t>
            </a:r>
            <a:endParaRPr lang="en-US" sz="1200" dirty="0"/>
          </a:p>
        </p:txBody>
      </p:sp>
      <p:sp>
        <p:nvSpPr>
          <p:cNvPr id="42" name="Text 40"/>
          <p:cNvSpPr txBox="1"/>
          <p:nvPr/>
        </p:nvSpPr>
        <p:spPr>
          <a:xfrm>
            <a:off x="9269501" y="4892040"/>
            <a:ext cx="2144954"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FixNear</a:t>
            </a:r>
            <a:endParaRPr lang="en-US" sz="2800" dirty="0"/>
          </a:p>
        </p:txBody>
      </p:sp>
      <p:sp>
        <p:nvSpPr>
          <p:cNvPr id="43" name="Text 41"/>
          <p:cNvSpPr txBox="1"/>
          <p:nvPr/>
        </p:nvSpPr>
        <p:spPr>
          <a:xfrm>
            <a:off x="9269501" y="5440680"/>
            <a:ext cx="2144954" cy="457200"/>
          </a:xfrm>
          <a:prstGeom prst="rect">
            <a:avLst/>
          </a:prstGeom>
          <a:noFill/>
          <a:ln/>
        </p:spPr>
        <p:txBody>
          <a:bodyPr wrap="square" lIns="0" tIns="0" rIns="0" bIns="0" rtlCol="0" anchor="t"/>
          <a:lstStyle/>
          <a:p>
            <a:pPr indent="0" marL="0">
              <a:buNone/>
            </a:pPr>
            <a:r>
              <a:rPr lang="en-US" sz="1400" dirty="0">
                <a:solidFill>
                  <a:srgbClr val="DCE8F7"/>
                </a:solidFill>
                <a:latin typeface="Calibri" pitchFamily="34" charset="0"/>
                <a:ea typeface="Calibri" pitchFamily="34" charset="-122"/>
                <a:cs typeface="Calibri" pitchFamily="34" charset="-120"/>
              </a:rPr>
              <a:t>Website MVP trong 03 tuần</a:t>
            </a:r>
            <a:endParaRPr lang="en-US" sz="1400" dirty="0"/>
          </a:p>
        </p:txBody>
      </p:sp>
      <p:sp>
        <p:nvSpPr>
          <p:cNvPr id="44" name="Text 42"/>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45" name="Text 43"/>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05 / 22</a:t>
            </a:r>
            <a:endParaRPr lang="en-US" sz="1000" dirty="0"/>
          </a:p>
        </p:txBody>
      </p:sp>
      <p:sp>
        <p:nvSpPr>
          <p:cNvPr id="46" name="TextBox 4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47" name="TextBox 4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05 / 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1 / 7  ·  TÌM CÁC VẤN ĐỀ CỦA NHÓM ĐỐI TƯỢNG CỤ THỂ</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Sinh viên gặp khó khăn gì khi máy hỏng?</a:t>
            </a:r>
            <a:endParaRPr lang="en-US" sz="3200" dirty="0"/>
          </a:p>
        </p:txBody>
      </p:sp>
      <p:sp>
        <p:nvSpPr>
          <p:cNvPr id="6" name="Text 4"/>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Nhóm đối tượng: sinh viên dùng laptop và điện thoại cho học tập, làm việc và sinh hoạt.</a:t>
            </a:r>
            <a:endParaRPr lang="en-US" sz="1600" dirty="0"/>
          </a:p>
        </p:txBody>
      </p:sp>
      <p:sp>
        <p:nvSpPr>
          <p:cNvPr id="7" name="Shape 5"/>
          <p:cNvSpPr/>
          <p:nvPr/>
        </p:nvSpPr>
        <p:spPr>
          <a:xfrm>
            <a:off x="548640" y="2103120"/>
            <a:ext cx="5432908"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777240" y="2395728"/>
            <a:ext cx="603504" cy="603504"/>
          </a:xfrm>
          <a:prstGeom prst="ellipse">
            <a:avLst/>
          </a:prstGeom>
          <a:solidFill>
            <a:srgbClr val="1E5AA8"/>
          </a:solidFill>
          <a:ln/>
        </p:spPr>
      </p:sp>
      <p:pic>
        <p:nvPicPr>
          <p:cNvPr id="9" name="Image 0" descr="preencoded.png">    </p:cNvPr>
          <p:cNvPicPr>
            <a:picLocks noChangeAspect="1"/>
          </p:cNvPicPr>
          <p:nvPr/>
        </p:nvPicPr>
        <p:blipFill>
          <a:blip r:embed="rId1"/>
          <a:stretch>
            <a:fillRect/>
          </a:stretch>
        </p:blipFill>
        <p:spPr>
          <a:xfrm>
            <a:off x="928116" y="2546604"/>
            <a:ext cx="301752" cy="301752"/>
          </a:xfrm>
          <a:prstGeom prst="rect">
            <a:avLst/>
          </a:prstGeom>
        </p:spPr>
      </p:pic>
      <p:sp>
        <p:nvSpPr>
          <p:cNvPr id="10" name="Text 7"/>
          <p:cNvSpPr txBox="1"/>
          <p:nvPr/>
        </p:nvSpPr>
        <p:spPr>
          <a:xfrm>
            <a:off x="1645920" y="2286000"/>
            <a:ext cx="4107028" cy="320040"/>
          </a:xfrm>
          <a:prstGeom prst="rect">
            <a:avLst/>
          </a:prstGeom>
          <a:noFill/>
          <a:ln/>
        </p:spPr>
        <p:txBody>
          <a:bodyPr wrap="square" lIns="0" tIns="0" rIns="0" bIns="0" rtlCol="0" anchor="ctr"/>
          <a:lstStyle/>
          <a:p>
            <a:pPr indent="0" marL="0">
              <a:buNone/>
            </a:pPr>
            <a:r>
              <a:rPr lang="en-US" sz="1650" b="1" dirty="0">
                <a:solidFill>
                  <a:srgbClr val="0B1B3A"/>
                </a:solidFill>
                <a:latin typeface="Arial" pitchFamily="34" charset="0"/>
                <a:ea typeface="Arial" pitchFamily="34" charset="-122"/>
                <a:cs typeface="Arial" pitchFamily="34" charset="-120"/>
              </a:rPr>
              <a:t>Khó tìm nơi sửa phù hợp</a:t>
            </a:r>
            <a:endParaRPr lang="en-US" sz="1650" dirty="0"/>
          </a:p>
        </p:txBody>
      </p:sp>
      <p:sp>
        <p:nvSpPr>
          <p:cNvPr id="11" name="Text 8"/>
          <p:cNvSpPr txBox="1"/>
          <p:nvPr/>
        </p:nvSpPr>
        <p:spPr>
          <a:xfrm>
            <a:off x="1645920" y="2651760"/>
            <a:ext cx="4107028" cy="5486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Khó tìm nhanh cửa hàng sửa chữa phù hợp gần khu vực trường.</a:t>
            </a:r>
            <a:endParaRPr lang="en-US" sz="1400" dirty="0"/>
          </a:p>
        </p:txBody>
      </p:sp>
      <p:sp>
        <p:nvSpPr>
          <p:cNvPr id="12" name="Shape 9"/>
          <p:cNvSpPr/>
          <p:nvPr/>
        </p:nvSpPr>
        <p:spPr>
          <a:xfrm>
            <a:off x="6210148" y="2103120"/>
            <a:ext cx="5432908"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3" name="Shape 10"/>
          <p:cNvSpPr/>
          <p:nvPr/>
        </p:nvSpPr>
        <p:spPr>
          <a:xfrm>
            <a:off x="6438748" y="2395728"/>
            <a:ext cx="603504" cy="603504"/>
          </a:xfrm>
          <a:prstGeom prst="ellipse">
            <a:avLst/>
          </a:prstGeom>
          <a:solidFill>
            <a:srgbClr val="1E5AA8"/>
          </a:solidFill>
          <a:ln/>
        </p:spPr>
      </p:sp>
      <p:pic>
        <p:nvPicPr>
          <p:cNvPr id="14" name="Image 1" descr="preencoded.png">    </p:cNvPr>
          <p:cNvPicPr>
            <a:picLocks noChangeAspect="1"/>
          </p:cNvPicPr>
          <p:nvPr/>
        </p:nvPicPr>
        <p:blipFill>
          <a:blip r:embed="rId2"/>
          <a:stretch>
            <a:fillRect/>
          </a:stretch>
        </p:blipFill>
        <p:spPr>
          <a:xfrm>
            <a:off x="6589624" y="2546604"/>
            <a:ext cx="301752" cy="301752"/>
          </a:xfrm>
          <a:prstGeom prst="rect">
            <a:avLst/>
          </a:prstGeom>
        </p:spPr>
      </p:pic>
      <p:sp>
        <p:nvSpPr>
          <p:cNvPr id="15" name="Text 11"/>
          <p:cNvSpPr txBox="1"/>
          <p:nvPr/>
        </p:nvSpPr>
        <p:spPr>
          <a:xfrm>
            <a:off x="7307428" y="2286000"/>
            <a:ext cx="4107028" cy="320040"/>
          </a:xfrm>
          <a:prstGeom prst="rect">
            <a:avLst/>
          </a:prstGeom>
          <a:noFill/>
          <a:ln/>
        </p:spPr>
        <p:txBody>
          <a:bodyPr wrap="square" lIns="0" tIns="0" rIns="0" bIns="0" rtlCol="0" anchor="ctr"/>
          <a:lstStyle/>
          <a:p>
            <a:pPr indent="0" marL="0">
              <a:buNone/>
            </a:pPr>
            <a:r>
              <a:rPr lang="en-US" sz="1650" b="1" dirty="0">
                <a:solidFill>
                  <a:srgbClr val="0B1B3A"/>
                </a:solidFill>
                <a:latin typeface="Arial" pitchFamily="34" charset="0"/>
                <a:ea typeface="Arial" pitchFamily="34" charset="-122"/>
                <a:cs typeface="Arial" pitchFamily="34" charset="-120"/>
              </a:rPr>
              <a:t>Không biết trước khoảng giá</a:t>
            </a:r>
            <a:endParaRPr lang="en-US" sz="1650" dirty="0"/>
          </a:p>
        </p:txBody>
      </p:sp>
      <p:sp>
        <p:nvSpPr>
          <p:cNvPr id="16" name="Text 12"/>
          <p:cNvSpPr txBox="1"/>
          <p:nvPr/>
        </p:nvSpPr>
        <p:spPr>
          <a:xfrm>
            <a:off x="7307428" y="2651760"/>
            <a:ext cx="4107028" cy="5486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Thiếu mức giá tham khảo cho lỗi/dịch vụ cần sửa.</a:t>
            </a:r>
            <a:endParaRPr lang="en-US" sz="1400" dirty="0"/>
          </a:p>
        </p:txBody>
      </p:sp>
      <p:sp>
        <p:nvSpPr>
          <p:cNvPr id="17" name="Shape 13"/>
          <p:cNvSpPr/>
          <p:nvPr/>
        </p:nvSpPr>
        <p:spPr>
          <a:xfrm>
            <a:off x="548640" y="3456432"/>
            <a:ext cx="5432908"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8" name="Shape 14"/>
          <p:cNvSpPr/>
          <p:nvPr/>
        </p:nvSpPr>
        <p:spPr>
          <a:xfrm>
            <a:off x="777240" y="3749040"/>
            <a:ext cx="603504" cy="603504"/>
          </a:xfrm>
          <a:prstGeom prst="ellipse">
            <a:avLst/>
          </a:prstGeom>
          <a:solidFill>
            <a:srgbClr val="1E5AA8"/>
          </a:solidFill>
          <a:ln/>
        </p:spPr>
      </p:sp>
      <p:pic>
        <p:nvPicPr>
          <p:cNvPr id="19" name="Image 2" descr="preencoded.png">    </p:cNvPr>
          <p:cNvPicPr>
            <a:picLocks noChangeAspect="1"/>
          </p:cNvPicPr>
          <p:nvPr/>
        </p:nvPicPr>
        <p:blipFill>
          <a:blip r:embed="rId3"/>
          <a:stretch>
            <a:fillRect/>
          </a:stretch>
        </p:blipFill>
        <p:spPr>
          <a:xfrm>
            <a:off x="928116" y="3899916"/>
            <a:ext cx="301752" cy="301752"/>
          </a:xfrm>
          <a:prstGeom prst="rect">
            <a:avLst/>
          </a:prstGeom>
        </p:spPr>
      </p:pic>
      <p:sp>
        <p:nvSpPr>
          <p:cNvPr id="20" name="Text 15"/>
          <p:cNvSpPr txBox="1"/>
          <p:nvPr/>
        </p:nvSpPr>
        <p:spPr>
          <a:xfrm>
            <a:off x="1645920" y="3639312"/>
            <a:ext cx="4107028" cy="320040"/>
          </a:xfrm>
          <a:prstGeom prst="rect">
            <a:avLst/>
          </a:prstGeom>
          <a:noFill/>
          <a:ln/>
        </p:spPr>
        <p:txBody>
          <a:bodyPr wrap="square" lIns="0" tIns="0" rIns="0" bIns="0" rtlCol="0" anchor="ctr"/>
          <a:lstStyle/>
          <a:p>
            <a:pPr indent="0" marL="0">
              <a:buNone/>
            </a:pPr>
            <a:r>
              <a:rPr lang="en-US" sz="1650" b="1" dirty="0">
                <a:solidFill>
                  <a:srgbClr val="0B1B3A"/>
                </a:solidFill>
                <a:latin typeface="Arial" pitchFamily="34" charset="0"/>
                <a:ea typeface="Arial" pitchFamily="34" charset="-122"/>
                <a:cs typeface="Arial" pitchFamily="34" charset="-120"/>
              </a:rPr>
              <a:t>Khó biết đúng thiết bị, đúng lỗi</a:t>
            </a:r>
            <a:endParaRPr lang="en-US" sz="1650" dirty="0"/>
          </a:p>
        </p:txBody>
      </p:sp>
      <p:sp>
        <p:nvSpPr>
          <p:cNvPr id="21" name="Text 16"/>
          <p:cNvSpPr txBox="1"/>
          <p:nvPr/>
        </p:nvSpPr>
        <p:spPr>
          <a:xfrm>
            <a:off x="1645920" y="4005072"/>
            <a:ext cx="4107028" cy="5486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Khó xác định cửa hàng có nhận đúng loại thiết bị và đúng lỗi hay không.</a:t>
            </a:r>
            <a:endParaRPr lang="en-US" sz="1400" dirty="0"/>
          </a:p>
        </p:txBody>
      </p:sp>
      <p:sp>
        <p:nvSpPr>
          <p:cNvPr id="22" name="Shape 17"/>
          <p:cNvSpPr/>
          <p:nvPr/>
        </p:nvSpPr>
        <p:spPr>
          <a:xfrm>
            <a:off x="6210148" y="3456432"/>
            <a:ext cx="5432908"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3" name="Shape 18"/>
          <p:cNvSpPr/>
          <p:nvPr/>
        </p:nvSpPr>
        <p:spPr>
          <a:xfrm>
            <a:off x="6438748" y="3749040"/>
            <a:ext cx="603504" cy="603504"/>
          </a:xfrm>
          <a:prstGeom prst="ellipse">
            <a:avLst/>
          </a:prstGeom>
          <a:solidFill>
            <a:srgbClr val="1E5AA8"/>
          </a:solidFill>
          <a:ln/>
        </p:spPr>
      </p:sp>
      <p:pic>
        <p:nvPicPr>
          <p:cNvPr id="24" name="Image 3" descr="preencoded.png">    </p:cNvPr>
          <p:cNvPicPr>
            <a:picLocks noChangeAspect="1"/>
          </p:cNvPicPr>
          <p:nvPr/>
        </p:nvPicPr>
        <p:blipFill>
          <a:blip r:embed="rId4"/>
          <a:stretch>
            <a:fillRect/>
          </a:stretch>
        </p:blipFill>
        <p:spPr>
          <a:xfrm>
            <a:off x="6589624" y="3899916"/>
            <a:ext cx="301752" cy="301752"/>
          </a:xfrm>
          <a:prstGeom prst="rect">
            <a:avLst/>
          </a:prstGeom>
        </p:spPr>
      </p:pic>
      <p:sp>
        <p:nvSpPr>
          <p:cNvPr id="25" name="Text 19"/>
          <p:cNvSpPr txBox="1"/>
          <p:nvPr/>
        </p:nvSpPr>
        <p:spPr>
          <a:xfrm>
            <a:off x="7307428" y="3639312"/>
            <a:ext cx="4107028" cy="320040"/>
          </a:xfrm>
          <a:prstGeom prst="rect">
            <a:avLst/>
          </a:prstGeom>
          <a:noFill/>
          <a:ln/>
        </p:spPr>
        <p:txBody>
          <a:bodyPr wrap="square" lIns="0" tIns="0" rIns="0" bIns="0" rtlCol="0" anchor="ctr"/>
          <a:lstStyle/>
          <a:p>
            <a:pPr indent="0" marL="0">
              <a:buNone/>
            </a:pPr>
            <a:r>
              <a:rPr lang="en-US" sz="1650" b="1" dirty="0">
                <a:solidFill>
                  <a:srgbClr val="0B1B3A"/>
                </a:solidFill>
                <a:latin typeface="Arial" pitchFamily="34" charset="0"/>
                <a:ea typeface="Arial" pitchFamily="34" charset="-122"/>
                <a:cs typeface="Arial" pitchFamily="34" charset="-120"/>
              </a:rPr>
              <a:t>Đánh giá nằm rải rác</a:t>
            </a:r>
            <a:endParaRPr lang="en-US" sz="1650" dirty="0"/>
          </a:p>
        </p:txBody>
      </p:sp>
      <p:sp>
        <p:nvSpPr>
          <p:cNvPr id="26" name="Text 20"/>
          <p:cNvSpPr txBox="1"/>
          <p:nvPr/>
        </p:nvSpPr>
        <p:spPr>
          <a:xfrm>
            <a:off x="7307428" y="4005072"/>
            <a:ext cx="4107028" cy="5486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Đánh giá và trải nghiệm của người dùng nằm rải rác ở nhiều nguồn.</a:t>
            </a:r>
            <a:endParaRPr lang="en-US" sz="1400" dirty="0"/>
          </a:p>
        </p:txBody>
      </p:sp>
      <p:sp>
        <p:nvSpPr>
          <p:cNvPr id="27" name="Shape 21"/>
          <p:cNvSpPr/>
          <p:nvPr/>
        </p:nvSpPr>
        <p:spPr>
          <a:xfrm>
            <a:off x="548640" y="4809744"/>
            <a:ext cx="5432908"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8" name="Shape 22"/>
          <p:cNvSpPr/>
          <p:nvPr/>
        </p:nvSpPr>
        <p:spPr>
          <a:xfrm>
            <a:off x="777240" y="5102352"/>
            <a:ext cx="603504" cy="603504"/>
          </a:xfrm>
          <a:prstGeom prst="ellipse">
            <a:avLst/>
          </a:prstGeom>
          <a:solidFill>
            <a:srgbClr val="1E5AA8"/>
          </a:solidFill>
          <a:ln/>
        </p:spPr>
      </p:sp>
      <p:pic>
        <p:nvPicPr>
          <p:cNvPr id="29" name="Image 4" descr="preencoded.png">    </p:cNvPr>
          <p:cNvPicPr>
            <a:picLocks noChangeAspect="1"/>
          </p:cNvPicPr>
          <p:nvPr/>
        </p:nvPicPr>
        <p:blipFill>
          <a:blip r:embed="rId5"/>
          <a:stretch>
            <a:fillRect/>
          </a:stretch>
        </p:blipFill>
        <p:spPr>
          <a:xfrm>
            <a:off x="928116" y="5253228"/>
            <a:ext cx="301752" cy="301752"/>
          </a:xfrm>
          <a:prstGeom prst="rect">
            <a:avLst/>
          </a:prstGeom>
        </p:spPr>
      </p:pic>
      <p:sp>
        <p:nvSpPr>
          <p:cNvPr id="30" name="Text 23"/>
          <p:cNvSpPr txBox="1"/>
          <p:nvPr/>
        </p:nvSpPr>
        <p:spPr>
          <a:xfrm>
            <a:off x="1645920" y="4992624"/>
            <a:ext cx="4107028" cy="320040"/>
          </a:xfrm>
          <a:prstGeom prst="rect">
            <a:avLst/>
          </a:prstGeom>
          <a:noFill/>
          <a:ln/>
        </p:spPr>
        <p:txBody>
          <a:bodyPr wrap="square" lIns="0" tIns="0" rIns="0" bIns="0" rtlCol="0" anchor="ctr"/>
          <a:lstStyle/>
          <a:p>
            <a:pPr indent="0" marL="0">
              <a:buNone/>
            </a:pPr>
            <a:r>
              <a:rPr lang="en-US" sz="1650" b="1" dirty="0">
                <a:solidFill>
                  <a:srgbClr val="0B1B3A"/>
                </a:solidFill>
                <a:latin typeface="Arial" pitchFamily="34" charset="0"/>
                <a:ea typeface="Arial" pitchFamily="34" charset="-122"/>
                <a:cs typeface="Arial" pitchFamily="34" charset="-120"/>
              </a:rPr>
              <a:t>Thông tin cơ bản chưa đồng nhất</a:t>
            </a:r>
            <a:endParaRPr lang="en-US" sz="1650" dirty="0"/>
          </a:p>
        </p:txBody>
      </p:sp>
      <p:sp>
        <p:nvSpPr>
          <p:cNvPr id="31" name="Text 24"/>
          <p:cNvSpPr txBox="1"/>
          <p:nvPr/>
        </p:nvSpPr>
        <p:spPr>
          <a:xfrm>
            <a:off x="1645920" y="5358384"/>
            <a:ext cx="4107028" cy="548640"/>
          </a:xfrm>
          <a:prstGeom prst="rect">
            <a:avLst/>
          </a:prstGeom>
          <a:noFill/>
          <a:ln/>
        </p:spPr>
        <p:txBody>
          <a:bodyPr wrap="square" lIns="0" tIns="0" rIns="0" bIns="0" rtlCol="0" anchor="t"/>
          <a:lstStyle/>
          <a:p>
            <a:pPr indent="0" marL="0">
              <a:buNone/>
            </a:pPr>
            <a:r>
              <a:rPr lang="en-US" sz="1400" dirty="0">
                <a:solidFill>
                  <a:srgbClr val="55657F"/>
                </a:solidFill>
                <a:latin typeface="Calibri" pitchFamily="34" charset="0"/>
                <a:ea typeface="Calibri" pitchFamily="34" charset="-122"/>
                <a:cs typeface="Calibri" pitchFamily="34" charset="-120"/>
              </a:rPr>
              <a:t>Giờ hoạt động, bảo hành, liên hệ, thời gian sửa có thể thiếu hoặc không đồng nhất.</a:t>
            </a:r>
            <a:endParaRPr lang="en-US" sz="1400" dirty="0"/>
          </a:p>
        </p:txBody>
      </p:sp>
      <p:sp>
        <p:nvSpPr>
          <p:cNvPr id="32" name="Shape 25"/>
          <p:cNvSpPr/>
          <p:nvPr/>
        </p:nvSpPr>
        <p:spPr>
          <a:xfrm>
            <a:off x="6210148" y="4809744"/>
            <a:ext cx="5432908" cy="1188720"/>
          </a:xfrm>
          <a:prstGeom prst="roundRect">
            <a:avLst>
              <a:gd name="adj" fmla="val 9231"/>
            </a:avLst>
          </a:prstGeom>
          <a:solidFill>
            <a:srgbClr val="0B1B3A"/>
          </a:solidFill>
          <a:ln/>
        </p:spPr>
      </p:sp>
      <p:sp>
        <p:nvSpPr>
          <p:cNvPr id="33" name="Text 26"/>
          <p:cNvSpPr txBox="1"/>
          <p:nvPr/>
        </p:nvSpPr>
        <p:spPr>
          <a:xfrm>
            <a:off x="6530188" y="4809744"/>
            <a:ext cx="4792828"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Ở bước này nhóm chỉ xác định vấn đề — chưa mặc định website là giải pháp duy nhất.</a:t>
            </a:r>
            <a:endParaRPr lang="en-US" sz="1600" dirty="0"/>
          </a:p>
        </p:txBody>
      </p:sp>
      <p:sp>
        <p:nvSpPr>
          <p:cNvPr id="34" name="Text 27"/>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5" name="Text 28"/>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06 / 22</a:t>
            </a:r>
            <a:endParaRPr lang="en-US" sz="1000" dirty="0"/>
          </a:p>
        </p:txBody>
      </p:sp>
      <p:sp>
        <p:nvSpPr>
          <p:cNvPr id="36" name="TextBox 3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7" name="TextBox 3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06 / 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2 / 7  ·  CHỌN VẤN ĐỀ ĐỂ GIẢI QUYẾT</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Chọn vấn đề trọng tâm</a:t>
            </a:r>
            <a:endParaRPr lang="en-US" sz="3200" dirty="0"/>
          </a:p>
        </p:txBody>
      </p:sp>
      <p:sp>
        <p:nvSpPr>
          <p:cNvPr id="6" name="Shape 4"/>
          <p:cNvSpPr/>
          <p:nvPr/>
        </p:nvSpPr>
        <p:spPr>
          <a:xfrm>
            <a:off x="548640" y="1783080"/>
            <a:ext cx="11094415" cy="1463040"/>
          </a:xfrm>
          <a:prstGeom prst="roundRect">
            <a:avLst>
              <a:gd name="adj" fmla="val 7500"/>
            </a:avLst>
          </a:prstGeom>
          <a:solidFill>
            <a:srgbClr val="0B1B3A"/>
          </a:solidFill>
          <a:ln/>
        </p:spPr>
      </p:sp>
      <p:sp>
        <p:nvSpPr>
          <p:cNvPr id="7" name="Text 5"/>
          <p:cNvSpPr txBox="1"/>
          <p:nvPr/>
        </p:nvSpPr>
        <p:spPr>
          <a:xfrm>
            <a:off x="914400" y="1965960"/>
            <a:ext cx="457200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VẤN ĐỀ TRỌNG TÂM</a:t>
            </a:r>
            <a:endParaRPr lang="en-US" sz="1200" dirty="0"/>
          </a:p>
        </p:txBody>
      </p:sp>
      <p:sp>
        <p:nvSpPr>
          <p:cNvPr id="8" name="Text 6"/>
          <p:cNvSpPr txBox="1"/>
          <p:nvPr/>
        </p:nvSpPr>
        <p:spPr>
          <a:xfrm>
            <a:off x="914400" y="2304288"/>
            <a:ext cx="10362895"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Sinh viên khi laptop hoặc điện thoại gặp sự cố gặp khó khăn trong việc tìm nơi sửa phù hợp và thiếu thông tin tập trung để tham khảo về dịch vụ, khoảng giá, vị trí và đánh giá trước khi lựa chọn cửa hàng.</a:t>
            </a:r>
            <a:endParaRPr lang="en-US" sz="1800" dirty="0"/>
          </a:p>
        </p:txBody>
      </p:sp>
      <p:sp>
        <p:nvSpPr>
          <p:cNvPr id="9" name="Shape 7"/>
          <p:cNvSpPr/>
          <p:nvPr/>
        </p:nvSpPr>
        <p:spPr>
          <a:xfrm>
            <a:off x="548640" y="3474720"/>
            <a:ext cx="2602154" cy="2697480"/>
          </a:xfrm>
          <a:prstGeom prst="roundRect">
            <a:avLst>
              <a:gd name="adj" fmla="val 4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0" name="Text 8"/>
          <p:cNvSpPr txBox="1"/>
          <p:nvPr/>
        </p:nvSpPr>
        <p:spPr>
          <a:xfrm>
            <a:off x="777240" y="3657600"/>
            <a:ext cx="914400" cy="457200"/>
          </a:xfrm>
          <a:prstGeom prst="rect">
            <a:avLst/>
          </a:prstGeom>
          <a:noFill/>
          <a:ln/>
        </p:spPr>
        <p:txBody>
          <a:bodyPr wrap="square" lIns="0" tIns="0" rIns="0" bIns="0" rtlCol="0" anchor="ctr"/>
          <a:lstStyle/>
          <a:p>
            <a:pPr indent="0" marL="0">
              <a:buNone/>
            </a:pPr>
            <a:r>
              <a:rPr lang="en-US" sz="2800" b="1" dirty="0">
                <a:solidFill>
                  <a:srgbClr val="0E8A7E"/>
                </a:solidFill>
                <a:latin typeface="Arial" pitchFamily="34" charset="0"/>
                <a:ea typeface="Arial" pitchFamily="34" charset="-122"/>
                <a:cs typeface="Arial" pitchFamily="34" charset="-120"/>
              </a:rPr>
              <a:t>01</a:t>
            </a:r>
            <a:endParaRPr lang="en-US" sz="2800" dirty="0"/>
          </a:p>
        </p:txBody>
      </p:sp>
      <p:sp>
        <p:nvSpPr>
          <p:cNvPr id="11" name="Text 9"/>
          <p:cNvSpPr txBox="1"/>
          <p:nvPr/>
        </p:nvSpPr>
        <p:spPr>
          <a:xfrm>
            <a:off x="777240" y="4206240"/>
            <a:ext cx="2144954" cy="566928"/>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Có nhiều người cần giải quyết không?</a:t>
            </a:r>
            <a:endParaRPr lang="en-US" sz="1600" dirty="0"/>
          </a:p>
        </p:txBody>
      </p:sp>
      <p:sp>
        <p:nvSpPr>
          <p:cNvPr id="12" name="Text 10"/>
          <p:cNvSpPr txBox="1"/>
          <p:nvPr/>
        </p:nvSpPr>
        <p:spPr>
          <a:xfrm>
            <a:off x="777240" y="4846320"/>
            <a:ext cx="2144954" cy="1188720"/>
          </a:xfrm>
          <a:prstGeom prst="rect">
            <a:avLst/>
          </a:prstGeom>
          <a:noFill/>
          <a:ln/>
        </p:spPr>
        <p:txBody>
          <a:bodyPr wrap="square" lIns="0" tIns="0" rIns="0" bIns="0" rtlCol="0" anchor="t"/>
          <a:lstStyle/>
          <a:p>
            <a:pPr indent="0" marL="0">
              <a:buNone/>
            </a:pPr>
            <a:r>
              <a:rPr lang="en-US" sz="1500" dirty="0">
                <a:solidFill>
                  <a:srgbClr val="55657F"/>
                </a:solidFill>
                <a:latin typeface="Calibri" pitchFamily="34" charset="0"/>
                <a:ea typeface="Calibri" pitchFamily="34" charset="-122"/>
                <a:cs typeface="Calibri" pitchFamily="34" charset="-120"/>
              </a:rPr>
              <a:t>Chưa kết luận bằng cảm tính — sẽ khảo sát tối thiểu 10 sinh viên để kiểm chứng.</a:t>
            </a:r>
            <a:endParaRPr lang="en-US" sz="1500" dirty="0"/>
          </a:p>
        </p:txBody>
      </p:sp>
      <p:sp>
        <p:nvSpPr>
          <p:cNvPr id="13" name="Shape 11"/>
          <p:cNvSpPr/>
          <p:nvPr/>
        </p:nvSpPr>
        <p:spPr>
          <a:xfrm>
            <a:off x="3379394" y="3474720"/>
            <a:ext cx="2602154" cy="2697480"/>
          </a:xfrm>
          <a:prstGeom prst="roundRect">
            <a:avLst>
              <a:gd name="adj" fmla="val 4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3607994" y="3657600"/>
            <a:ext cx="914400" cy="457200"/>
          </a:xfrm>
          <a:prstGeom prst="rect">
            <a:avLst/>
          </a:prstGeom>
          <a:noFill/>
          <a:ln/>
        </p:spPr>
        <p:txBody>
          <a:bodyPr wrap="square" lIns="0" tIns="0" rIns="0" bIns="0" rtlCol="0" anchor="ctr"/>
          <a:lstStyle/>
          <a:p>
            <a:pPr indent="0" marL="0">
              <a:buNone/>
            </a:pPr>
            <a:r>
              <a:rPr lang="en-US" sz="2800" b="1" dirty="0">
                <a:solidFill>
                  <a:srgbClr val="0E8A7E"/>
                </a:solidFill>
                <a:latin typeface="Arial" pitchFamily="34" charset="0"/>
                <a:ea typeface="Arial" pitchFamily="34" charset="-122"/>
                <a:cs typeface="Arial" pitchFamily="34" charset="-120"/>
              </a:rPr>
              <a:t>02</a:t>
            </a:r>
            <a:endParaRPr lang="en-US" sz="2800" dirty="0"/>
          </a:p>
        </p:txBody>
      </p:sp>
      <p:sp>
        <p:nvSpPr>
          <p:cNvPr id="15" name="Text 13"/>
          <p:cNvSpPr txBox="1"/>
          <p:nvPr/>
        </p:nvSpPr>
        <p:spPr>
          <a:xfrm>
            <a:off x="3607994" y="4206240"/>
            <a:ext cx="2144954" cy="566928"/>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Mức độ ảnh hưởng có lớn không?</a:t>
            </a:r>
            <a:endParaRPr lang="en-US" sz="1600" dirty="0"/>
          </a:p>
        </p:txBody>
      </p:sp>
      <p:sp>
        <p:nvSpPr>
          <p:cNvPr id="16" name="Text 14"/>
          <p:cNvSpPr txBox="1"/>
          <p:nvPr/>
        </p:nvSpPr>
        <p:spPr>
          <a:xfrm>
            <a:off x="3607994" y="4846320"/>
            <a:ext cx="2144954" cy="1188720"/>
          </a:xfrm>
          <a:prstGeom prst="rect">
            <a:avLst/>
          </a:prstGeom>
          <a:noFill/>
          <a:ln/>
        </p:spPr>
        <p:txBody>
          <a:bodyPr wrap="square" lIns="0" tIns="0" rIns="0" bIns="0" rtlCol="0" anchor="t"/>
          <a:lstStyle/>
          <a:p>
            <a:pPr indent="0" marL="0">
              <a:buNone/>
            </a:pPr>
            <a:r>
              <a:rPr lang="en-US" sz="1500" dirty="0">
                <a:solidFill>
                  <a:srgbClr val="55657F"/>
                </a:solidFill>
                <a:latin typeface="Calibri" pitchFamily="34" charset="0"/>
                <a:ea typeface="Calibri" pitchFamily="34" charset="-122"/>
                <a:cs typeface="Calibri" pitchFamily="34" charset="-120"/>
              </a:rPr>
              <a:t>Máy hỏng làm gián đoạn học tập, liên lạc; thiếu thông tin khiến mất thời gian và khó so sánh.</a:t>
            </a:r>
            <a:endParaRPr lang="en-US" sz="1500" dirty="0"/>
          </a:p>
        </p:txBody>
      </p:sp>
      <p:sp>
        <p:nvSpPr>
          <p:cNvPr id="17" name="Shape 15"/>
          <p:cNvSpPr/>
          <p:nvPr/>
        </p:nvSpPr>
        <p:spPr>
          <a:xfrm>
            <a:off x="6210148" y="3474720"/>
            <a:ext cx="2602154" cy="2697480"/>
          </a:xfrm>
          <a:prstGeom prst="roundRect">
            <a:avLst>
              <a:gd name="adj" fmla="val 4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6438748" y="3657600"/>
            <a:ext cx="914400" cy="457200"/>
          </a:xfrm>
          <a:prstGeom prst="rect">
            <a:avLst/>
          </a:prstGeom>
          <a:noFill/>
          <a:ln/>
        </p:spPr>
        <p:txBody>
          <a:bodyPr wrap="square" lIns="0" tIns="0" rIns="0" bIns="0" rtlCol="0" anchor="ctr"/>
          <a:lstStyle/>
          <a:p>
            <a:pPr indent="0" marL="0">
              <a:buNone/>
            </a:pPr>
            <a:r>
              <a:rPr lang="en-US" sz="2800" b="1" dirty="0">
                <a:solidFill>
                  <a:srgbClr val="0E8A7E"/>
                </a:solidFill>
                <a:latin typeface="Arial" pitchFamily="34" charset="0"/>
                <a:ea typeface="Arial" pitchFamily="34" charset="-122"/>
                <a:cs typeface="Arial" pitchFamily="34" charset="-120"/>
              </a:rPr>
              <a:t>03</a:t>
            </a:r>
            <a:endParaRPr lang="en-US" sz="2800" dirty="0"/>
          </a:p>
        </p:txBody>
      </p:sp>
      <p:sp>
        <p:nvSpPr>
          <p:cNvPr id="19" name="Text 17"/>
          <p:cNvSpPr txBox="1"/>
          <p:nvPr/>
        </p:nvSpPr>
        <p:spPr>
          <a:xfrm>
            <a:off x="6438748" y="4206240"/>
            <a:ext cx="2144954" cy="566928"/>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Chuyên môn có thể giúp gì?</a:t>
            </a:r>
            <a:endParaRPr lang="en-US" sz="1600" dirty="0"/>
          </a:p>
        </p:txBody>
      </p:sp>
      <p:sp>
        <p:nvSpPr>
          <p:cNvPr id="20" name="Text 18"/>
          <p:cNvSpPr txBox="1"/>
          <p:nvPr/>
        </p:nvSpPr>
        <p:spPr>
          <a:xfrm>
            <a:off x="6438748" y="4846320"/>
            <a:ext cx="2144954" cy="1188720"/>
          </a:xfrm>
          <a:prstGeom prst="rect">
            <a:avLst/>
          </a:prstGeom>
          <a:noFill/>
          <a:ln/>
        </p:spPr>
        <p:txBody>
          <a:bodyPr wrap="square" lIns="0" tIns="0" rIns="0" bIns="0" rtlCol="0" anchor="t"/>
          <a:lstStyle/>
          <a:p>
            <a:pPr indent="0" marL="0">
              <a:buNone/>
            </a:pPr>
            <a:r>
              <a:rPr lang="en-US" sz="1500" dirty="0">
                <a:solidFill>
                  <a:srgbClr val="55657F"/>
                </a:solidFill>
                <a:latin typeface="Calibri" pitchFamily="34" charset="0"/>
                <a:ea typeface="Calibri" pitchFamily="34" charset="-122"/>
                <a:cs typeface="Calibri" pitchFamily="34" charset="-120"/>
              </a:rPr>
              <a:t>Xây web có search/filter, database cửa hàng – dịch vụ – giá tham khảo, review và admin CRUD.</a:t>
            </a:r>
            <a:endParaRPr lang="en-US" sz="1500" dirty="0"/>
          </a:p>
        </p:txBody>
      </p:sp>
      <p:sp>
        <p:nvSpPr>
          <p:cNvPr id="21" name="Shape 19"/>
          <p:cNvSpPr/>
          <p:nvPr/>
        </p:nvSpPr>
        <p:spPr>
          <a:xfrm>
            <a:off x="9040901" y="3474720"/>
            <a:ext cx="2602154" cy="2697480"/>
          </a:xfrm>
          <a:prstGeom prst="roundRect">
            <a:avLst>
              <a:gd name="adj" fmla="val 4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2" name="Text 20"/>
          <p:cNvSpPr txBox="1"/>
          <p:nvPr/>
        </p:nvSpPr>
        <p:spPr>
          <a:xfrm>
            <a:off x="9269501" y="3657600"/>
            <a:ext cx="914400" cy="457200"/>
          </a:xfrm>
          <a:prstGeom prst="rect">
            <a:avLst/>
          </a:prstGeom>
          <a:noFill/>
          <a:ln/>
        </p:spPr>
        <p:txBody>
          <a:bodyPr wrap="square" lIns="0" tIns="0" rIns="0" bIns="0" rtlCol="0" anchor="ctr"/>
          <a:lstStyle/>
          <a:p>
            <a:pPr indent="0" marL="0">
              <a:buNone/>
            </a:pPr>
            <a:r>
              <a:rPr lang="en-US" sz="2800" b="1" dirty="0">
                <a:solidFill>
                  <a:srgbClr val="0E8A7E"/>
                </a:solidFill>
                <a:latin typeface="Arial" pitchFamily="34" charset="0"/>
                <a:ea typeface="Arial" pitchFamily="34" charset="-122"/>
                <a:cs typeface="Arial" pitchFamily="34" charset="-120"/>
              </a:rPr>
              <a:t>04</a:t>
            </a:r>
            <a:endParaRPr lang="en-US" sz="2800" dirty="0"/>
          </a:p>
        </p:txBody>
      </p:sp>
      <p:sp>
        <p:nvSpPr>
          <p:cNvPr id="23" name="Text 21"/>
          <p:cNvSpPr txBox="1"/>
          <p:nvPr/>
        </p:nvSpPr>
        <p:spPr>
          <a:xfrm>
            <a:off x="9269501" y="4206240"/>
            <a:ext cx="2144954" cy="566928"/>
          </a:xfrm>
          <a:prstGeom prst="rect">
            <a:avLst/>
          </a:prstGeom>
          <a:noFill/>
          <a:ln/>
        </p:spPr>
        <p:txBody>
          <a:bodyPr wrap="square" lIns="0" tIns="0" rIns="0" bIns="0" rtlCol="0" anchor="t"/>
          <a:lstStyle/>
          <a:p>
            <a:pPr indent="0" marL="0">
              <a:buNone/>
            </a:pPr>
            <a:r>
              <a:rPr lang="en-US" sz="1600" b="1" dirty="0">
                <a:solidFill>
                  <a:srgbClr val="0B1B3A"/>
                </a:solidFill>
                <a:latin typeface="Arial" pitchFamily="34" charset="0"/>
                <a:ea typeface="Arial" pitchFamily="34" charset="-122"/>
                <a:cs typeface="Arial" pitchFamily="34" charset="-120"/>
              </a:rPr>
              <a:t>Nhóm có đủ khả năng làm không?</a:t>
            </a:r>
            <a:endParaRPr lang="en-US" sz="1600" dirty="0"/>
          </a:p>
        </p:txBody>
      </p:sp>
      <p:sp>
        <p:nvSpPr>
          <p:cNvPr id="24" name="Text 22"/>
          <p:cNvSpPr txBox="1"/>
          <p:nvPr/>
        </p:nvSpPr>
        <p:spPr>
          <a:xfrm>
            <a:off x="9269501" y="4846320"/>
            <a:ext cx="2144954" cy="1188720"/>
          </a:xfrm>
          <a:prstGeom prst="rect">
            <a:avLst/>
          </a:prstGeom>
          <a:noFill/>
          <a:ln/>
        </p:spPr>
        <p:txBody>
          <a:bodyPr wrap="square" lIns="0" tIns="0" rIns="0" bIns="0" rtlCol="0" anchor="t"/>
          <a:lstStyle/>
          <a:p>
            <a:pPr indent="0" marL="0">
              <a:buNone/>
            </a:pPr>
            <a:r>
              <a:rPr lang="en-US" sz="1500" dirty="0">
                <a:solidFill>
                  <a:srgbClr val="55657F"/>
                </a:solidFill>
                <a:latin typeface="Calibri" pitchFamily="34" charset="0"/>
                <a:ea typeface="Calibri" pitchFamily="34" charset="-122"/>
                <a:cs typeface="Calibri" pitchFamily="34" charset="-120"/>
              </a:rPr>
              <a:t>Có, nếu giữ scope 03 tuần: laptop + điện thoại, ≥ 10 cửa hàng, chức năng cốt lõi.</a:t>
            </a:r>
            <a:endParaRPr lang="en-US" sz="1500" dirty="0"/>
          </a:p>
        </p:txBody>
      </p:sp>
      <p:sp>
        <p:nvSpPr>
          <p:cNvPr id="25" name="Text 23"/>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26" name="Text 24"/>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07 / 22</a:t>
            </a:r>
            <a:endParaRPr lang="en-US" sz="1000" dirty="0"/>
          </a:p>
        </p:txBody>
      </p:sp>
      <p:sp>
        <p:nvSpPr>
          <p:cNvPr id="27" name="TextBox 26"/>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8" name="TextBox 27"/>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07 / 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3 / 7  ·  XÁC ĐỊNH “VẤN ĐỀ NÀY CÓ THẬT KHÔNG?”</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Kiểm chứng: vấn đề này có thật không?</a:t>
            </a:r>
            <a:endParaRPr lang="en-US" sz="3200" dirty="0"/>
          </a:p>
        </p:txBody>
      </p:sp>
      <p:sp>
        <p:nvSpPr>
          <p:cNvPr id="6" name="Shape 4"/>
          <p:cNvSpPr/>
          <p:nvPr/>
        </p:nvSpPr>
        <p:spPr>
          <a:xfrm>
            <a:off x="548640" y="1783080"/>
            <a:ext cx="3931920" cy="4389120"/>
          </a:xfrm>
          <a:prstGeom prst="roundRect">
            <a:avLst>
              <a:gd name="adj" fmla="val 3488"/>
            </a:avLst>
          </a:prstGeom>
          <a:solidFill>
            <a:srgbClr val="0B1B3A"/>
          </a:solidFill>
          <a:ln/>
        </p:spPr>
      </p:sp>
      <p:sp>
        <p:nvSpPr>
          <p:cNvPr id="7" name="Text 5"/>
          <p:cNvSpPr txBox="1"/>
          <p:nvPr/>
        </p:nvSpPr>
        <p:spPr>
          <a:xfrm>
            <a:off x="868680" y="2057400"/>
            <a:ext cx="329184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PHƯƠNG PHÁP</a:t>
            </a:r>
            <a:endParaRPr lang="en-US" sz="1200" dirty="0"/>
          </a:p>
        </p:txBody>
      </p:sp>
      <p:sp>
        <p:nvSpPr>
          <p:cNvPr id="8" name="Text 6"/>
          <p:cNvSpPr txBox="1"/>
          <p:nvPr/>
        </p:nvSpPr>
        <p:spPr>
          <a:xfrm>
            <a:off x="868680" y="2377440"/>
            <a:ext cx="3291840" cy="7772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Khảo sát nhanh bằng Google Form dành cho sinh viên.</a:t>
            </a:r>
            <a:endParaRPr lang="en-US" sz="1700" dirty="0"/>
          </a:p>
        </p:txBody>
      </p:sp>
      <p:sp>
        <p:nvSpPr>
          <p:cNvPr id="9" name="Text 7"/>
          <p:cNvSpPr txBox="1"/>
          <p:nvPr/>
        </p:nvSpPr>
        <p:spPr>
          <a:xfrm>
            <a:off x="868680" y="3200400"/>
            <a:ext cx="3291840" cy="1097280"/>
          </a:xfrm>
          <a:prstGeom prst="rect">
            <a:avLst/>
          </a:prstGeom>
          <a:noFill/>
          <a:ln/>
        </p:spPr>
        <p:txBody>
          <a:bodyPr wrap="square" lIns="0" tIns="0" rIns="0" bIns="0" rtlCol="0" anchor="ctr"/>
          <a:lstStyle/>
          <a:p>
            <a:pPr indent="0" marL="0">
              <a:buNone/>
            </a:pPr>
            <a:r>
              <a:rPr lang="en-US" sz="7200" b="1" dirty="0">
                <a:solidFill>
                  <a:srgbClr val="FF8A4C"/>
                </a:solidFill>
                <a:latin typeface="Arial" pitchFamily="34" charset="0"/>
                <a:ea typeface="Arial" pitchFamily="34" charset="-122"/>
                <a:cs typeface="Arial" pitchFamily="34" charset="-120"/>
              </a:rPr>
              <a:t>≥ 10</a:t>
            </a:r>
            <a:endParaRPr lang="en-US" sz="7200" dirty="0"/>
          </a:p>
        </p:txBody>
      </p:sp>
      <p:sp>
        <p:nvSpPr>
          <p:cNvPr id="10" name="Text 8"/>
          <p:cNvSpPr txBox="1"/>
          <p:nvPr/>
        </p:nvSpPr>
        <p:spPr>
          <a:xfrm>
            <a:off x="868680" y="4297680"/>
            <a:ext cx="3291840" cy="320040"/>
          </a:xfrm>
          <a:prstGeom prst="rect">
            <a:avLst/>
          </a:prstGeom>
          <a:noFill/>
          <a:ln/>
        </p:spPr>
        <p:txBody>
          <a:bodyPr wrap="square" lIns="0" tIns="0" rIns="0" bIns="0" rtlCol="0" anchor="t"/>
          <a:lstStyle/>
          <a:p>
            <a:pPr indent="0" marL="0">
              <a:buNone/>
            </a:pPr>
            <a:r>
              <a:rPr lang="en-US" sz="1500" dirty="0">
                <a:solidFill>
                  <a:srgbClr val="DCE8F7"/>
                </a:solidFill>
                <a:latin typeface="Calibri" pitchFamily="34" charset="0"/>
                <a:ea typeface="Calibri" pitchFamily="34" charset="-122"/>
                <a:cs typeface="Calibri" pitchFamily="34" charset="-120"/>
              </a:rPr>
              <a:t>phản hồi hợp lệ · mục tiêu</a:t>
            </a:r>
            <a:endParaRPr lang="en-US" sz="1500" dirty="0"/>
          </a:p>
        </p:txBody>
      </p:sp>
      <p:sp>
        <p:nvSpPr>
          <p:cNvPr id="11" name="Text 9"/>
          <p:cNvSpPr txBox="1"/>
          <p:nvPr/>
        </p:nvSpPr>
        <p:spPr>
          <a:xfrm>
            <a:off x="868680" y="4983480"/>
            <a:ext cx="3291840" cy="868680"/>
          </a:xfrm>
          <a:prstGeom prst="rect">
            <a:avLst/>
          </a:prstGeom>
          <a:noFill/>
          <a:ln/>
        </p:spPr>
        <p:txBody>
          <a:bodyPr wrap="square" lIns="0" tIns="0" rIns="0" bIns="0" rtlCol="0" anchor="t"/>
          <a:lstStyle/>
          <a:p>
            <a:pPr indent="0" marL="0">
              <a:buNone/>
            </a:pPr>
            <a:r>
              <a:rPr lang="en-US" sz="1400" b="1" dirty="0">
                <a:solidFill>
                  <a:srgbClr val="3DD6C6"/>
                </a:solidFill>
                <a:latin typeface="Calibri" pitchFamily="34" charset="0"/>
                <a:ea typeface="Calibri" pitchFamily="34" charset="-122"/>
                <a:cs typeface="Calibri" pitchFamily="34" charset="-120"/>
              </a:rPr>
              <a:t>Chỉ báo cáo số liệu khi đã thu thập thật — không điền tỷ lệ % giả.</a:t>
            </a:r>
            <a:endParaRPr lang="en-US" sz="1400" dirty="0"/>
          </a:p>
        </p:txBody>
      </p:sp>
      <p:sp>
        <p:nvSpPr>
          <p:cNvPr id="12" name="Shape 10"/>
          <p:cNvSpPr/>
          <p:nvPr/>
        </p:nvSpPr>
        <p:spPr>
          <a:xfrm>
            <a:off x="4709160" y="1783080"/>
            <a:ext cx="6931152" cy="4389120"/>
          </a:xfrm>
          <a:prstGeom prst="roundRect">
            <a:avLst>
              <a:gd name="adj" fmla="val 25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5029200" y="2011680"/>
            <a:ext cx="4572000"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6 CÂU HỎI CỐT LÕI</a:t>
            </a:r>
            <a:endParaRPr lang="en-US" sz="1200" dirty="0"/>
          </a:p>
        </p:txBody>
      </p:sp>
      <p:sp>
        <p:nvSpPr>
          <p:cNvPr id="14" name="Shape 12"/>
          <p:cNvSpPr/>
          <p:nvPr/>
        </p:nvSpPr>
        <p:spPr>
          <a:xfrm>
            <a:off x="5029200" y="2432304"/>
            <a:ext cx="347472" cy="347472"/>
          </a:xfrm>
          <a:prstGeom prst="ellipse">
            <a:avLst/>
          </a:prstGeom>
          <a:solidFill>
            <a:srgbClr val="1E5AA8"/>
          </a:solidFill>
          <a:ln/>
        </p:spPr>
      </p:sp>
      <p:sp>
        <p:nvSpPr>
          <p:cNvPr id="15" name="Text 13"/>
          <p:cNvSpPr txBox="1"/>
          <p:nvPr/>
        </p:nvSpPr>
        <p:spPr>
          <a:xfrm>
            <a:off x="5029200" y="24323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6" name="Text 14"/>
          <p:cNvSpPr txBox="1"/>
          <p:nvPr/>
        </p:nvSpPr>
        <p:spPr>
          <a:xfrm>
            <a:off x="5577840" y="2377440"/>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Bạn đã từng phải sửa laptop hoặc điện thoại chưa?</a:t>
            </a:r>
            <a:endParaRPr lang="en-US" sz="1450" dirty="0"/>
          </a:p>
        </p:txBody>
      </p:sp>
      <p:sp>
        <p:nvSpPr>
          <p:cNvPr id="17" name="Shape 15"/>
          <p:cNvSpPr/>
          <p:nvPr/>
        </p:nvSpPr>
        <p:spPr>
          <a:xfrm>
            <a:off x="5029200" y="2962656"/>
            <a:ext cx="347472" cy="347472"/>
          </a:xfrm>
          <a:prstGeom prst="ellipse">
            <a:avLst/>
          </a:prstGeom>
          <a:solidFill>
            <a:srgbClr val="1E5AA8"/>
          </a:solidFill>
          <a:ln/>
        </p:spPr>
      </p:sp>
      <p:sp>
        <p:nvSpPr>
          <p:cNvPr id="18" name="Text 16"/>
          <p:cNvSpPr txBox="1"/>
          <p:nvPr/>
        </p:nvSpPr>
        <p:spPr>
          <a:xfrm>
            <a:off x="5029200" y="29626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Text 17"/>
          <p:cNvSpPr txBox="1"/>
          <p:nvPr/>
        </p:nvSpPr>
        <p:spPr>
          <a:xfrm>
            <a:off x="5577840" y="2907792"/>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Khi cần sửa, bạn thường tìm cửa hàng bằng cách nào?</a:t>
            </a:r>
            <a:endParaRPr lang="en-US" sz="1450" dirty="0"/>
          </a:p>
        </p:txBody>
      </p:sp>
      <p:sp>
        <p:nvSpPr>
          <p:cNvPr id="20" name="Shape 18"/>
          <p:cNvSpPr/>
          <p:nvPr/>
        </p:nvSpPr>
        <p:spPr>
          <a:xfrm>
            <a:off x="5029200" y="3493008"/>
            <a:ext cx="347472" cy="347472"/>
          </a:xfrm>
          <a:prstGeom prst="ellipse">
            <a:avLst/>
          </a:prstGeom>
          <a:solidFill>
            <a:srgbClr val="1E5AA8"/>
          </a:solidFill>
          <a:ln/>
        </p:spPr>
      </p:sp>
      <p:sp>
        <p:nvSpPr>
          <p:cNvPr id="21" name="Text 19"/>
          <p:cNvSpPr txBox="1"/>
          <p:nvPr/>
        </p:nvSpPr>
        <p:spPr>
          <a:xfrm>
            <a:off x="5029200" y="3493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txBox="1"/>
          <p:nvPr/>
        </p:nvSpPr>
        <p:spPr>
          <a:xfrm>
            <a:off x="5577840" y="3438144"/>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Điều bất tiện nhất khi chọn nơi sửa là gì?</a:t>
            </a:r>
            <a:endParaRPr lang="en-US" sz="1450" dirty="0"/>
          </a:p>
        </p:txBody>
      </p:sp>
      <p:sp>
        <p:nvSpPr>
          <p:cNvPr id="23" name="Shape 21"/>
          <p:cNvSpPr/>
          <p:nvPr/>
        </p:nvSpPr>
        <p:spPr>
          <a:xfrm>
            <a:off x="5029200" y="4023360"/>
            <a:ext cx="347472" cy="347472"/>
          </a:xfrm>
          <a:prstGeom prst="ellipse">
            <a:avLst/>
          </a:prstGeom>
          <a:solidFill>
            <a:srgbClr val="1E5AA8"/>
          </a:solidFill>
          <a:ln/>
        </p:spPr>
      </p:sp>
      <p:sp>
        <p:nvSpPr>
          <p:cNvPr id="24" name="Text 22"/>
          <p:cNvSpPr txBox="1"/>
          <p:nvPr/>
        </p:nvSpPr>
        <p:spPr>
          <a:xfrm>
            <a:off x="5029200"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5577840" y="3968496"/>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Bạn có biết trước khoảng giá sửa không?</a:t>
            </a:r>
            <a:endParaRPr lang="en-US" sz="1450" dirty="0"/>
          </a:p>
        </p:txBody>
      </p:sp>
      <p:sp>
        <p:nvSpPr>
          <p:cNvPr id="26" name="Shape 24"/>
          <p:cNvSpPr/>
          <p:nvPr/>
        </p:nvSpPr>
        <p:spPr>
          <a:xfrm>
            <a:off x="5029200" y="4553712"/>
            <a:ext cx="347472" cy="347472"/>
          </a:xfrm>
          <a:prstGeom prst="ellipse">
            <a:avLst/>
          </a:prstGeom>
          <a:solidFill>
            <a:srgbClr val="1E5AA8"/>
          </a:solidFill>
          <a:ln/>
        </p:spPr>
      </p:sp>
      <p:sp>
        <p:nvSpPr>
          <p:cNvPr id="27" name="Text 25"/>
          <p:cNvSpPr txBox="1"/>
          <p:nvPr/>
        </p:nvSpPr>
        <p:spPr>
          <a:xfrm>
            <a:off x="5029200" y="45537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5577840" y="4498848"/>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Bạn quan tâm những thông tin nào trước khi mang máy đi sửa?</a:t>
            </a:r>
            <a:endParaRPr lang="en-US" sz="1450" dirty="0"/>
          </a:p>
        </p:txBody>
      </p:sp>
      <p:sp>
        <p:nvSpPr>
          <p:cNvPr id="29" name="Shape 27"/>
          <p:cNvSpPr/>
          <p:nvPr/>
        </p:nvSpPr>
        <p:spPr>
          <a:xfrm>
            <a:off x="5029200" y="5084064"/>
            <a:ext cx="347472" cy="347472"/>
          </a:xfrm>
          <a:prstGeom prst="ellipse">
            <a:avLst/>
          </a:prstGeom>
          <a:solidFill>
            <a:srgbClr val="1E5AA8"/>
          </a:solidFill>
          <a:ln/>
        </p:spPr>
      </p:sp>
      <p:sp>
        <p:nvSpPr>
          <p:cNvPr id="30" name="Text 28"/>
          <p:cNvSpPr txBox="1"/>
          <p:nvPr/>
        </p:nvSpPr>
        <p:spPr>
          <a:xfrm>
            <a:off x="5029200" y="5084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5577840" y="5029200"/>
            <a:ext cx="5806440" cy="45720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Bạn có dùng website tổng hợp cửa hàng, dịch vụ, giá tham khảo và review nếu có không?</a:t>
            </a:r>
            <a:endParaRPr lang="en-US" sz="1450" dirty="0"/>
          </a:p>
        </p:txBody>
      </p:sp>
      <p:sp>
        <p:nvSpPr>
          <p:cNvPr id="32" name="Text 30"/>
          <p:cNvSpPr txBox="1"/>
          <p:nvPr/>
        </p:nvSpPr>
        <p:spPr>
          <a:xfrm>
            <a:off x="5029200" y="5833872"/>
            <a:ext cx="6400800" cy="274320"/>
          </a:xfrm>
          <a:prstGeom prst="rect">
            <a:avLst/>
          </a:prstGeom>
          <a:noFill/>
          <a:ln/>
        </p:spPr>
        <p:txBody>
          <a:bodyPr wrap="square" lIns="0" tIns="0" rIns="0" bIns="0" rtlCol="0" anchor="ctr"/>
          <a:lstStyle/>
          <a:p>
            <a:pPr indent="0" marL="0">
              <a:buNone/>
            </a:pPr>
            <a:r>
              <a:rPr lang="en-US" sz="1200" dirty="0">
                <a:solidFill>
                  <a:srgbClr val="55657F"/>
                </a:solidFill>
                <a:latin typeface="Calibri" pitchFamily="34" charset="0"/>
                <a:ea typeface="Calibri" pitchFamily="34" charset="-122"/>
                <a:cs typeface="Calibri" pitchFamily="34" charset="-120"/>
              </a:rPr>
              <a:t>Bộ 12 câu đầy đủ: Phụ lục A của báo cáo Word.</a:t>
            </a:r>
            <a:endParaRPr lang="en-US" sz="1200" dirty="0"/>
          </a:p>
        </p:txBody>
      </p:sp>
      <p:sp>
        <p:nvSpPr>
          <p:cNvPr id="33" name="Text 31"/>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4" name="Text 32"/>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08 / 22</a:t>
            </a:r>
            <a:endParaRPr lang="en-US" sz="1000" dirty="0"/>
          </a:p>
        </p:txBody>
      </p:sp>
      <p:sp>
        <p:nvSpPr>
          <p:cNvPr id="35" name="TextBox 34"/>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6" name="TextBox 35"/>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08 / 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3 / 7  ·  KIỂM CHỨNG PHẠM VI THEO GÓP Ý CỦA CÔ</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Góp ý của cô &amp; điều chỉnh của nhóm</a:t>
            </a:r>
            <a:endParaRPr lang="en-US" sz="3200" dirty="0"/>
          </a:p>
        </p:txBody>
      </p:sp>
      <p:sp>
        <p:nvSpPr>
          <p:cNvPr id="6" name="Shape 4"/>
          <p:cNvSpPr/>
          <p:nvPr/>
        </p:nvSpPr>
        <p:spPr>
          <a:xfrm>
            <a:off x="548640" y="1783080"/>
            <a:ext cx="4206240" cy="4389120"/>
          </a:xfrm>
          <a:prstGeom prst="roundRect">
            <a:avLst>
              <a:gd name="adj" fmla="val 3261"/>
            </a:avLst>
          </a:prstGeom>
          <a:solidFill>
            <a:srgbClr val="0B1B3A"/>
          </a:solidFill>
          <a:ln/>
        </p:spPr>
      </p:sp>
      <p:sp>
        <p:nvSpPr>
          <p:cNvPr id="7" name="Text 5"/>
          <p:cNvSpPr txBox="1"/>
          <p:nvPr/>
        </p:nvSpPr>
        <p:spPr>
          <a:xfrm>
            <a:off x="868680" y="2057400"/>
            <a:ext cx="356616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GÓP Ý CỦA CÔ</a:t>
            </a:r>
            <a:endParaRPr lang="en-US" sz="1200" dirty="0"/>
          </a:p>
        </p:txBody>
      </p:sp>
      <p:sp>
        <p:nvSpPr>
          <p:cNvPr id="8" name="Text 6"/>
          <p:cNvSpPr txBox="1"/>
          <p:nvPr/>
        </p:nvSpPr>
        <p:spPr>
          <a:xfrm>
            <a:off x="868680" y="2468880"/>
            <a:ext cx="3566160" cy="347472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Ý tưởng có tính khả thi cao.</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Nhưng chỉ quanh khu vực trường, số cửa hàng có thể bị giới hạn.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Cần khảo sát thực tế: trong bán kính nhóm hướng tới có bao nhiêu cửa hàng, rồi mới quyết định phạm vi.</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Gợi ý: hướng tới địa điểm gần sinh viên nhất — cho lọc nhiều khu vực và nhúng map để xem khoảng cách.</a:t>
            </a:r>
            <a:endParaRPr lang="en-US" sz="1550" dirty="0"/>
          </a:p>
        </p:txBody>
      </p:sp>
      <p:sp>
        <p:nvSpPr>
          <p:cNvPr id="9" name="Text 7"/>
          <p:cNvSpPr txBox="1"/>
          <p:nvPr/>
        </p:nvSpPr>
        <p:spPr>
          <a:xfrm>
            <a:off x="4983480" y="1783080"/>
            <a:ext cx="4572000" cy="274320"/>
          </a:xfrm>
          <a:prstGeom prst="rect">
            <a:avLst/>
          </a:prstGeom>
          <a:noFill/>
          <a:ln/>
        </p:spPr>
        <p:txBody>
          <a:bodyPr wrap="square" lIns="0" tIns="0" rIns="0" bIns="0" rtlCol="0" anchor="ctr"/>
          <a:lstStyle/>
          <a:p>
            <a:pPr indent="0" marL="0">
              <a:buNone/>
            </a:pPr>
            <a:r>
              <a:rPr lang="en-US" sz="1200" b="1" spc="200" kern="0" dirty="0">
                <a:solidFill>
                  <a:srgbClr val="1E5AA8"/>
                </a:solidFill>
                <a:latin typeface="Calibri" pitchFamily="34" charset="0"/>
                <a:ea typeface="Calibri" pitchFamily="34" charset="-122"/>
                <a:cs typeface="Calibri" pitchFamily="34" charset="-120"/>
              </a:rPr>
              <a:t>NHÓM ĐIỀU CHỈNH</a:t>
            </a:r>
            <a:endParaRPr lang="en-US" sz="1200" dirty="0"/>
          </a:p>
        </p:txBody>
      </p:sp>
      <p:sp>
        <p:nvSpPr>
          <p:cNvPr id="10" name="Shape 8"/>
          <p:cNvSpPr/>
          <p:nvPr/>
        </p:nvSpPr>
        <p:spPr>
          <a:xfrm>
            <a:off x="4983480" y="2194560"/>
            <a:ext cx="6656832" cy="1234440"/>
          </a:xfrm>
          <a:prstGeom prst="roundRect">
            <a:avLst>
              <a:gd name="adj" fmla="val 88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5257800" y="2560320"/>
            <a:ext cx="502920" cy="502920"/>
          </a:xfrm>
          <a:prstGeom prst="ellipse">
            <a:avLst/>
          </a:prstGeom>
          <a:solidFill>
            <a:srgbClr val="E4590F"/>
          </a:solidFill>
          <a:ln/>
        </p:spPr>
      </p:sp>
      <p:sp>
        <p:nvSpPr>
          <p:cNvPr id="12" name="Text 10"/>
          <p:cNvSpPr txBox="1"/>
          <p:nvPr/>
        </p:nvSpPr>
        <p:spPr>
          <a:xfrm>
            <a:off x="5257800"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3" name="Text 11"/>
          <p:cNvSpPr txBox="1"/>
          <p:nvPr/>
        </p:nvSpPr>
        <p:spPr>
          <a:xfrm>
            <a:off x="6035040" y="2350008"/>
            <a:ext cx="5394960" cy="365760"/>
          </a:xfrm>
          <a:prstGeom prst="rect">
            <a:avLst/>
          </a:prstGeom>
          <a:noFill/>
          <a:ln/>
        </p:spPr>
        <p:txBody>
          <a:bodyPr wrap="square" lIns="0" tIns="0" rIns="0" bIns="0" rtlCol="0" anchor="ctr"/>
          <a:lstStyle/>
          <a:p>
            <a:pPr indent="0" marL="0">
              <a:buNone/>
            </a:pPr>
            <a:r>
              <a:rPr lang="en-US" sz="1700" b="1" dirty="0">
                <a:solidFill>
                  <a:srgbClr val="0B1B3A"/>
                </a:solidFill>
                <a:latin typeface="Arial" pitchFamily="34" charset="0"/>
                <a:ea typeface="Arial" pitchFamily="34" charset="-122"/>
                <a:cs typeface="Arial" pitchFamily="34" charset="-120"/>
              </a:rPr>
              <a:t>Khảo sát thực địa</a:t>
            </a:r>
            <a:endParaRPr lang="en-US" sz="1700" dirty="0"/>
          </a:p>
        </p:txBody>
      </p:sp>
      <p:sp>
        <p:nvSpPr>
          <p:cNvPr id="14" name="Text 12"/>
          <p:cNvSpPr txBox="1"/>
          <p:nvPr/>
        </p:nvSpPr>
        <p:spPr>
          <a:xfrm>
            <a:off x="6035040" y="2743200"/>
            <a:ext cx="5394960" cy="640080"/>
          </a:xfrm>
          <a:prstGeom prst="rect">
            <a:avLst/>
          </a:prstGeom>
          <a:noFill/>
          <a:ln/>
        </p:spPr>
        <p:txBody>
          <a:bodyPr wrap="square" lIns="0" tIns="0" rIns="0" bIns="0" rtlCol="0" anchor="t"/>
          <a:lstStyle/>
          <a:p>
            <a:pPr indent="0" marL="0">
              <a:buNone/>
            </a:pPr>
            <a:r>
              <a:rPr lang="en-US" sz="1450" dirty="0">
                <a:solidFill>
                  <a:srgbClr val="55657F"/>
                </a:solidFill>
                <a:latin typeface="Calibri" pitchFamily="34" charset="0"/>
                <a:ea typeface="Calibri" pitchFamily="34" charset="-122"/>
                <a:cs typeface="Calibri" pitchFamily="34" charset="-120"/>
              </a:rPr>
              <a:t>Đếm số cửa hàng sửa laptop/điện thoại trong bán kính nhóm đặt ra (Google Maps), quanh trường và các khu sinh viên ở.</a:t>
            </a:r>
            <a:endParaRPr lang="en-US" sz="1450" dirty="0"/>
          </a:p>
        </p:txBody>
      </p:sp>
      <p:sp>
        <p:nvSpPr>
          <p:cNvPr id="15" name="Shape 13"/>
          <p:cNvSpPr/>
          <p:nvPr/>
        </p:nvSpPr>
        <p:spPr>
          <a:xfrm>
            <a:off x="4983480" y="3566160"/>
            <a:ext cx="6656832" cy="1234440"/>
          </a:xfrm>
          <a:prstGeom prst="roundRect">
            <a:avLst>
              <a:gd name="adj" fmla="val 88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5257800" y="3931920"/>
            <a:ext cx="502920" cy="502920"/>
          </a:xfrm>
          <a:prstGeom prst="ellipse">
            <a:avLst/>
          </a:prstGeom>
          <a:solidFill>
            <a:srgbClr val="E4590F"/>
          </a:solidFill>
          <a:ln/>
        </p:spPr>
      </p:sp>
      <p:sp>
        <p:nvSpPr>
          <p:cNvPr id="17" name="Text 15"/>
          <p:cNvSpPr txBox="1"/>
          <p:nvPr/>
        </p:nvSpPr>
        <p:spPr>
          <a:xfrm>
            <a:off x="5257800" y="3931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8" name="Text 16"/>
          <p:cNvSpPr txBox="1"/>
          <p:nvPr/>
        </p:nvSpPr>
        <p:spPr>
          <a:xfrm>
            <a:off x="6035040" y="3721608"/>
            <a:ext cx="5394960" cy="365760"/>
          </a:xfrm>
          <a:prstGeom prst="rect">
            <a:avLst/>
          </a:prstGeom>
          <a:noFill/>
          <a:ln/>
        </p:spPr>
        <p:txBody>
          <a:bodyPr wrap="square" lIns="0" tIns="0" rIns="0" bIns="0" rtlCol="0" anchor="ctr"/>
          <a:lstStyle/>
          <a:p>
            <a:pPr indent="0" marL="0">
              <a:buNone/>
            </a:pPr>
            <a:r>
              <a:rPr lang="en-US" sz="1700" b="1" dirty="0">
                <a:solidFill>
                  <a:srgbClr val="0B1B3A"/>
                </a:solidFill>
                <a:latin typeface="Arial" pitchFamily="34" charset="0"/>
                <a:ea typeface="Arial" pitchFamily="34" charset="-122"/>
                <a:cs typeface="Arial" pitchFamily="34" charset="-120"/>
              </a:rPr>
              <a:t>Chốt phạm vi theo dữ liệu</a:t>
            </a:r>
            <a:endParaRPr lang="en-US" sz="1700" dirty="0"/>
          </a:p>
        </p:txBody>
      </p:sp>
      <p:sp>
        <p:nvSpPr>
          <p:cNvPr id="19" name="Text 17"/>
          <p:cNvSpPr txBox="1"/>
          <p:nvPr/>
        </p:nvSpPr>
        <p:spPr>
          <a:xfrm>
            <a:off x="6035040" y="4114800"/>
            <a:ext cx="5394960" cy="640080"/>
          </a:xfrm>
          <a:prstGeom prst="rect">
            <a:avLst/>
          </a:prstGeom>
          <a:noFill/>
          <a:ln/>
        </p:spPr>
        <p:txBody>
          <a:bodyPr wrap="square" lIns="0" tIns="0" rIns="0" bIns="0" rtlCol="0" anchor="t"/>
          <a:lstStyle/>
          <a:p>
            <a:pPr indent="0" marL="0">
              <a:buNone/>
            </a:pPr>
            <a:r>
              <a:rPr lang="en-US" sz="1450" dirty="0">
                <a:solidFill>
                  <a:srgbClr val="55657F"/>
                </a:solidFill>
                <a:latin typeface="Calibri" pitchFamily="34" charset="0"/>
                <a:ea typeface="Calibri" pitchFamily="34" charset="-122"/>
                <a:cs typeface="Calibri" pitchFamily="34" charset="-120"/>
              </a:rPr>
              <a:t>Đủ ≥ 10 cửa hàng có thông tin thì giữ phạm vi; chưa đủ thì mở rộng bán kính hoặc thêm khu vực.</a:t>
            </a:r>
            <a:endParaRPr lang="en-US" sz="1450" dirty="0"/>
          </a:p>
        </p:txBody>
      </p:sp>
      <p:sp>
        <p:nvSpPr>
          <p:cNvPr id="20" name="Shape 18"/>
          <p:cNvSpPr/>
          <p:nvPr/>
        </p:nvSpPr>
        <p:spPr>
          <a:xfrm>
            <a:off x="4983480" y="4937760"/>
            <a:ext cx="6656832" cy="1234440"/>
          </a:xfrm>
          <a:prstGeom prst="roundRect">
            <a:avLst>
              <a:gd name="adj" fmla="val 88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1" name="Shape 19"/>
          <p:cNvSpPr/>
          <p:nvPr/>
        </p:nvSpPr>
        <p:spPr>
          <a:xfrm>
            <a:off x="5257800" y="5303520"/>
            <a:ext cx="502920" cy="502920"/>
          </a:xfrm>
          <a:prstGeom prst="ellipse">
            <a:avLst/>
          </a:prstGeom>
          <a:solidFill>
            <a:srgbClr val="E4590F"/>
          </a:solidFill>
          <a:ln/>
        </p:spPr>
      </p:sp>
      <p:sp>
        <p:nvSpPr>
          <p:cNvPr id="22" name="Text 20"/>
          <p:cNvSpPr txBox="1"/>
          <p:nvPr/>
        </p:nvSpPr>
        <p:spPr>
          <a:xfrm>
            <a:off x="5257800" y="5303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21"/>
          <p:cNvSpPr txBox="1"/>
          <p:nvPr/>
        </p:nvSpPr>
        <p:spPr>
          <a:xfrm>
            <a:off x="6035040" y="5093208"/>
            <a:ext cx="5394960" cy="365760"/>
          </a:xfrm>
          <a:prstGeom prst="rect">
            <a:avLst/>
          </a:prstGeom>
          <a:noFill/>
          <a:ln/>
        </p:spPr>
        <p:txBody>
          <a:bodyPr wrap="square" lIns="0" tIns="0" rIns="0" bIns="0" rtlCol="0" anchor="ctr"/>
          <a:lstStyle/>
          <a:p>
            <a:pPr indent="0" marL="0">
              <a:buNone/>
            </a:pPr>
            <a:r>
              <a:rPr lang="en-US" sz="1700" b="1" dirty="0">
                <a:solidFill>
                  <a:srgbClr val="0B1B3A"/>
                </a:solidFill>
                <a:latin typeface="Arial" pitchFamily="34" charset="0"/>
                <a:ea typeface="Arial" pitchFamily="34" charset="-122"/>
                <a:cs typeface="Arial" pitchFamily="34" charset="-120"/>
              </a:rPr>
              <a:t>Mở rộng tính năng</a:t>
            </a:r>
            <a:endParaRPr lang="en-US" sz="1700" dirty="0"/>
          </a:p>
        </p:txBody>
      </p:sp>
      <p:sp>
        <p:nvSpPr>
          <p:cNvPr id="24" name="Text 22"/>
          <p:cNvSpPr txBox="1"/>
          <p:nvPr/>
        </p:nvSpPr>
        <p:spPr>
          <a:xfrm>
            <a:off x="6035040" y="5486400"/>
            <a:ext cx="5394960" cy="640080"/>
          </a:xfrm>
          <a:prstGeom prst="rect">
            <a:avLst/>
          </a:prstGeom>
          <a:noFill/>
          <a:ln/>
        </p:spPr>
        <p:txBody>
          <a:bodyPr wrap="square" lIns="0" tIns="0" rIns="0" bIns="0" rtlCol="0" anchor="t"/>
          <a:lstStyle/>
          <a:p>
            <a:pPr indent="0" marL="0">
              <a:buNone/>
            </a:pPr>
            <a:r>
              <a:rPr lang="en-US" sz="1450" dirty="0">
                <a:solidFill>
                  <a:srgbClr val="55657F"/>
                </a:solidFill>
                <a:latin typeface="Calibri" pitchFamily="34" charset="0"/>
                <a:ea typeface="Calibri" pitchFamily="34" charset="-122"/>
                <a:cs typeface="Calibri" pitchFamily="34" charset="-120"/>
              </a:rPr>
              <a:t>Lọc theo nhiều khu vực và nhúng bản đồ để xem vị trí, khoảng cách — thay vì chỉ mở liên kết chỉ đường.</a:t>
            </a:r>
            <a:endParaRPr lang="en-US" sz="1450" dirty="0"/>
          </a:p>
        </p:txBody>
      </p:sp>
      <p:sp>
        <p:nvSpPr>
          <p:cNvPr id="25" name="Text 23"/>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26" name="Text 24"/>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09 / 22</a:t>
            </a:r>
            <a:endParaRPr lang="en-US" sz="1000" dirty="0"/>
          </a:p>
        </p:txBody>
      </p:sp>
      <p:sp>
        <p:nvSpPr>
          <p:cNvPr id="27" name="TextBox 26"/>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8" name="TextBox 27"/>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09 /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4 / 7  ·  XÁC ĐỊNH NHU CẦU THẬT SỰ CỦA NGƯỜI DÙNG</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Nhu cầu thật sự của người dùng</a:t>
            </a:r>
            <a:endParaRPr lang="en-US" sz="3200" dirty="0"/>
          </a:p>
        </p:txBody>
      </p:sp>
      <p:sp>
        <p:nvSpPr>
          <p:cNvPr id="6" name="Shape 4"/>
          <p:cNvSpPr/>
          <p:nvPr/>
        </p:nvSpPr>
        <p:spPr>
          <a:xfrm>
            <a:off x="548640" y="1783080"/>
            <a:ext cx="3545738" cy="4114800"/>
          </a:xfrm>
          <a:prstGeom prst="roundRect">
            <a:avLst>
              <a:gd name="adj" fmla="val 3095"/>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868680" y="2103120"/>
            <a:ext cx="1280160" cy="457200"/>
          </a:xfrm>
          <a:prstGeom prst="roundRect">
            <a:avLst>
              <a:gd name="adj" fmla="val 50000"/>
            </a:avLst>
          </a:prstGeom>
          <a:solidFill>
            <a:srgbClr val="1E5AA8"/>
          </a:solidFill>
          <a:ln/>
        </p:spPr>
      </p:sp>
      <p:sp>
        <p:nvSpPr>
          <p:cNvPr id="8" name="Text 6"/>
          <p:cNvSpPr txBox="1"/>
          <p:nvPr/>
        </p:nvSpPr>
        <p:spPr>
          <a:xfrm>
            <a:off x="868680" y="2103120"/>
            <a:ext cx="12801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Arial" pitchFamily="34" charset="0"/>
                <a:ea typeface="Arial" pitchFamily="34" charset="-122"/>
                <a:cs typeface="Arial" pitchFamily="34" charset="-120"/>
              </a:rPr>
              <a:t>WHO</a:t>
            </a:r>
            <a:endParaRPr lang="en-US" sz="1600" dirty="0"/>
          </a:p>
        </p:txBody>
      </p:sp>
      <p:sp>
        <p:nvSpPr>
          <p:cNvPr id="9" name="Text 7"/>
          <p:cNvSpPr txBox="1"/>
          <p:nvPr/>
        </p:nvSpPr>
        <p:spPr>
          <a:xfrm>
            <a:off x="868680" y="2788920"/>
            <a:ext cx="2905658" cy="731520"/>
          </a:xfrm>
          <a:prstGeom prst="rect">
            <a:avLst/>
          </a:prstGeom>
          <a:noFill/>
          <a:ln/>
        </p:spPr>
        <p:txBody>
          <a:bodyPr wrap="square" lIns="0" tIns="0" rIns="0" bIns="0" rtlCol="0" anchor="ctr"/>
          <a:lstStyle/>
          <a:p>
            <a:pPr indent="0" marL="0">
              <a:buNone/>
            </a:pPr>
            <a:r>
              <a:rPr lang="en-US" sz="4000" b="1" dirty="0">
                <a:solidFill>
                  <a:srgbClr val="0B1B3A"/>
                </a:solidFill>
                <a:latin typeface="Arial" pitchFamily="34" charset="0"/>
                <a:ea typeface="Arial" pitchFamily="34" charset="-122"/>
                <a:cs typeface="Arial" pitchFamily="34" charset="-120"/>
              </a:rPr>
              <a:t>Ai?</a:t>
            </a:r>
            <a:endParaRPr lang="en-US" sz="4000" dirty="0"/>
          </a:p>
        </p:txBody>
      </p:sp>
      <p:sp>
        <p:nvSpPr>
          <p:cNvPr id="10" name="Text 8"/>
          <p:cNvSpPr txBox="1"/>
          <p:nvPr/>
        </p:nvSpPr>
        <p:spPr>
          <a:xfrm>
            <a:off x="868680" y="3703320"/>
            <a:ext cx="2905658" cy="2011680"/>
          </a:xfrm>
          <a:prstGeom prst="rect">
            <a:avLst/>
          </a:prstGeom>
          <a:noFill/>
          <a:ln/>
        </p:spPr>
        <p:txBody>
          <a:bodyPr wrap="square" lIns="0" tIns="0" rIns="0" bIns="0" rtlCol="0" anchor="t"/>
          <a:lstStyle/>
          <a:p>
            <a:pPr indent="0" marL="0">
              <a:buNone/>
            </a:pPr>
            <a:r>
              <a:rPr lang="en-US" sz="1900" dirty="0">
                <a:solidFill>
                  <a:srgbClr val="0B1B3A"/>
                </a:solidFill>
                <a:latin typeface="Calibri" pitchFamily="34" charset="0"/>
                <a:ea typeface="Calibri" pitchFamily="34" charset="-122"/>
                <a:cs typeface="Calibri" pitchFamily="34" charset="-120"/>
              </a:rPr>
              <a:t>Sinh viên sử dụng laptop/điện thoại; đặc biệt là người ít kinh nghiệm sửa thiết bị.</a:t>
            </a:r>
            <a:endParaRPr lang="en-US" sz="1900" dirty="0"/>
          </a:p>
        </p:txBody>
      </p:sp>
      <p:sp>
        <p:nvSpPr>
          <p:cNvPr id="11" name="Shape 9"/>
          <p:cNvSpPr/>
          <p:nvPr/>
        </p:nvSpPr>
        <p:spPr>
          <a:xfrm>
            <a:off x="4322978" y="1783080"/>
            <a:ext cx="3545738" cy="4114800"/>
          </a:xfrm>
          <a:prstGeom prst="roundRect">
            <a:avLst>
              <a:gd name="adj" fmla="val 3095"/>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2" name="Shape 10"/>
          <p:cNvSpPr/>
          <p:nvPr/>
        </p:nvSpPr>
        <p:spPr>
          <a:xfrm>
            <a:off x="4643018" y="2103120"/>
            <a:ext cx="1280160" cy="457200"/>
          </a:xfrm>
          <a:prstGeom prst="roundRect">
            <a:avLst>
              <a:gd name="adj" fmla="val 50000"/>
            </a:avLst>
          </a:prstGeom>
          <a:solidFill>
            <a:srgbClr val="0E8A7E"/>
          </a:solidFill>
          <a:ln/>
        </p:spPr>
      </p:sp>
      <p:sp>
        <p:nvSpPr>
          <p:cNvPr id="13" name="Text 11"/>
          <p:cNvSpPr txBox="1"/>
          <p:nvPr/>
        </p:nvSpPr>
        <p:spPr>
          <a:xfrm>
            <a:off x="4643018" y="2103120"/>
            <a:ext cx="12801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Arial" pitchFamily="34" charset="0"/>
                <a:ea typeface="Arial" pitchFamily="34" charset="-122"/>
                <a:cs typeface="Arial" pitchFamily="34" charset="-120"/>
              </a:rPr>
              <a:t>WHY</a:t>
            </a:r>
            <a:endParaRPr lang="en-US" sz="1600" dirty="0"/>
          </a:p>
        </p:txBody>
      </p:sp>
      <p:sp>
        <p:nvSpPr>
          <p:cNvPr id="14" name="Text 12"/>
          <p:cNvSpPr txBox="1"/>
          <p:nvPr/>
        </p:nvSpPr>
        <p:spPr>
          <a:xfrm>
            <a:off x="4643018" y="2788920"/>
            <a:ext cx="2905658" cy="731520"/>
          </a:xfrm>
          <a:prstGeom prst="rect">
            <a:avLst/>
          </a:prstGeom>
          <a:noFill/>
          <a:ln/>
        </p:spPr>
        <p:txBody>
          <a:bodyPr wrap="square" lIns="0" tIns="0" rIns="0" bIns="0" rtlCol="0" anchor="ctr"/>
          <a:lstStyle/>
          <a:p>
            <a:pPr indent="0" marL="0">
              <a:buNone/>
            </a:pPr>
            <a:r>
              <a:rPr lang="en-US" sz="4000" b="1" dirty="0">
                <a:solidFill>
                  <a:srgbClr val="0B1B3A"/>
                </a:solidFill>
                <a:latin typeface="Arial" pitchFamily="34" charset="0"/>
                <a:ea typeface="Arial" pitchFamily="34" charset="-122"/>
                <a:cs typeface="Arial" pitchFamily="34" charset="-120"/>
              </a:rPr>
              <a:t>Tại sao?</a:t>
            </a:r>
            <a:endParaRPr lang="en-US" sz="4000" dirty="0"/>
          </a:p>
        </p:txBody>
      </p:sp>
      <p:sp>
        <p:nvSpPr>
          <p:cNvPr id="15" name="Text 13"/>
          <p:cNvSpPr txBox="1"/>
          <p:nvPr/>
        </p:nvSpPr>
        <p:spPr>
          <a:xfrm>
            <a:off x="4643018" y="3703320"/>
            <a:ext cx="2905658" cy="2011680"/>
          </a:xfrm>
          <a:prstGeom prst="rect">
            <a:avLst/>
          </a:prstGeom>
          <a:noFill/>
          <a:ln/>
        </p:spPr>
        <p:txBody>
          <a:bodyPr wrap="square" lIns="0" tIns="0" rIns="0" bIns="0" rtlCol="0" anchor="t"/>
          <a:lstStyle/>
          <a:p>
            <a:pPr indent="0" marL="0">
              <a:buNone/>
            </a:pPr>
            <a:r>
              <a:rPr lang="en-US" sz="1900" dirty="0">
                <a:solidFill>
                  <a:srgbClr val="0B1B3A"/>
                </a:solidFill>
                <a:latin typeface="Calibri" pitchFamily="34" charset="0"/>
                <a:ea typeface="Calibri" pitchFamily="34" charset="-122"/>
                <a:cs typeface="Calibri" pitchFamily="34" charset="-120"/>
              </a:rPr>
              <a:t>Thông tin sửa chữa nằm phân tán; giá phụ thuộc model và tình trạng máy; người dùng phải tự tổng hợp nhiều nguồn.</a:t>
            </a:r>
            <a:endParaRPr lang="en-US" sz="1900" dirty="0"/>
          </a:p>
        </p:txBody>
      </p:sp>
      <p:sp>
        <p:nvSpPr>
          <p:cNvPr id="16" name="Shape 14"/>
          <p:cNvSpPr/>
          <p:nvPr/>
        </p:nvSpPr>
        <p:spPr>
          <a:xfrm>
            <a:off x="8097317" y="1783080"/>
            <a:ext cx="3545738" cy="4114800"/>
          </a:xfrm>
          <a:prstGeom prst="roundRect">
            <a:avLst>
              <a:gd name="adj" fmla="val 3095"/>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8417357" y="2103120"/>
            <a:ext cx="1280160" cy="457200"/>
          </a:xfrm>
          <a:prstGeom prst="roundRect">
            <a:avLst>
              <a:gd name="adj" fmla="val 50000"/>
            </a:avLst>
          </a:prstGeom>
          <a:solidFill>
            <a:srgbClr val="E4590F"/>
          </a:solidFill>
          <a:ln/>
        </p:spPr>
      </p:sp>
      <p:sp>
        <p:nvSpPr>
          <p:cNvPr id="18" name="Text 16"/>
          <p:cNvSpPr txBox="1"/>
          <p:nvPr/>
        </p:nvSpPr>
        <p:spPr>
          <a:xfrm>
            <a:off x="8417357" y="2103120"/>
            <a:ext cx="12801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Arial" pitchFamily="34" charset="0"/>
                <a:ea typeface="Arial" pitchFamily="34" charset="-122"/>
                <a:cs typeface="Arial" pitchFamily="34" charset="-120"/>
              </a:rPr>
              <a:t>WHAT</a:t>
            </a:r>
            <a:endParaRPr lang="en-US" sz="1600" dirty="0"/>
          </a:p>
        </p:txBody>
      </p:sp>
      <p:sp>
        <p:nvSpPr>
          <p:cNvPr id="19" name="Text 17"/>
          <p:cNvSpPr txBox="1"/>
          <p:nvPr/>
        </p:nvSpPr>
        <p:spPr>
          <a:xfrm>
            <a:off x="8417357" y="2788920"/>
            <a:ext cx="2905658" cy="731520"/>
          </a:xfrm>
          <a:prstGeom prst="rect">
            <a:avLst/>
          </a:prstGeom>
          <a:noFill/>
          <a:ln/>
        </p:spPr>
        <p:txBody>
          <a:bodyPr wrap="square" lIns="0" tIns="0" rIns="0" bIns="0" rtlCol="0" anchor="ctr"/>
          <a:lstStyle/>
          <a:p>
            <a:pPr indent="0" marL="0">
              <a:buNone/>
            </a:pPr>
            <a:r>
              <a:rPr lang="en-US" sz="4000" b="1" dirty="0">
                <a:solidFill>
                  <a:srgbClr val="0B1B3A"/>
                </a:solidFill>
                <a:latin typeface="Arial" pitchFamily="34" charset="0"/>
                <a:ea typeface="Arial" pitchFamily="34" charset="-122"/>
                <a:cs typeface="Arial" pitchFamily="34" charset="-120"/>
              </a:rPr>
              <a:t>Cần gì?</a:t>
            </a:r>
            <a:endParaRPr lang="en-US" sz="4000" dirty="0"/>
          </a:p>
        </p:txBody>
      </p:sp>
      <p:sp>
        <p:nvSpPr>
          <p:cNvPr id="20" name="Text 18"/>
          <p:cNvSpPr txBox="1"/>
          <p:nvPr/>
        </p:nvSpPr>
        <p:spPr>
          <a:xfrm>
            <a:off x="8417357" y="3703320"/>
            <a:ext cx="2905658" cy="2011680"/>
          </a:xfrm>
          <a:prstGeom prst="rect">
            <a:avLst/>
          </a:prstGeom>
          <a:noFill/>
          <a:ln/>
        </p:spPr>
        <p:txBody>
          <a:bodyPr wrap="square" lIns="0" tIns="0" rIns="0" bIns="0" rtlCol="0" anchor="t"/>
          <a:lstStyle/>
          <a:p>
            <a:pPr indent="0" marL="0">
              <a:buNone/>
            </a:pPr>
            <a:r>
              <a:rPr lang="en-US" sz="1900" dirty="0">
                <a:solidFill>
                  <a:srgbClr val="0B1B3A"/>
                </a:solidFill>
                <a:latin typeface="Calibri" pitchFamily="34" charset="0"/>
                <a:ea typeface="Calibri" pitchFamily="34" charset="-122"/>
                <a:cs typeface="Calibri" pitchFamily="34" charset="-120"/>
              </a:rPr>
              <a:t>Cách tìm nơi sửa theo lỗi; xem thông tin cơ bản, khoảng giá, vị trí, review và chỉ đường trong một luồng.</a:t>
            </a:r>
            <a:endParaRPr lang="en-US" sz="1900" dirty="0"/>
          </a:p>
        </p:txBody>
      </p:sp>
      <p:sp>
        <p:nvSpPr>
          <p:cNvPr id="21" name="Text 19"/>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22" name="Text 20"/>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10 / 22</a:t>
            </a:r>
            <a:endParaRPr lang="en-US" sz="1000" dirty="0"/>
          </a:p>
        </p:txBody>
      </p:sp>
      <p:sp>
        <p:nvSpPr>
          <p:cNvPr id="23" name="TextBox 22"/>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4" name="TextBox 23"/>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10 / 27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5 / 7  ·  LIỆT KÊ CÁC GIẢI PHÁP CÓ THỂ CÓ</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Không chỉ có một giải pháp</a:t>
            </a:r>
            <a:endParaRPr lang="en-US" sz="3200" dirty="0"/>
          </a:p>
        </p:txBody>
      </p:sp>
      <p:sp>
        <p:nvSpPr>
          <p:cNvPr id="6" name="Text 4"/>
          <p:cNvSpPr txBox="1"/>
          <p:nvPr/>
        </p:nvSpPr>
        <p:spPr>
          <a:xfrm>
            <a:off x="822960" y="1783080"/>
            <a:ext cx="274320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GIẢI PHÁP</a:t>
            </a:r>
            <a:endParaRPr lang="en-US" sz="1100" dirty="0"/>
          </a:p>
        </p:txBody>
      </p:sp>
      <p:sp>
        <p:nvSpPr>
          <p:cNvPr id="7" name="Text 5"/>
          <p:cNvSpPr txBox="1"/>
          <p:nvPr/>
        </p:nvSpPr>
        <p:spPr>
          <a:xfrm>
            <a:off x="3611880" y="1783080"/>
            <a:ext cx="365760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ƯU ĐIỂM</a:t>
            </a:r>
            <a:endParaRPr lang="en-US" sz="1100" dirty="0"/>
          </a:p>
        </p:txBody>
      </p:sp>
      <p:sp>
        <p:nvSpPr>
          <p:cNvPr id="8" name="Text 6"/>
          <p:cNvSpPr txBox="1"/>
          <p:nvPr/>
        </p:nvSpPr>
        <p:spPr>
          <a:xfrm>
            <a:off x="7772400" y="1783080"/>
            <a:ext cx="365760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HẠN CHẾ</a:t>
            </a:r>
            <a:endParaRPr lang="en-US" sz="1100" dirty="0"/>
          </a:p>
        </p:txBody>
      </p:sp>
      <p:sp>
        <p:nvSpPr>
          <p:cNvPr id="9" name="Shape 7"/>
          <p:cNvSpPr/>
          <p:nvPr/>
        </p:nvSpPr>
        <p:spPr>
          <a:xfrm>
            <a:off x="548640" y="2148840"/>
            <a:ext cx="11094415" cy="694944"/>
          </a:xfrm>
          <a:prstGeom prst="roundRect">
            <a:avLst>
              <a:gd name="adj" fmla="val 157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0" name="Text 8"/>
          <p:cNvSpPr txBox="1"/>
          <p:nvPr/>
        </p:nvSpPr>
        <p:spPr>
          <a:xfrm>
            <a:off x="822960" y="2148840"/>
            <a:ext cx="3108960" cy="694944"/>
          </a:xfrm>
          <a:prstGeom prst="rect">
            <a:avLst/>
          </a:prstGeom>
          <a:noFill/>
          <a:ln/>
        </p:spPr>
        <p:txBody>
          <a:bodyPr wrap="square" lIns="0" tIns="0" rIns="0" bIns="0" rtlCol="0" anchor="ctr"/>
          <a:lstStyle/>
          <a:p>
            <a:pPr indent="0" marL="0">
              <a:buNone/>
            </a:pPr>
            <a:r>
              <a:rPr lang="en-US" sz="1600" b="1" dirty="0">
                <a:solidFill>
                  <a:srgbClr val="0B1B3A"/>
                </a:solidFill>
                <a:latin typeface="Arial" pitchFamily="34" charset="0"/>
                <a:ea typeface="Arial" pitchFamily="34" charset="-122"/>
                <a:cs typeface="Arial" pitchFamily="34" charset="-120"/>
              </a:rPr>
              <a:t>Google Sheet tổng hợp</a:t>
            </a:r>
            <a:endParaRPr lang="en-US" sz="1600" dirty="0"/>
          </a:p>
        </p:txBody>
      </p:sp>
      <p:sp>
        <p:nvSpPr>
          <p:cNvPr id="11" name="Text 9"/>
          <p:cNvSpPr txBox="1"/>
          <p:nvPr/>
        </p:nvSpPr>
        <p:spPr>
          <a:xfrm>
            <a:off x="3611880" y="2148840"/>
            <a:ext cx="3931920" cy="694944"/>
          </a:xfrm>
          <a:prstGeom prst="rect">
            <a:avLst/>
          </a:prstGeom>
          <a:noFill/>
          <a:ln/>
        </p:spPr>
        <p:txBody>
          <a:bodyPr wrap="square" lIns="0" tIns="0" rIns="0" bIns="0" rtlCol="0" anchor="ctr"/>
          <a:lstStyle/>
          <a:p>
            <a:pPr indent="0" marL="0">
              <a:buNone/>
            </a:pPr>
            <a:r>
              <a:rPr lang="en-US" sz="1400" b="1" dirty="0">
                <a:solidFill>
                  <a:srgbClr val="0E8A7E"/>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Nhanh, gần như không tốn chi phí.</a:t>
            </a:r>
            <a:endParaRPr lang="en-US" sz="1400" dirty="0"/>
          </a:p>
        </p:txBody>
      </p:sp>
      <p:sp>
        <p:nvSpPr>
          <p:cNvPr id="12" name="Text 10"/>
          <p:cNvSpPr txBox="1"/>
          <p:nvPr/>
        </p:nvSpPr>
        <p:spPr>
          <a:xfrm>
            <a:off x="7772400" y="2148840"/>
            <a:ext cx="3657600" cy="694944"/>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Khó tìm kiếm/lọc, trải nghiệm kém, review hạn chế.</a:t>
            </a:r>
            <a:endParaRPr lang="en-US" sz="1400" dirty="0"/>
          </a:p>
        </p:txBody>
      </p:sp>
      <p:sp>
        <p:nvSpPr>
          <p:cNvPr id="13" name="Shape 11"/>
          <p:cNvSpPr/>
          <p:nvPr/>
        </p:nvSpPr>
        <p:spPr>
          <a:xfrm>
            <a:off x="548640" y="2935224"/>
            <a:ext cx="11094415" cy="694944"/>
          </a:xfrm>
          <a:prstGeom prst="roundRect">
            <a:avLst>
              <a:gd name="adj" fmla="val 157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4" name="Text 12"/>
          <p:cNvSpPr txBox="1"/>
          <p:nvPr/>
        </p:nvSpPr>
        <p:spPr>
          <a:xfrm>
            <a:off x="822960" y="2935224"/>
            <a:ext cx="3108960" cy="694944"/>
          </a:xfrm>
          <a:prstGeom prst="rect">
            <a:avLst/>
          </a:prstGeom>
          <a:noFill/>
          <a:ln/>
        </p:spPr>
        <p:txBody>
          <a:bodyPr wrap="square" lIns="0" tIns="0" rIns="0" bIns="0" rtlCol="0" anchor="ctr"/>
          <a:lstStyle/>
          <a:p>
            <a:pPr indent="0" marL="0">
              <a:buNone/>
            </a:pPr>
            <a:r>
              <a:rPr lang="en-US" sz="1600" b="1" dirty="0">
                <a:solidFill>
                  <a:srgbClr val="0B1B3A"/>
                </a:solidFill>
                <a:latin typeface="Arial" pitchFamily="34" charset="0"/>
                <a:ea typeface="Arial" pitchFamily="34" charset="-122"/>
                <a:cs typeface="Arial" pitchFamily="34" charset="-120"/>
              </a:rPr>
              <a:t>Fanpage / nhóm Facebook</a:t>
            </a:r>
            <a:endParaRPr lang="en-US" sz="1600" dirty="0"/>
          </a:p>
        </p:txBody>
      </p:sp>
      <p:sp>
        <p:nvSpPr>
          <p:cNvPr id="15" name="Text 13"/>
          <p:cNvSpPr txBox="1"/>
          <p:nvPr/>
        </p:nvSpPr>
        <p:spPr>
          <a:xfrm>
            <a:off x="3611880" y="2935224"/>
            <a:ext cx="3931920" cy="694944"/>
          </a:xfrm>
          <a:prstGeom prst="rect">
            <a:avLst/>
          </a:prstGeom>
          <a:noFill/>
          <a:ln/>
        </p:spPr>
        <p:txBody>
          <a:bodyPr wrap="square" lIns="0" tIns="0" rIns="0" bIns="0" rtlCol="0" anchor="ctr"/>
          <a:lstStyle/>
          <a:p>
            <a:pPr indent="0" marL="0">
              <a:buNone/>
            </a:pPr>
            <a:r>
              <a:rPr lang="en-US" sz="1400" b="1" dirty="0">
                <a:solidFill>
                  <a:srgbClr val="0E8A7E"/>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Dễ tiếp cận sinh viên.</a:t>
            </a:r>
            <a:endParaRPr lang="en-US" sz="1400" dirty="0"/>
          </a:p>
        </p:txBody>
      </p:sp>
      <p:sp>
        <p:nvSpPr>
          <p:cNvPr id="16" name="Text 14"/>
          <p:cNvSpPr txBox="1"/>
          <p:nvPr/>
        </p:nvSpPr>
        <p:spPr>
          <a:xfrm>
            <a:off x="7772400" y="2935224"/>
            <a:ext cx="3657600" cy="694944"/>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Thông tin trôi theo bài đăng, khó so sánh có cấu trúc.</a:t>
            </a:r>
            <a:endParaRPr lang="en-US" sz="1400" dirty="0"/>
          </a:p>
        </p:txBody>
      </p:sp>
      <p:sp>
        <p:nvSpPr>
          <p:cNvPr id="17" name="Shape 15"/>
          <p:cNvSpPr/>
          <p:nvPr/>
        </p:nvSpPr>
        <p:spPr>
          <a:xfrm>
            <a:off x="548640" y="3721608"/>
            <a:ext cx="11094415" cy="694944"/>
          </a:xfrm>
          <a:prstGeom prst="roundRect">
            <a:avLst>
              <a:gd name="adj" fmla="val 157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822960" y="3721608"/>
            <a:ext cx="3108960" cy="694944"/>
          </a:xfrm>
          <a:prstGeom prst="rect">
            <a:avLst/>
          </a:prstGeom>
          <a:noFill/>
          <a:ln/>
        </p:spPr>
        <p:txBody>
          <a:bodyPr wrap="square" lIns="0" tIns="0" rIns="0" bIns="0" rtlCol="0" anchor="ctr"/>
          <a:lstStyle/>
          <a:p>
            <a:pPr indent="0" marL="0">
              <a:buNone/>
            </a:pPr>
            <a:r>
              <a:rPr lang="en-US" sz="1600" b="1" dirty="0">
                <a:solidFill>
                  <a:srgbClr val="0B1B3A"/>
                </a:solidFill>
                <a:latin typeface="Arial" pitchFamily="34" charset="0"/>
                <a:ea typeface="Arial" pitchFamily="34" charset="-122"/>
                <a:cs typeface="Arial" pitchFamily="34" charset="-120"/>
              </a:rPr>
              <a:t>Danh sách Google Maps</a:t>
            </a:r>
            <a:endParaRPr lang="en-US" sz="1600" dirty="0"/>
          </a:p>
        </p:txBody>
      </p:sp>
      <p:sp>
        <p:nvSpPr>
          <p:cNvPr id="19" name="Text 17"/>
          <p:cNvSpPr txBox="1"/>
          <p:nvPr/>
        </p:nvSpPr>
        <p:spPr>
          <a:xfrm>
            <a:off x="3611880" y="3721608"/>
            <a:ext cx="3931920" cy="694944"/>
          </a:xfrm>
          <a:prstGeom prst="rect">
            <a:avLst/>
          </a:prstGeom>
          <a:noFill/>
          <a:ln/>
        </p:spPr>
        <p:txBody>
          <a:bodyPr wrap="square" lIns="0" tIns="0" rIns="0" bIns="0" rtlCol="0" anchor="ctr"/>
          <a:lstStyle/>
          <a:p>
            <a:pPr indent="0" marL="0">
              <a:buNone/>
            </a:pPr>
            <a:r>
              <a:rPr lang="en-US" sz="1400" b="1" dirty="0">
                <a:solidFill>
                  <a:srgbClr val="0E8A7E"/>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Mạnh về vị trí và chỉ đường.</a:t>
            </a:r>
            <a:endParaRPr lang="en-US" sz="1400" dirty="0"/>
          </a:p>
        </p:txBody>
      </p:sp>
      <p:sp>
        <p:nvSpPr>
          <p:cNvPr id="20" name="Text 18"/>
          <p:cNvSpPr txBox="1"/>
          <p:nvPr/>
        </p:nvSpPr>
        <p:spPr>
          <a:xfrm>
            <a:off x="7772400" y="3721608"/>
            <a:ext cx="3657600" cy="694944"/>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Không tổ chức sâu theo lỗi/dịch vụ/giá tham khảo của dự án.</a:t>
            </a:r>
            <a:endParaRPr lang="en-US" sz="1400" dirty="0"/>
          </a:p>
        </p:txBody>
      </p:sp>
      <p:sp>
        <p:nvSpPr>
          <p:cNvPr id="21" name="Shape 19"/>
          <p:cNvSpPr/>
          <p:nvPr/>
        </p:nvSpPr>
        <p:spPr>
          <a:xfrm>
            <a:off x="548640" y="4507992"/>
            <a:ext cx="11094415" cy="694944"/>
          </a:xfrm>
          <a:prstGeom prst="roundRect">
            <a:avLst>
              <a:gd name="adj" fmla="val 15789"/>
            </a:avLst>
          </a:prstGeom>
          <a:solidFill>
            <a:srgbClr val="0B1B3A"/>
          </a:solidFill>
          <a:ln w="9525">
            <a:solidFill>
              <a:srgbClr val="0B1B3A"/>
            </a:solidFill>
            <a:prstDash val="solid"/>
          </a:ln>
          <a:effectLst>
            <a:outerShdw sx="100000" sy="100000" kx="0" ky="0" algn="bl" rotWithShape="0" blurRad="101600" dist="25400" dir="5400000">
              <a:srgbClr val="000000">
                <a:alpha val="10000"/>
              </a:srgbClr>
            </a:outerShdw>
          </a:effectLst>
        </p:spPr>
      </p:sp>
      <p:sp>
        <p:nvSpPr>
          <p:cNvPr id="22" name="Text 20"/>
          <p:cNvSpPr txBox="1"/>
          <p:nvPr/>
        </p:nvSpPr>
        <p:spPr>
          <a:xfrm>
            <a:off x="822960" y="4507992"/>
            <a:ext cx="3108960" cy="69494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Website FixNear</a:t>
            </a:r>
            <a:endParaRPr lang="en-US" sz="1600" dirty="0"/>
          </a:p>
          <a:p>
            <a:pPr indent="0" marL="0">
              <a:buNone/>
            </a:pPr>
            <a:r>
              <a:rPr lang="en-US" sz="1000" b="1" spc="200" kern="0" dirty="0">
                <a:solidFill>
                  <a:srgbClr val="FF8A4C"/>
                </a:solidFill>
                <a:latin typeface="Calibri" pitchFamily="34" charset="0"/>
                <a:ea typeface="Calibri" pitchFamily="34" charset="-122"/>
                <a:cs typeface="Calibri" pitchFamily="34" charset="-120"/>
              </a:rPr>
              <a:t>ĐƯỢC CHỌN</a:t>
            </a:r>
            <a:endParaRPr lang="en-US" sz="1600" dirty="0"/>
          </a:p>
        </p:txBody>
      </p:sp>
      <p:sp>
        <p:nvSpPr>
          <p:cNvPr id="23" name="Text 21"/>
          <p:cNvSpPr txBox="1"/>
          <p:nvPr/>
        </p:nvSpPr>
        <p:spPr>
          <a:xfrm>
            <a:off x="3611880" y="4507992"/>
            <a:ext cx="3931920" cy="694944"/>
          </a:xfrm>
          <a:prstGeom prst="rect">
            <a:avLst/>
          </a:prstGeom>
          <a:noFill/>
          <a:ln/>
        </p:spPr>
        <p:txBody>
          <a:bodyPr wrap="square" lIns="0" tIns="0" rIns="0" bIns="0" rtlCol="0" anchor="ctr"/>
          <a:lstStyle/>
          <a:p>
            <a:pPr indent="0" marL="0">
              <a:buNone/>
            </a:pPr>
            <a:r>
              <a:rPr lang="en-US" sz="1400" b="1" dirty="0">
                <a:solidFill>
                  <a:srgbClr val="3DD6C6"/>
                </a:solidFill>
                <a:latin typeface="Calibri" pitchFamily="34" charset="0"/>
                <a:ea typeface="Calibri" pitchFamily="34" charset="-122"/>
                <a:cs typeface="Calibri" pitchFamily="34" charset="-120"/>
              </a:rPr>
              <a:t>+  </a:t>
            </a:r>
            <a:pPr indent="0" marL="0">
              <a:buNone/>
            </a:pPr>
            <a:r>
              <a:rPr lang="en-US" sz="1400" dirty="0">
                <a:solidFill>
                  <a:srgbClr val="FFFFFF"/>
                </a:solidFill>
                <a:latin typeface="Calibri" pitchFamily="34" charset="0"/>
                <a:ea typeface="Calibri" pitchFamily="34" charset="-122"/>
                <a:cs typeface="Calibri" pitchFamily="34" charset="-120"/>
              </a:rPr>
              <a:t>Có search/filter, dữ liệu có cấu trúc, review, admin; phù hợp chuyên môn.</a:t>
            </a:r>
            <a:endParaRPr lang="en-US" sz="1400" dirty="0"/>
          </a:p>
        </p:txBody>
      </p:sp>
      <p:sp>
        <p:nvSpPr>
          <p:cNvPr id="24" name="Text 22"/>
          <p:cNvSpPr txBox="1"/>
          <p:nvPr/>
        </p:nvSpPr>
        <p:spPr>
          <a:xfrm>
            <a:off x="7772400" y="4507992"/>
            <a:ext cx="3657600" cy="694944"/>
          </a:xfrm>
          <a:prstGeom prst="rect">
            <a:avLst/>
          </a:prstGeom>
          <a:noFill/>
          <a:ln/>
        </p:spPr>
        <p:txBody>
          <a:bodyPr wrap="square" lIns="0" tIns="0" rIns="0" bIns="0" rtlCol="0" anchor="ctr"/>
          <a:lstStyle/>
          <a:p>
            <a:pPr indent="0" marL="0">
              <a:buNone/>
            </a:pPr>
            <a:r>
              <a:rPr lang="en-US" sz="1400" b="1" dirty="0">
                <a:solidFill>
                  <a:srgbClr val="FF8A4C"/>
                </a:solidFill>
                <a:latin typeface="Calibri" pitchFamily="34" charset="0"/>
                <a:ea typeface="Calibri" pitchFamily="34" charset="-122"/>
                <a:cs typeface="Calibri" pitchFamily="34" charset="-120"/>
              </a:rPr>
              <a:t>−  </a:t>
            </a:r>
            <a:pPr indent="0" marL="0">
              <a:buNone/>
            </a:pPr>
            <a:r>
              <a:rPr lang="en-US" sz="1400" dirty="0">
                <a:solidFill>
                  <a:srgbClr val="FFFFFF"/>
                </a:solidFill>
                <a:latin typeface="Calibri" pitchFamily="34" charset="0"/>
                <a:ea typeface="Calibri" pitchFamily="34" charset="-122"/>
                <a:cs typeface="Calibri" pitchFamily="34" charset="-120"/>
              </a:rPr>
              <a:t>Cần thời gian lập trình và duy trì dữ liệu.</a:t>
            </a:r>
            <a:endParaRPr lang="en-US" sz="1400" dirty="0"/>
          </a:p>
        </p:txBody>
      </p:sp>
      <p:sp>
        <p:nvSpPr>
          <p:cNvPr id="25" name="Shape 23"/>
          <p:cNvSpPr/>
          <p:nvPr/>
        </p:nvSpPr>
        <p:spPr>
          <a:xfrm>
            <a:off x="548640" y="5294376"/>
            <a:ext cx="11094415" cy="694944"/>
          </a:xfrm>
          <a:prstGeom prst="roundRect">
            <a:avLst>
              <a:gd name="adj" fmla="val 15789"/>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6" name="Text 24"/>
          <p:cNvSpPr txBox="1"/>
          <p:nvPr/>
        </p:nvSpPr>
        <p:spPr>
          <a:xfrm>
            <a:off x="822960" y="5294376"/>
            <a:ext cx="3108960" cy="694944"/>
          </a:xfrm>
          <a:prstGeom prst="rect">
            <a:avLst/>
          </a:prstGeom>
          <a:noFill/>
          <a:ln/>
        </p:spPr>
        <p:txBody>
          <a:bodyPr wrap="square" lIns="0" tIns="0" rIns="0" bIns="0" rtlCol="0" anchor="ctr"/>
          <a:lstStyle/>
          <a:p>
            <a:pPr indent="0" marL="0">
              <a:buNone/>
            </a:pPr>
            <a:r>
              <a:rPr lang="en-US" sz="1600" b="1" dirty="0">
                <a:solidFill>
                  <a:srgbClr val="0B1B3A"/>
                </a:solidFill>
                <a:latin typeface="Arial" pitchFamily="34" charset="0"/>
                <a:ea typeface="Arial" pitchFamily="34" charset="-122"/>
                <a:cs typeface="Arial" pitchFamily="34" charset="-120"/>
              </a:rPr>
              <a:t>Ứng dụng mobile</a:t>
            </a:r>
            <a:endParaRPr lang="en-US" sz="1600" dirty="0"/>
          </a:p>
        </p:txBody>
      </p:sp>
      <p:sp>
        <p:nvSpPr>
          <p:cNvPr id="27" name="Text 25"/>
          <p:cNvSpPr txBox="1"/>
          <p:nvPr/>
        </p:nvSpPr>
        <p:spPr>
          <a:xfrm>
            <a:off x="3611880" y="5294376"/>
            <a:ext cx="3931920" cy="694944"/>
          </a:xfrm>
          <a:prstGeom prst="rect">
            <a:avLst/>
          </a:prstGeom>
          <a:noFill/>
          <a:ln/>
        </p:spPr>
        <p:txBody>
          <a:bodyPr wrap="square" lIns="0" tIns="0" rIns="0" bIns="0" rtlCol="0" anchor="ctr"/>
          <a:lstStyle/>
          <a:p>
            <a:pPr indent="0" marL="0">
              <a:buNone/>
            </a:pPr>
            <a:r>
              <a:rPr lang="en-US" sz="1400" b="1" dirty="0">
                <a:solidFill>
                  <a:srgbClr val="0E8A7E"/>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Trải nghiệm chuyên biệt.</a:t>
            </a:r>
            <a:endParaRPr lang="en-US" sz="1400" dirty="0"/>
          </a:p>
        </p:txBody>
      </p:sp>
      <p:sp>
        <p:nvSpPr>
          <p:cNvPr id="28" name="Text 26"/>
          <p:cNvSpPr txBox="1"/>
          <p:nvPr/>
        </p:nvSpPr>
        <p:spPr>
          <a:xfrm>
            <a:off x="7772400" y="5294376"/>
            <a:ext cx="3657600" cy="694944"/>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  </a:t>
            </a:r>
            <a:pPr indent="0" marL="0">
              <a:buNone/>
            </a:pPr>
            <a:r>
              <a:rPr lang="en-US" sz="1400" dirty="0">
                <a:solidFill>
                  <a:srgbClr val="0B1B3A"/>
                </a:solidFill>
                <a:latin typeface="Calibri" pitchFamily="34" charset="0"/>
                <a:ea typeface="Calibri" pitchFamily="34" charset="-122"/>
                <a:cs typeface="Calibri" pitchFamily="34" charset="-120"/>
              </a:rPr>
              <a:t>Không phù hợp thời gian 03 tuần; tăng phạm vi phát triển.</a:t>
            </a:r>
            <a:endParaRPr lang="en-US" sz="1400" dirty="0"/>
          </a:p>
        </p:txBody>
      </p:sp>
      <p:sp>
        <p:nvSpPr>
          <p:cNvPr id="29" name="Text 27"/>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0" name="Text 28"/>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11 / 22</a:t>
            </a:r>
            <a:endParaRPr lang="en-US" sz="1000" dirty="0"/>
          </a:p>
        </p:txBody>
      </p:sp>
      <p:sp>
        <p:nvSpPr>
          <p:cNvPr id="31" name="TextBox 30"/>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2" name="TextBox 31"/>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11 / 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6 / 7  ·  CHỌN RA GIẢI PHÁP PHÙ HỢP NHẤT</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Vì sao nhóm chọn website FixNear?</a:t>
            </a:r>
            <a:endParaRPr lang="en-US" sz="3200" dirty="0"/>
          </a:p>
        </p:txBody>
      </p:sp>
      <p:sp>
        <p:nvSpPr>
          <p:cNvPr id="6" name="Text 4"/>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Đánh giá kế hoạch trước triển khai, thang 0–5 theo hướng dẫn ASM; sẽ đối chiếu lại với kết quả thực tế.</a:t>
            </a:r>
            <a:endParaRPr lang="en-US" sz="1600" dirty="0"/>
          </a:p>
        </p:txBody>
      </p:sp>
      <p:sp>
        <p:nvSpPr>
          <p:cNvPr id="7" name="Shape 5"/>
          <p:cNvSpPr/>
          <p:nvPr/>
        </p:nvSpPr>
        <p:spPr>
          <a:xfrm>
            <a:off x="548640" y="2103120"/>
            <a:ext cx="6583680"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8" name="Text 6"/>
          <p:cNvSpPr txBox="1"/>
          <p:nvPr/>
        </p:nvSpPr>
        <p:spPr>
          <a:xfrm>
            <a:off x="777240" y="2176272"/>
            <a:ext cx="2011680" cy="2743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Tính khả thi</a:t>
            </a:r>
            <a:endParaRPr lang="en-US" sz="1500" dirty="0"/>
          </a:p>
        </p:txBody>
      </p:sp>
      <p:sp>
        <p:nvSpPr>
          <p:cNvPr id="9" name="Shape 7"/>
          <p:cNvSpPr/>
          <p:nvPr/>
        </p:nvSpPr>
        <p:spPr>
          <a:xfrm>
            <a:off x="6309360" y="2194560"/>
            <a:ext cx="640080" cy="274320"/>
          </a:xfrm>
          <a:prstGeom prst="roundRect">
            <a:avLst>
              <a:gd name="adj" fmla="val 50000"/>
            </a:avLst>
          </a:prstGeom>
          <a:solidFill>
            <a:srgbClr val="0E8A7E"/>
          </a:solidFill>
          <a:ln/>
        </p:spPr>
      </p:sp>
      <p:sp>
        <p:nvSpPr>
          <p:cNvPr id="10" name="Text 8"/>
          <p:cNvSpPr txBox="1"/>
          <p:nvPr/>
        </p:nvSpPr>
        <p:spPr>
          <a:xfrm>
            <a:off x="6309360" y="219456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4/5</a:t>
            </a:r>
            <a:endParaRPr lang="en-US" sz="1200" dirty="0"/>
          </a:p>
        </p:txBody>
      </p:sp>
      <p:sp>
        <p:nvSpPr>
          <p:cNvPr id="11" name="Text 9"/>
          <p:cNvSpPr txBox="1"/>
          <p:nvPr/>
        </p:nvSpPr>
        <p:spPr>
          <a:xfrm>
            <a:off x="777240" y="2487168"/>
            <a:ext cx="6172200" cy="274320"/>
          </a:xfrm>
          <a:prstGeom prst="rect">
            <a:avLst/>
          </a:prstGeom>
          <a:noFill/>
          <a:ln/>
        </p:spPr>
        <p:txBody>
          <a:bodyPr wrap="square" lIns="0" tIns="0" rIns="0" bIns="0" rtlCol="0" anchor="ctr"/>
          <a:lstStyle/>
          <a:p>
            <a:pPr indent="0" marL="0">
              <a:buNone/>
            </a:pPr>
            <a:r>
              <a:rPr lang="en-US" sz="1250" dirty="0">
                <a:solidFill>
                  <a:srgbClr val="55657F"/>
                </a:solidFill>
                <a:latin typeface="Calibri" pitchFamily="34" charset="0"/>
                <a:ea typeface="Calibri" pitchFamily="34" charset="-122"/>
                <a:cs typeface="Calibri" pitchFamily="34" charset="-120"/>
              </a:rPr>
              <a:t>Đủ nhân lực, chuyên môn; rủi ro chính là thời gian 03 tuần và dữ liệu thật.</a:t>
            </a:r>
            <a:endParaRPr lang="en-US" sz="1250" dirty="0"/>
          </a:p>
        </p:txBody>
      </p:sp>
      <p:sp>
        <p:nvSpPr>
          <p:cNvPr id="12" name="Shape 10"/>
          <p:cNvSpPr/>
          <p:nvPr/>
        </p:nvSpPr>
        <p:spPr>
          <a:xfrm>
            <a:off x="548640" y="2926080"/>
            <a:ext cx="6583680"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777240" y="2999232"/>
            <a:ext cx="2011680" cy="2743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Tính đáp ứng</a:t>
            </a:r>
            <a:endParaRPr lang="en-US" sz="1500" dirty="0"/>
          </a:p>
        </p:txBody>
      </p:sp>
      <p:sp>
        <p:nvSpPr>
          <p:cNvPr id="14" name="Shape 12"/>
          <p:cNvSpPr/>
          <p:nvPr/>
        </p:nvSpPr>
        <p:spPr>
          <a:xfrm>
            <a:off x="6309360" y="3017520"/>
            <a:ext cx="640080" cy="274320"/>
          </a:xfrm>
          <a:prstGeom prst="roundRect">
            <a:avLst>
              <a:gd name="adj" fmla="val 50000"/>
            </a:avLst>
          </a:prstGeom>
          <a:solidFill>
            <a:srgbClr val="0E8A7E"/>
          </a:solidFill>
          <a:ln/>
        </p:spPr>
      </p:sp>
      <p:sp>
        <p:nvSpPr>
          <p:cNvPr id="15" name="Text 13"/>
          <p:cNvSpPr txBox="1"/>
          <p:nvPr/>
        </p:nvSpPr>
        <p:spPr>
          <a:xfrm>
            <a:off x="6309360" y="301752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4/5</a:t>
            </a:r>
            <a:endParaRPr lang="en-US" sz="1200" dirty="0"/>
          </a:p>
        </p:txBody>
      </p:sp>
      <p:sp>
        <p:nvSpPr>
          <p:cNvPr id="16" name="Text 14"/>
          <p:cNvSpPr txBox="1"/>
          <p:nvPr/>
        </p:nvSpPr>
        <p:spPr>
          <a:xfrm>
            <a:off x="777240" y="3310128"/>
            <a:ext cx="6172200" cy="274320"/>
          </a:xfrm>
          <a:prstGeom prst="rect">
            <a:avLst/>
          </a:prstGeom>
          <a:noFill/>
          <a:ln/>
        </p:spPr>
        <p:txBody>
          <a:bodyPr wrap="square" lIns="0" tIns="0" rIns="0" bIns="0" rtlCol="0" anchor="ctr"/>
          <a:lstStyle/>
          <a:p>
            <a:pPr indent="0" marL="0">
              <a:buNone/>
            </a:pPr>
            <a:r>
              <a:rPr lang="en-US" sz="1250" dirty="0">
                <a:solidFill>
                  <a:srgbClr val="55657F"/>
                </a:solidFill>
                <a:latin typeface="Calibri" pitchFamily="34" charset="0"/>
                <a:ea typeface="Calibri" pitchFamily="34" charset="-122"/>
                <a:cs typeface="Calibri" pitchFamily="34" charset="-120"/>
              </a:rPr>
              <a:t>Giải quyết phần lớn nhu cầu tra cứu; không thay thế báo giá trực tiếp.</a:t>
            </a:r>
            <a:endParaRPr lang="en-US" sz="1250" dirty="0"/>
          </a:p>
        </p:txBody>
      </p:sp>
      <p:sp>
        <p:nvSpPr>
          <p:cNvPr id="17" name="Shape 15"/>
          <p:cNvSpPr/>
          <p:nvPr/>
        </p:nvSpPr>
        <p:spPr>
          <a:xfrm>
            <a:off x="548640" y="3749040"/>
            <a:ext cx="6583680"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8" name="Text 16"/>
          <p:cNvSpPr txBox="1"/>
          <p:nvPr/>
        </p:nvSpPr>
        <p:spPr>
          <a:xfrm>
            <a:off x="777240" y="3822192"/>
            <a:ext cx="2011680" cy="2743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Tính mới lạ</a:t>
            </a:r>
            <a:endParaRPr lang="en-US" sz="1500" dirty="0"/>
          </a:p>
        </p:txBody>
      </p:sp>
      <p:sp>
        <p:nvSpPr>
          <p:cNvPr id="19" name="Shape 17"/>
          <p:cNvSpPr/>
          <p:nvPr/>
        </p:nvSpPr>
        <p:spPr>
          <a:xfrm>
            <a:off x="6309360" y="3840480"/>
            <a:ext cx="640080" cy="274320"/>
          </a:xfrm>
          <a:prstGeom prst="roundRect">
            <a:avLst>
              <a:gd name="adj" fmla="val 50000"/>
            </a:avLst>
          </a:prstGeom>
          <a:solidFill>
            <a:srgbClr val="E4590F"/>
          </a:solidFill>
          <a:ln/>
        </p:spPr>
      </p:sp>
      <p:sp>
        <p:nvSpPr>
          <p:cNvPr id="20" name="Text 18"/>
          <p:cNvSpPr txBox="1"/>
          <p:nvPr/>
        </p:nvSpPr>
        <p:spPr>
          <a:xfrm>
            <a:off x="6309360" y="384048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21" name="Text 19"/>
          <p:cNvSpPr txBox="1"/>
          <p:nvPr/>
        </p:nvSpPr>
        <p:spPr>
          <a:xfrm>
            <a:off x="777240" y="4133088"/>
            <a:ext cx="6172200" cy="274320"/>
          </a:xfrm>
          <a:prstGeom prst="rect">
            <a:avLst/>
          </a:prstGeom>
          <a:noFill/>
          <a:ln/>
        </p:spPr>
        <p:txBody>
          <a:bodyPr wrap="square" lIns="0" tIns="0" rIns="0" bIns="0" rtlCol="0" anchor="ctr"/>
          <a:lstStyle/>
          <a:p>
            <a:pPr indent="0" marL="0">
              <a:buNone/>
            </a:pPr>
            <a:r>
              <a:rPr lang="en-US" sz="1250" dirty="0">
                <a:solidFill>
                  <a:srgbClr val="55657F"/>
                </a:solidFill>
                <a:latin typeface="Calibri" pitchFamily="34" charset="0"/>
                <a:ea typeface="Calibri" pitchFamily="34" charset="-122"/>
                <a:cs typeface="Calibri" pitchFamily="34" charset="-120"/>
              </a:rPr>
              <a:t>Mô hình danh bạ/review đã có; khác biệt: ngách sinh viên + lỗi + giá tham khảo.</a:t>
            </a:r>
            <a:endParaRPr lang="en-US" sz="1250" dirty="0"/>
          </a:p>
        </p:txBody>
      </p:sp>
      <p:sp>
        <p:nvSpPr>
          <p:cNvPr id="22" name="Shape 20"/>
          <p:cNvSpPr/>
          <p:nvPr/>
        </p:nvSpPr>
        <p:spPr>
          <a:xfrm>
            <a:off x="548640" y="4572000"/>
            <a:ext cx="6583680"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3" name="Text 21"/>
          <p:cNvSpPr txBox="1"/>
          <p:nvPr/>
        </p:nvSpPr>
        <p:spPr>
          <a:xfrm>
            <a:off x="777240" y="4645152"/>
            <a:ext cx="2011680" cy="2743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Tính cộng đồng</a:t>
            </a:r>
            <a:endParaRPr lang="en-US" sz="1500" dirty="0"/>
          </a:p>
        </p:txBody>
      </p:sp>
      <p:sp>
        <p:nvSpPr>
          <p:cNvPr id="24" name="Shape 22"/>
          <p:cNvSpPr/>
          <p:nvPr/>
        </p:nvSpPr>
        <p:spPr>
          <a:xfrm>
            <a:off x="6309360" y="4663440"/>
            <a:ext cx="640080" cy="274320"/>
          </a:xfrm>
          <a:prstGeom prst="roundRect">
            <a:avLst>
              <a:gd name="adj" fmla="val 50000"/>
            </a:avLst>
          </a:prstGeom>
          <a:solidFill>
            <a:srgbClr val="1E5AA8"/>
          </a:solidFill>
          <a:ln/>
        </p:spPr>
      </p:sp>
      <p:sp>
        <p:nvSpPr>
          <p:cNvPr id="25" name="Text 23"/>
          <p:cNvSpPr txBox="1"/>
          <p:nvPr/>
        </p:nvSpPr>
        <p:spPr>
          <a:xfrm>
            <a:off x="6309360" y="466344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3/5</a:t>
            </a:r>
            <a:endParaRPr lang="en-US" sz="1200" dirty="0"/>
          </a:p>
        </p:txBody>
      </p:sp>
      <p:sp>
        <p:nvSpPr>
          <p:cNvPr id="26" name="Text 24"/>
          <p:cNvSpPr txBox="1"/>
          <p:nvPr/>
        </p:nvSpPr>
        <p:spPr>
          <a:xfrm>
            <a:off x="777240" y="4956048"/>
            <a:ext cx="6172200" cy="274320"/>
          </a:xfrm>
          <a:prstGeom prst="rect">
            <a:avLst/>
          </a:prstGeom>
          <a:noFill/>
          <a:ln/>
        </p:spPr>
        <p:txBody>
          <a:bodyPr wrap="square" lIns="0" tIns="0" rIns="0" bIns="0" rtlCol="0" anchor="ctr"/>
          <a:lstStyle/>
          <a:p>
            <a:pPr indent="0" marL="0">
              <a:buNone/>
            </a:pPr>
            <a:r>
              <a:rPr lang="en-US" sz="1250" dirty="0">
                <a:solidFill>
                  <a:srgbClr val="55657F"/>
                </a:solidFill>
                <a:latin typeface="Calibri" pitchFamily="34" charset="0"/>
                <a:ea typeface="Calibri" pitchFamily="34" charset="-122"/>
                <a:cs typeface="Calibri" pitchFamily="34" charset="-120"/>
              </a:rPr>
              <a:t>Tiếp cận được sinh viên, có review/báo dữ liệu sai; lan tỏa sẽ đo sau triển khai.</a:t>
            </a:r>
            <a:endParaRPr lang="en-US" sz="1250" dirty="0"/>
          </a:p>
        </p:txBody>
      </p:sp>
      <p:sp>
        <p:nvSpPr>
          <p:cNvPr id="27" name="Shape 25"/>
          <p:cNvSpPr/>
          <p:nvPr/>
        </p:nvSpPr>
        <p:spPr>
          <a:xfrm>
            <a:off x="548640" y="5394960"/>
            <a:ext cx="6583680"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8" name="Text 26"/>
          <p:cNvSpPr txBox="1"/>
          <p:nvPr/>
        </p:nvSpPr>
        <p:spPr>
          <a:xfrm>
            <a:off x="777240" y="5468112"/>
            <a:ext cx="2011680" cy="2743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Tính đo lường</a:t>
            </a:r>
            <a:endParaRPr lang="en-US" sz="1500" dirty="0"/>
          </a:p>
        </p:txBody>
      </p:sp>
      <p:sp>
        <p:nvSpPr>
          <p:cNvPr id="29" name="Shape 27"/>
          <p:cNvSpPr/>
          <p:nvPr/>
        </p:nvSpPr>
        <p:spPr>
          <a:xfrm>
            <a:off x="6309360" y="5486400"/>
            <a:ext cx="640080" cy="274320"/>
          </a:xfrm>
          <a:prstGeom prst="roundRect">
            <a:avLst>
              <a:gd name="adj" fmla="val 50000"/>
            </a:avLst>
          </a:prstGeom>
          <a:solidFill>
            <a:srgbClr val="0E8A7E"/>
          </a:solidFill>
          <a:ln/>
        </p:spPr>
      </p:sp>
      <p:sp>
        <p:nvSpPr>
          <p:cNvPr id="30" name="Text 28"/>
          <p:cNvSpPr txBox="1"/>
          <p:nvPr/>
        </p:nvSpPr>
        <p:spPr>
          <a:xfrm>
            <a:off x="6309360" y="5486400"/>
            <a:ext cx="6400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5/5</a:t>
            </a:r>
            <a:endParaRPr lang="en-US" sz="1200" dirty="0"/>
          </a:p>
        </p:txBody>
      </p:sp>
      <p:sp>
        <p:nvSpPr>
          <p:cNvPr id="31" name="Text 29"/>
          <p:cNvSpPr txBox="1"/>
          <p:nvPr/>
        </p:nvSpPr>
        <p:spPr>
          <a:xfrm>
            <a:off x="777240" y="5779008"/>
            <a:ext cx="6172200" cy="274320"/>
          </a:xfrm>
          <a:prstGeom prst="rect">
            <a:avLst/>
          </a:prstGeom>
          <a:noFill/>
          <a:ln/>
        </p:spPr>
        <p:txBody>
          <a:bodyPr wrap="square" lIns="0" tIns="0" rIns="0" bIns="0" rtlCol="0" anchor="ctr"/>
          <a:lstStyle/>
          <a:p>
            <a:pPr indent="0" marL="0">
              <a:buNone/>
            </a:pPr>
            <a:r>
              <a:rPr lang="en-US" sz="1250" dirty="0">
                <a:solidFill>
                  <a:srgbClr val="55657F"/>
                </a:solidFill>
                <a:latin typeface="Calibri" pitchFamily="34" charset="0"/>
                <a:ea typeface="Calibri" pitchFamily="34" charset="-122"/>
                <a:cs typeface="Calibri" pitchFamily="34" charset="-120"/>
              </a:rPr>
              <a:t>Nhiều chỉ số, ít nhất hai mốc: cuối tuần 1 và cuối tuần 3.</a:t>
            </a:r>
            <a:endParaRPr lang="en-US" sz="1250" dirty="0"/>
          </a:p>
        </p:txBody>
      </p:sp>
      <p:sp>
        <p:nvSpPr>
          <p:cNvPr id="32" name="Shape 30"/>
          <p:cNvSpPr/>
          <p:nvPr/>
        </p:nvSpPr>
        <p:spPr>
          <a:xfrm>
            <a:off x="7406640" y="2103120"/>
            <a:ext cx="4233672" cy="4023360"/>
          </a:xfrm>
          <a:prstGeom prst="roundRect">
            <a:avLst>
              <a:gd name="adj" fmla="val 3409"/>
            </a:avLst>
          </a:prstGeom>
          <a:solidFill>
            <a:srgbClr val="0B1B3A"/>
          </a:solidFill>
          <a:ln/>
        </p:spPr>
      </p:sp>
      <p:sp>
        <p:nvSpPr>
          <p:cNvPr id="33" name="Text 31"/>
          <p:cNvSpPr txBox="1"/>
          <p:nvPr/>
        </p:nvSpPr>
        <p:spPr>
          <a:xfrm>
            <a:off x="7680960" y="2194560"/>
            <a:ext cx="365760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18</a:t>
            </a:r>
            <a:pPr indent="0" marL="0">
              <a:buNone/>
            </a:pPr>
            <a:r>
              <a:rPr lang="en-US" sz="2800" b="1" dirty="0">
                <a:solidFill>
                  <a:srgbClr val="FF8A4C"/>
                </a:solidFill>
                <a:latin typeface="Arial" pitchFamily="34" charset="0"/>
                <a:ea typeface="Arial" pitchFamily="34" charset="-122"/>
                <a:cs typeface="Arial" pitchFamily="34" charset="-120"/>
              </a:rPr>
              <a:t> / 25</a:t>
            </a:r>
            <a:endParaRPr lang="en-US" sz="6000" dirty="0"/>
          </a:p>
        </p:txBody>
      </p:sp>
      <p:sp>
        <p:nvSpPr>
          <p:cNvPr id="34" name="Text 32"/>
          <p:cNvSpPr txBox="1"/>
          <p:nvPr/>
        </p:nvSpPr>
        <p:spPr>
          <a:xfrm>
            <a:off x="7680960" y="3108960"/>
            <a:ext cx="3657600" cy="274320"/>
          </a:xfrm>
          <a:prstGeom prst="rect">
            <a:avLst/>
          </a:prstGeom>
          <a:noFill/>
          <a:ln/>
        </p:spPr>
        <p:txBody>
          <a:bodyPr wrap="square" lIns="0" tIns="0" rIns="0" bIns="0" rtlCol="0" anchor="t"/>
          <a:lstStyle/>
          <a:p>
            <a:pPr indent="0" marL="0">
              <a:buNone/>
            </a:pPr>
            <a:r>
              <a:rPr lang="en-US" sz="1200" b="1" spc="200" kern="0" dirty="0">
                <a:solidFill>
                  <a:srgbClr val="3DD6C6"/>
                </a:solidFill>
                <a:latin typeface="Calibri" pitchFamily="34" charset="0"/>
                <a:ea typeface="Calibri" pitchFamily="34" charset="-122"/>
                <a:cs typeface="Calibri" pitchFamily="34" charset="-120"/>
              </a:rPr>
              <a:t>TỔNG ĐIỂM DỰ KIẾN</a:t>
            </a:r>
            <a:endParaRPr lang="en-US" sz="1200" dirty="0"/>
          </a:p>
        </p:txBody>
      </p:sp>
      <p:graphicFrame>
        <p:nvGraphicFramePr>
          <p:cNvPr id="35" name="Chart 0" descr=""/>
          <p:cNvGraphicFramePr/>
          <p:nvPr/>
        </p:nvGraphicFramePr>
        <p:xfrm>
          <a:off x="7589520" y="3429000"/>
          <a:ext cx="3886200" cy="260604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7" name="Text 34"/>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12 / 22</a:t>
            </a:r>
            <a:endParaRPr lang="en-US" sz="1000" dirty="0"/>
          </a:p>
        </p:txBody>
      </p:sp>
      <p:sp>
        <p:nvSpPr>
          <p:cNvPr id="38" name="TextBox 37"/>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9" name="TextBox 38"/>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12 / 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E4590F"/>
          </a:solidFill>
          <a:ln/>
        </p:spPr>
      </p:sp>
      <p:sp>
        <p:nvSpPr>
          <p:cNvPr id="3" name="Text 1"/>
          <p:cNvSpPr txBox="1"/>
          <p:nvPr/>
        </p:nvSpPr>
        <p:spPr>
          <a:xfrm>
            <a:off x="548640" y="3840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4" name="Text 2"/>
          <p:cNvSpPr txBox="1"/>
          <p:nvPr/>
        </p:nvSpPr>
        <p:spPr>
          <a:xfrm>
            <a:off x="1170432"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BƯỚC 7 / 7  ·  VIẾT MÔ TẢ DỰ ÁN</a:t>
            </a:r>
            <a:endParaRPr lang="en-US" sz="1300" dirty="0"/>
          </a:p>
        </p:txBody>
      </p:sp>
      <p:sp>
        <p:nvSpPr>
          <p:cNvPr id="5" name="Text 3"/>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Mô tả dự án FixNear</a:t>
            </a:r>
            <a:endParaRPr lang="en-US" sz="3200" dirty="0"/>
          </a:p>
        </p:txBody>
      </p:sp>
      <p:sp>
        <p:nvSpPr>
          <p:cNvPr id="6" name="Shape 4"/>
          <p:cNvSpPr/>
          <p:nvPr/>
        </p:nvSpPr>
        <p:spPr>
          <a:xfrm>
            <a:off x="548640" y="1783080"/>
            <a:ext cx="3545738" cy="2103120"/>
          </a:xfrm>
          <a:prstGeom prst="roundRect">
            <a:avLst>
              <a:gd name="adj" fmla="val 5217"/>
            </a:avLst>
          </a:prstGeom>
          <a:solidFill>
            <a:srgbClr val="0B1B3A"/>
          </a:solidFill>
          <a:ln/>
        </p:spPr>
      </p:sp>
      <p:sp>
        <p:nvSpPr>
          <p:cNvPr id="7" name="Text 5"/>
          <p:cNvSpPr txBox="1"/>
          <p:nvPr/>
        </p:nvSpPr>
        <p:spPr>
          <a:xfrm>
            <a:off x="822960" y="2011680"/>
            <a:ext cx="2997098"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TÊN DỰ ÁN</a:t>
            </a:r>
            <a:endParaRPr lang="en-US" sz="1200" dirty="0"/>
          </a:p>
        </p:txBody>
      </p:sp>
      <p:sp>
        <p:nvSpPr>
          <p:cNvPr id="8" name="Text 6"/>
          <p:cNvSpPr txBox="1"/>
          <p:nvPr/>
        </p:nvSpPr>
        <p:spPr>
          <a:xfrm>
            <a:off x="822960" y="2377440"/>
            <a:ext cx="2997098" cy="132588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FixNear — Website hỗ trợ sinh viên tìm nơi sửa laptop và điện thoại.</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“Hỏng đồ? Tìm đúng chỗ sửa.”</a:t>
            </a:r>
            <a:endParaRPr lang="en-US" sz="1600" dirty="0"/>
          </a:p>
        </p:txBody>
      </p:sp>
      <p:sp>
        <p:nvSpPr>
          <p:cNvPr id="9" name="Shape 7"/>
          <p:cNvSpPr/>
          <p:nvPr/>
        </p:nvSpPr>
        <p:spPr>
          <a:xfrm>
            <a:off x="4322978" y="1783080"/>
            <a:ext cx="3545738" cy="2103120"/>
          </a:xfrm>
          <a:prstGeom prst="roundRect">
            <a:avLst>
              <a:gd name="adj" fmla="val 5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0" name="Text 8"/>
          <p:cNvSpPr txBox="1"/>
          <p:nvPr/>
        </p:nvSpPr>
        <p:spPr>
          <a:xfrm>
            <a:off x="4597298" y="2011680"/>
            <a:ext cx="2997098"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LÝ DO CHỌN</a:t>
            </a:r>
            <a:endParaRPr lang="en-US" sz="1200" dirty="0"/>
          </a:p>
        </p:txBody>
      </p:sp>
      <p:sp>
        <p:nvSpPr>
          <p:cNvPr id="11" name="Text 9"/>
          <p:cNvSpPr txBox="1"/>
          <p:nvPr/>
        </p:nvSpPr>
        <p:spPr>
          <a:xfrm>
            <a:off x="4597298" y="2377440"/>
            <a:ext cx="2997098" cy="1325880"/>
          </a:xfrm>
          <a:prstGeom prst="rect">
            <a:avLst/>
          </a:prstGeom>
          <a:noFill/>
          <a:ln/>
        </p:spPr>
        <p:txBody>
          <a:bodyPr wrap="square" lIns="0" tIns="0" rIns="0" bIns="0" rtlCol="0" anchor="t"/>
          <a:lstStyle/>
          <a:p>
            <a:pPr indent="0" marL="0">
              <a:buNone/>
            </a:pPr>
            <a:r>
              <a:rPr lang="en-US" sz="1600" dirty="0">
                <a:solidFill>
                  <a:srgbClr val="0B1B3A"/>
                </a:solidFill>
                <a:latin typeface="Calibri" pitchFamily="34" charset="0"/>
                <a:ea typeface="Calibri" pitchFamily="34" charset="-122"/>
                <a:cs typeface="Calibri" pitchFamily="34" charset="-120"/>
              </a:rPr>
              <a:t>Thông tin nơi sửa, dịch vụ, giá, review và vị trí thường phân tán; nhóm muốn tạo một luồng tham khảo tập trung.</a:t>
            </a:r>
            <a:endParaRPr lang="en-US" sz="1600" dirty="0"/>
          </a:p>
        </p:txBody>
      </p:sp>
      <p:sp>
        <p:nvSpPr>
          <p:cNvPr id="12" name="Shape 10"/>
          <p:cNvSpPr/>
          <p:nvPr/>
        </p:nvSpPr>
        <p:spPr>
          <a:xfrm>
            <a:off x="8097317" y="1783080"/>
            <a:ext cx="3545738" cy="2103120"/>
          </a:xfrm>
          <a:prstGeom prst="roundRect">
            <a:avLst>
              <a:gd name="adj" fmla="val 5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3" name="Text 11"/>
          <p:cNvSpPr txBox="1"/>
          <p:nvPr/>
        </p:nvSpPr>
        <p:spPr>
          <a:xfrm>
            <a:off x="8371637" y="2011680"/>
            <a:ext cx="2997098"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MÔ TẢ</a:t>
            </a:r>
            <a:endParaRPr lang="en-US" sz="1200" dirty="0"/>
          </a:p>
        </p:txBody>
      </p:sp>
      <p:sp>
        <p:nvSpPr>
          <p:cNvPr id="14" name="Text 12"/>
          <p:cNvSpPr txBox="1"/>
          <p:nvPr/>
        </p:nvSpPr>
        <p:spPr>
          <a:xfrm>
            <a:off x="8371637" y="2377440"/>
            <a:ext cx="2997098" cy="1325880"/>
          </a:xfrm>
          <a:prstGeom prst="rect">
            <a:avLst/>
          </a:prstGeom>
          <a:noFill/>
          <a:ln/>
        </p:spPr>
        <p:txBody>
          <a:bodyPr wrap="square" lIns="0" tIns="0" rIns="0" bIns="0" rtlCol="0" anchor="t"/>
          <a:lstStyle/>
          <a:p>
            <a:pPr indent="0" marL="0">
              <a:buNone/>
            </a:pPr>
            <a:r>
              <a:rPr lang="en-US" sz="1600" dirty="0">
                <a:solidFill>
                  <a:srgbClr val="0B1B3A"/>
                </a:solidFill>
                <a:latin typeface="Calibri" pitchFamily="34" charset="0"/>
                <a:ea typeface="Calibri" pitchFamily="34" charset="-122"/>
                <a:cs typeface="Calibri" pitchFamily="34" charset="-120"/>
              </a:rPr>
              <a:t>Chọn thiết bị/lỗi → lọc theo khu vực → xem giá tham khảo, review, giờ hoạt động → xem bản đồ, khoảng cách, chỉ đường.</a:t>
            </a:r>
            <a:endParaRPr lang="en-US" sz="1600" dirty="0"/>
          </a:p>
        </p:txBody>
      </p:sp>
      <p:sp>
        <p:nvSpPr>
          <p:cNvPr id="15" name="Shape 13"/>
          <p:cNvSpPr/>
          <p:nvPr/>
        </p:nvSpPr>
        <p:spPr>
          <a:xfrm>
            <a:off x="548640" y="4069080"/>
            <a:ext cx="3545738" cy="2103120"/>
          </a:xfrm>
          <a:prstGeom prst="roundRect">
            <a:avLst>
              <a:gd name="adj" fmla="val 5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Text 14"/>
          <p:cNvSpPr txBox="1"/>
          <p:nvPr/>
        </p:nvSpPr>
        <p:spPr>
          <a:xfrm>
            <a:off x="822960" y="4297680"/>
            <a:ext cx="2997098"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MỤC TIÊU</a:t>
            </a:r>
            <a:endParaRPr lang="en-US" sz="1200" dirty="0"/>
          </a:p>
        </p:txBody>
      </p:sp>
      <p:sp>
        <p:nvSpPr>
          <p:cNvPr id="17" name="Text 15"/>
          <p:cNvSpPr txBox="1"/>
          <p:nvPr/>
        </p:nvSpPr>
        <p:spPr>
          <a:xfrm>
            <a:off x="822960" y="4663440"/>
            <a:ext cx="2997098" cy="1325880"/>
          </a:xfrm>
          <a:prstGeom prst="rect">
            <a:avLst/>
          </a:prstGeom>
          <a:noFill/>
          <a:ln/>
        </p:spPr>
        <p:txBody>
          <a:bodyPr wrap="square" lIns="0" tIns="0" rIns="0" bIns="0" rtlCol="0" anchor="t"/>
          <a:lstStyle/>
          <a:p>
            <a:pPr indent="0" marL="0">
              <a:buNone/>
            </a:pPr>
            <a:r>
              <a:rPr lang="en-US" sz="1600" dirty="0">
                <a:solidFill>
                  <a:srgbClr val="0B1B3A"/>
                </a:solidFill>
                <a:latin typeface="Calibri" pitchFamily="34" charset="0"/>
                <a:ea typeface="Calibri" pitchFamily="34" charset="-122"/>
                <a:cs typeface="Calibri" pitchFamily="34" charset="-120"/>
              </a:rPr>
              <a:t>Hoàn thành MVP 03 tuần; ≥ 10 cửa hàng; ≥ 10 người khảo sát; 01 vòng dùng thử; ≥ 06 chức năng cốt lõi.</a:t>
            </a:r>
            <a:endParaRPr lang="en-US" sz="1600" dirty="0"/>
          </a:p>
        </p:txBody>
      </p:sp>
      <p:sp>
        <p:nvSpPr>
          <p:cNvPr id="18" name="Shape 16"/>
          <p:cNvSpPr/>
          <p:nvPr/>
        </p:nvSpPr>
        <p:spPr>
          <a:xfrm>
            <a:off x="4322978" y="4069080"/>
            <a:ext cx="3545738" cy="2103120"/>
          </a:xfrm>
          <a:prstGeom prst="roundRect">
            <a:avLst>
              <a:gd name="adj" fmla="val 5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9" name="Text 17"/>
          <p:cNvSpPr txBox="1"/>
          <p:nvPr/>
        </p:nvSpPr>
        <p:spPr>
          <a:xfrm>
            <a:off x="4597298" y="4297680"/>
            <a:ext cx="2997098"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ĐỐI TƯỢNG THỤ HƯỞNG</a:t>
            </a:r>
            <a:endParaRPr lang="en-US" sz="1200" dirty="0"/>
          </a:p>
        </p:txBody>
      </p:sp>
      <p:sp>
        <p:nvSpPr>
          <p:cNvPr id="20" name="Text 18"/>
          <p:cNvSpPr txBox="1"/>
          <p:nvPr/>
        </p:nvSpPr>
        <p:spPr>
          <a:xfrm>
            <a:off x="4597298" y="4663440"/>
            <a:ext cx="2997098" cy="1325880"/>
          </a:xfrm>
          <a:prstGeom prst="rect">
            <a:avLst/>
          </a:prstGeom>
          <a:noFill/>
          <a:ln/>
        </p:spPr>
        <p:txBody>
          <a:bodyPr wrap="square" lIns="0" tIns="0" rIns="0" bIns="0" rtlCol="0" anchor="t"/>
          <a:lstStyle/>
          <a:p>
            <a:pPr indent="0" marL="0">
              <a:buNone/>
            </a:pPr>
            <a:r>
              <a:rPr lang="en-US" sz="1600" dirty="0">
                <a:solidFill>
                  <a:srgbClr val="0B1B3A"/>
                </a:solidFill>
                <a:latin typeface="Calibri" pitchFamily="34" charset="0"/>
                <a:ea typeface="Calibri" pitchFamily="34" charset="-122"/>
                <a:cs typeface="Calibri" pitchFamily="34" charset="-120"/>
              </a:rPr>
              <a:t>Sinh viên có nhu cầu sửa laptop/điện thoại. Liên quan: các cửa hàng sửa chữa quanh trường có thông tin được tổng hợp/xác minh.</a:t>
            </a:r>
            <a:endParaRPr lang="en-US" sz="1600" dirty="0"/>
          </a:p>
        </p:txBody>
      </p:sp>
      <p:sp>
        <p:nvSpPr>
          <p:cNvPr id="21" name="Shape 19"/>
          <p:cNvSpPr/>
          <p:nvPr/>
        </p:nvSpPr>
        <p:spPr>
          <a:xfrm>
            <a:off x="8097317" y="4069080"/>
            <a:ext cx="3545738" cy="2103120"/>
          </a:xfrm>
          <a:prstGeom prst="roundRect">
            <a:avLst>
              <a:gd name="adj" fmla="val 5217"/>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2" name="Text 20"/>
          <p:cNvSpPr txBox="1"/>
          <p:nvPr/>
        </p:nvSpPr>
        <p:spPr>
          <a:xfrm>
            <a:off x="8371637" y="4297680"/>
            <a:ext cx="2997098" cy="274320"/>
          </a:xfrm>
          <a:prstGeom prst="rect">
            <a:avLst/>
          </a:prstGeom>
          <a:noFill/>
          <a:ln/>
        </p:spPr>
        <p:txBody>
          <a:bodyPr wrap="square" lIns="0" tIns="0" rIns="0" bIns="0" rtlCol="0" anchor="t"/>
          <a:lstStyle/>
          <a:p>
            <a:pPr indent="0" marL="0">
              <a:buNone/>
            </a:pPr>
            <a:r>
              <a:rPr lang="en-US" sz="1200" b="1" spc="200" kern="0" dirty="0">
                <a:solidFill>
                  <a:srgbClr val="1E5AA8"/>
                </a:solidFill>
                <a:latin typeface="Calibri" pitchFamily="34" charset="0"/>
                <a:ea typeface="Calibri" pitchFamily="34" charset="-122"/>
                <a:cs typeface="Calibri" pitchFamily="34" charset="-120"/>
              </a:rPr>
              <a:t>KẾT QUẢ DỰ KIẾN</a:t>
            </a:r>
            <a:endParaRPr lang="en-US" sz="1200" dirty="0"/>
          </a:p>
        </p:txBody>
      </p:sp>
      <p:sp>
        <p:nvSpPr>
          <p:cNvPr id="23" name="Text 21"/>
          <p:cNvSpPr txBox="1"/>
          <p:nvPr/>
        </p:nvSpPr>
        <p:spPr>
          <a:xfrm>
            <a:off x="8371637" y="4663440"/>
            <a:ext cx="2997098" cy="1325880"/>
          </a:xfrm>
          <a:prstGeom prst="rect">
            <a:avLst/>
          </a:prstGeom>
          <a:noFill/>
          <a:ln/>
        </p:spPr>
        <p:txBody>
          <a:bodyPr wrap="square" lIns="0" tIns="0" rIns="0" bIns="0" rtlCol="0" anchor="t"/>
          <a:lstStyle/>
          <a:p>
            <a:pPr indent="0" marL="0">
              <a:buNone/>
            </a:pPr>
            <a:r>
              <a:rPr lang="en-US" sz="1600" dirty="0">
                <a:solidFill>
                  <a:srgbClr val="0B1B3A"/>
                </a:solidFill>
                <a:latin typeface="Calibri" pitchFamily="34" charset="0"/>
                <a:ea typeface="Calibri" pitchFamily="34" charset="-122"/>
                <a:cs typeface="Calibri" pitchFamily="34" charset="-120"/>
              </a:rPr>
              <a:t>Website chạy được, dữ liệu thật có nguồn/ngày cập nhật, kết quả khảo sát, feedback dùng thử và bộ minh chứng.</a:t>
            </a:r>
            <a:endParaRPr lang="en-US" sz="1600" dirty="0"/>
          </a:p>
        </p:txBody>
      </p:sp>
      <p:sp>
        <p:nvSpPr>
          <p:cNvPr id="24" name="Text 22"/>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25" name="Text 23"/>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13 / 22</a:t>
            </a:r>
            <a:endParaRPr lang="en-US" sz="1000" dirty="0"/>
          </a:p>
        </p:txBody>
      </p:sp>
      <p:sp>
        <p:nvSpPr>
          <p:cNvPr id="26" name="TextBox 2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7" name="TextBox 2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13 / 27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MỤC TIÊU DỰ ÁN</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Mục tiêu SMART của dự án</a:t>
            </a:r>
            <a:endParaRPr lang="en-US" sz="3200" dirty="0"/>
          </a:p>
        </p:txBody>
      </p:sp>
      <p:sp>
        <p:nvSpPr>
          <p:cNvPr id="4" name="Text 2"/>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Mục tiêu chính: hoàn thành website MVP FixNear cho sinh viên trong 03 tuần.</a:t>
            </a:r>
            <a:endParaRPr lang="en-US" sz="1600" dirty="0"/>
          </a:p>
        </p:txBody>
      </p:sp>
      <p:sp>
        <p:nvSpPr>
          <p:cNvPr id="5" name="Shape 3"/>
          <p:cNvSpPr/>
          <p:nvPr/>
        </p:nvSpPr>
        <p:spPr>
          <a:xfrm>
            <a:off x="548640" y="2103120"/>
            <a:ext cx="11094415"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6" name="Shape 4"/>
          <p:cNvSpPr/>
          <p:nvPr/>
        </p:nvSpPr>
        <p:spPr>
          <a:xfrm>
            <a:off x="777240" y="2194560"/>
            <a:ext cx="548640" cy="548640"/>
          </a:xfrm>
          <a:prstGeom prst="ellipse">
            <a:avLst/>
          </a:prstGeom>
          <a:solidFill>
            <a:srgbClr val="E4590F"/>
          </a:solidFill>
          <a:ln/>
        </p:spPr>
      </p:sp>
      <p:sp>
        <p:nvSpPr>
          <p:cNvPr id="7" name="Text 5"/>
          <p:cNvSpPr txBox="1"/>
          <p:nvPr/>
        </p:nvSpPr>
        <p:spPr>
          <a:xfrm>
            <a:off x="777240" y="21945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S</a:t>
            </a:r>
            <a:endParaRPr lang="en-US" sz="2200" dirty="0"/>
          </a:p>
        </p:txBody>
      </p:sp>
      <p:sp>
        <p:nvSpPr>
          <p:cNvPr id="8" name="Text 6"/>
          <p:cNvSpPr txBox="1"/>
          <p:nvPr/>
        </p:nvSpPr>
        <p:spPr>
          <a:xfrm>
            <a:off x="1554480" y="2103120"/>
            <a:ext cx="1737360" cy="7315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Specific</a:t>
            </a:r>
            <a:endParaRPr lang="en-US" sz="1500" dirty="0"/>
          </a:p>
          <a:p>
            <a:pPr indent="0" marL="0">
              <a:buNone/>
            </a:pPr>
            <a:r>
              <a:rPr lang="en-US" sz="1200" dirty="0">
                <a:solidFill>
                  <a:srgbClr val="55657F"/>
                </a:solidFill>
                <a:latin typeface="Calibri" pitchFamily="34" charset="0"/>
                <a:ea typeface="Calibri" pitchFamily="34" charset="-122"/>
                <a:cs typeface="Calibri" pitchFamily="34" charset="-120"/>
              </a:rPr>
              <a:t>Cụ thể</a:t>
            </a:r>
            <a:endParaRPr lang="en-US" sz="1500" dirty="0"/>
          </a:p>
        </p:txBody>
      </p:sp>
      <p:sp>
        <p:nvSpPr>
          <p:cNvPr id="9" name="Text 7"/>
          <p:cNvSpPr txBox="1"/>
          <p:nvPr/>
        </p:nvSpPr>
        <p:spPr>
          <a:xfrm>
            <a:off x="3520440" y="2103120"/>
            <a:ext cx="7863840" cy="73152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Website MVP cho phép sinh viên tìm cửa hàng sửa laptop/điện thoại theo thiết bị/lỗi, xem thông tin cửa hàng, giá tham khảo, review và chỉ đường.</a:t>
            </a:r>
            <a:endParaRPr lang="en-US" sz="1400" dirty="0"/>
          </a:p>
        </p:txBody>
      </p:sp>
      <p:sp>
        <p:nvSpPr>
          <p:cNvPr id="10" name="Shape 8"/>
          <p:cNvSpPr/>
          <p:nvPr/>
        </p:nvSpPr>
        <p:spPr>
          <a:xfrm>
            <a:off x="548640" y="2926080"/>
            <a:ext cx="11094415"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777240" y="3017520"/>
            <a:ext cx="548640" cy="548640"/>
          </a:xfrm>
          <a:prstGeom prst="ellipse">
            <a:avLst/>
          </a:prstGeom>
          <a:solidFill>
            <a:srgbClr val="E4590F"/>
          </a:solidFill>
          <a:ln/>
        </p:spPr>
      </p:sp>
      <p:sp>
        <p:nvSpPr>
          <p:cNvPr id="12" name="Text 10"/>
          <p:cNvSpPr txBox="1"/>
          <p:nvPr/>
        </p:nvSpPr>
        <p:spPr>
          <a:xfrm>
            <a:off x="777240" y="3017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M</a:t>
            </a:r>
            <a:endParaRPr lang="en-US" sz="2200" dirty="0"/>
          </a:p>
        </p:txBody>
      </p:sp>
      <p:sp>
        <p:nvSpPr>
          <p:cNvPr id="13" name="Text 11"/>
          <p:cNvSpPr txBox="1"/>
          <p:nvPr/>
        </p:nvSpPr>
        <p:spPr>
          <a:xfrm>
            <a:off x="1554480" y="2926080"/>
            <a:ext cx="1737360" cy="7315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Measurable</a:t>
            </a:r>
            <a:endParaRPr lang="en-US" sz="1500" dirty="0"/>
          </a:p>
          <a:p>
            <a:pPr indent="0" marL="0">
              <a:buNone/>
            </a:pPr>
            <a:r>
              <a:rPr lang="en-US" sz="1200" dirty="0">
                <a:solidFill>
                  <a:srgbClr val="55657F"/>
                </a:solidFill>
                <a:latin typeface="Calibri" pitchFamily="34" charset="0"/>
                <a:ea typeface="Calibri" pitchFamily="34" charset="-122"/>
                <a:cs typeface="Calibri" pitchFamily="34" charset="-120"/>
              </a:rPr>
              <a:t>Đo lường</a:t>
            </a:r>
            <a:endParaRPr lang="en-US" sz="1500" dirty="0"/>
          </a:p>
        </p:txBody>
      </p:sp>
      <p:sp>
        <p:nvSpPr>
          <p:cNvPr id="14" name="Text 12"/>
          <p:cNvSpPr txBox="1"/>
          <p:nvPr/>
        </p:nvSpPr>
        <p:spPr>
          <a:xfrm>
            <a:off x="3520440" y="2926080"/>
            <a:ext cx="7863840" cy="73152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Tối thiểu 10 cửa hàng; tối thiểu 10 người thuộc nhóm đối tượng khảo sát nhanh; ít nhất 06 chức năng cốt lõi; ít nhất 01 vòng dùng thử.</a:t>
            </a:r>
            <a:endParaRPr lang="en-US" sz="1400" dirty="0"/>
          </a:p>
        </p:txBody>
      </p:sp>
      <p:sp>
        <p:nvSpPr>
          <p:cNvPr id="15" name="Shape 13"/>
          <p:cNvSpPr/>
          <p:nvPr/>
        </p:nvSpPr>
        <p:spPr>
          <a:xfrm>
            <a:off x="548640" y="3749040"/>
            <a:ext cx="11094415"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777240" y="3840480"/>
            <a:ext cx="548640" cy="548640"/>
          </a:xfrm>
          <a:prstGeom prst="ellipse">
            <a:avLst/>
          </a:prstGeom>
          <a:solidFill>
            <a:srgbClr val="E4590F"/>
          </a:solidFill>
          <a:ln/>
        </p:spPr>
      </p:sp>
      <p:sp>
        <p:nvSpPr>
          <p:cNvPr id="17" name="Text 15"/>
          <p:cNvSpPr txBox="1"/>
          <p:nvPr/>
        </p:nvSpPr>
        <p:spPr>
          <a:xfrm>
            <a:off x="777240" y="38404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18" name="Text 16"/>
          <p:cNvSpPr txBox="1"/>
          <p:nvPr/>
        </p:nvSpPr>
        <p:spPr>
          <a:xfrm>
            <a:off x="1554480" y="3749040"/>
            <a:ext cx="1737360" cy="7315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Attainable</a:t>
            </a:r>
            <a:endParaRPr lang="en-US" sz="1500" dirty="0"/>
          </a:p>
          <a:p>
            <a:pPr indent="0" marL="0">
              <a:buNone/>
            </a:pPr>
            <a:r>
              <a:rPr lang="en-US" sz="1200" dirty="0">
                <a:solidFill>
                  <a:srgbClr val="55657F"/>
                </a:solidFill>
                <a:latin typeface="Calibri" pitchFamily="34" charset="0"/>
                <a:ea typeface="Calibri" pitchFamily="34" charset="-122"/>
                <a:cs typeface="Calibri" pitchFamily="34" charset="-120"/>
              </a:rPr>
              <a:t>Khả thi</a:t>
            </a:r>
            <a:endParaRPr lang="en-US" sz="1500" dirty="0"/>
          </a:p>
        </p:txBody>
      </p:sp>
      <p:sp>
        <p:nvSpPr>
          <p:cNvPr id="19" name="Text 17"/>
          <p:cNvSpPr txBox="1"/>
          <p:nvPr/>
        </p:nvSpPr>
        <p:spPr>
          <a:xfrm>
            <a:off x="3520440" y="3749040"/>
            <a:ext cx="7863840" cy="73152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05 thành viên; giới hạn dữ liệu, thiết bị, khu vực, chức năng; không tích hợp thanh toán, chat, AI hay app mobile.</a:t>
            </a:r>
            <a:endParaRPr lang="en-US" sz="1400" dirty="0"/>
          </a:p>
        </p:txBody>
      </p:sp>
      <p:sp>
        <p:nvSpPr>
          <p:cNvPr id="20" name="Shape 18"/>
          <p:cNvSpPr/>
          <p:nvPr/>
        </p:nvSpPr>
        <p:spPr>
          <a:xfrm>
            <a:off x="548640" y="4572000"/>
            <a:ext cx="11094415"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1" name="Shape 19"/>
          <p:cNvSpPr/>
          <p:nvPr/>
        </p:nvSpPr>
        <p:spPr>
          <a:xfrm>
            <a:off x="777240" y="4663440"/>
            <a:ext cx="548640" cy="548640"/>
          </a:xfrm>
          <a:prstGeom prst="ellipse">
            <a:avLst/>
          </a:prstGeom>
          <a:solidFill>
            <a:srgbClr val="E4590F"/>
          </a:solidFill>
          <a:ln/>
        </p:spPr>
      </p:sp>
      <p:sp>
        <p:nvSpPr>
          <p:cNvPr id="22" name="Text 20"/>
          <p:cNvSpPr txBox="1"/>
          <p:nvPr/>
        </p:nvSpPr>
        <p:spPr>
          <a:xfrm>
            <a:off x="777240" y="46634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a:t>
            </a:r>
            <a:endParaRPr lang="en-US" sz="2200" dirty="0"/>
          </a:p>
        </p:txBody>
      </p:sp>
      <p:sp>
        <p:nvSpPr>
          <p:cNvPr id="23" name="Text 21"/>
          <p:cNvSpPr txBox="1"/>
          <p:nvPr/>
        </p:nvSpPr>
        <p:spPr>
          <a:xfrm>
            <a:off x="1554480" y="4572000"/>
            <a:ext cx="1737360" cy="7315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Relevant</a:t>
            </a:r>
            <a:endParaRPr lang="en-US" sz="1500" dirty="0"/>
          </a:p>
          <a:p>
            <a:pPr indent="0" marL="0">
              <a:buNone/>
            </a:pPr>
            <a:r>
              <a:rPr lang="en-US" sz="1200" dirty="0">
                <a:solidFill>
                  <a:srgbClr val="55657F"/>
                </a:solidFill>
                <a:latin typeface="Calibri" pitchFamily="34" charset="0"/>
                <a:ea typeface="Calibri" pitchFamily="34" charset="-122"/>
                <a:cs typeface="Calibri" pitchFamily="34" charset="-120"/>
              </a:rPr>
              <a:t>Phù hợp</a:t>
            </a:r>
            <a:endParaRPr lang="en-US" sz="1500" dirty="0"/>
          </a:p>
        </p:txBody>
      </p:sp>
      <p:sp>
        <p:nvSpPr>
          <p:cNvPr id="24" name="Text 22"/>
          <p:cNvSpPr txBox="1"/>
          <p:nvPr/>
        </p:nvSpPr>
        <p:spPr>
          <a:xfrm>
            <a:off x="3520440" y="4572000"/>
            <a:ext cx="7863840" cy="73152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Gắn trực tiếp với khó khăn khi cần tìm nơi sửa thiết bị và phù hợp chuyên môn phát triển web của nhóm.</a:t>
            </a:r>
            <a:endParaRPr lang="en-US" sz="1400" dirty="0"/>
          </a:p>
        </p:txBody>
      </p:sp>
      <p:sp>
        <p:nvSpPr>
          <p:cNvPr id="25" name="Shape 23"/>
          <p:cNvSpPr/>
          <p:nvPr/>
        </p:nvSpPr>
        <p:spPr>
          <a:xfrm>
            <a:off x="548640" y="5394960"/>
            <a:ext cx="11094415" cy="731520"/>
          </a:xfrm>
          <a:prstGeom prst="roundRect">
            <a:avLst>
              <a:gd name="adj" fmla="val 15000"/>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6" name="Shape 24"/>
          <p:cNvSpPr/>
          <p:nvPr/>
        </p:nvSpPr>
        <p:spPr>
          <a:xfrm>
            <a:off x="777240" y="5486400"/>
            <a:ext cx="548640" cy="548640"/>
          </a:xfrm>
          <a:prstGeom prst="ellipse">
            <a:avLst/>
          </a:prstGeom>
          <a:solidFill>
            <a:srgbClr val="E4590F"/>
          </a:solidFill>
          <a:ln/>
        </p:spPr>
      </p:sp>
      <p:sp>
        <p:nvSpPr>
          <p:cNvPr id="27" name="Text 25"/>
          <p:cNvSpPr txBox="1"/>
          <p:nvPr/>
        </p:nvSpPr>
        <p:spPr>
          <a:xfrm>
            <a:off x="777240" y="5486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a:t>
            </a:r>
            <a:endParaRPr lang="en-US" sz="2200" dirty="0"/>
          </a:p>
        </p:txBody>
      </p:sp>
      <p:sp>
        <p:nvSpPr>
          <p:cNvPr id="28" name="Text 26"/>
          <p:cNvSpPr txBox="1"/>
          <p:nvPr/>
        </p:nvSpPr>
        <p:spPr>
          <a:xfrm>
            <a:off x="1554480" y="5394960"/>
            <a:ext cx="1737360" cy="73152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Time-bound</a:t>
            </a:r>
            <a:endParaRPr lang="en-US" sz="1500" dirty="0"/>
          </a:p>
          <a:p>
            <a:pPr indent="0" marL="0">
              <a:buNone/>
            </a:pPr>
            <a:r>
              <a:rPr lang="en-US" sz="1200" dirty="0">
                <a:solidFill>
                  <a:srgbClr val="55657F"/>
                </a:solidFill>
                <a:latin typeface="Calibri" pitchFamily="34" charset="0"/>
                <a:ea typeface="Calibri" pitchFamily="34" charset="-122"/>
                <a:cs typeface="Calibri" pitchFamily="34" charset="-120"/>
              </a:rPr>
              <a:t>Có thời hạn</a:t>
            </a:r>
            <a:endParaRPr lang="en-US" sz="1500" dirty="0"/>
          </a:p>
        </p:txBody>
      </p:sp>
      <p:sp>
        <p:nvSpPr>
          <p:cNvPr id="29" name="Text 27"/>
          <p:cNvSpPr txBox="1"/>
          <p:nvPr/>
        </p:nvSpPr>
        <p:spPr>
          <a:xfrm>
            <a:off x="3520440" y="5394960"/>
            <a:ext cx="7863840" cy="731520"/>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Hoàn thành khảo sát, dữ liệu, MVP, dùng thử và báo cáo trong 03 tuần.</a:t>
            </a:r>
            <a:endParaRPr lang="en-US" sz="1400" dirty="0"/>
          </a:p>
        </p:txBody>
      </p:sp>
      <p:sp>
        <p:nvSpPr>
          <p:cNvPr id="30" name="Text 28"/>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1" name="Text 29"/>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14 / 22</a:t>
            </a:r>
            <a:endParaRPr lang="en-US" sz="1000" dirty="0"/>
          </a:p>
        </p:txBody>
      </p:sp>
      <p:sp>
        <p:nvSpPr>
          <p:cNvPr id="32" name="TextBox 31"/>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3" name="TextBox 32"/>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14 / 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Ý TƯỞNG DỰ ÁN</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Ý tưởng dự án theo 5W1H</a:t>
            </a:r>
            <a:endParaRPr lang="en-US" sz="3200" dirty="0"/>
          </a:p>
        </p:txBody>
      </p:sp>
      <p:sp>
        <p:nvSpPr>
          <p:cNvPr id="4" name="Shape 2"/>
          <p:cNvSpPr/>
          <p:nvPr/>
        </p:nvSpPr>
        <p:spPr>
          <a:xfrm>
            <a:off x="548640"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77240" y="2057400"/>
            <a:ext cx="640080" cy="640080"/>
          </a:xfrm>
          <a:prstGeom prst="ellipse">
            <a:avLst/>
          </a:prstGeom>
          <a:solidFill>
            <a:srgbClr val="0B1B3A"/>
          </a:solidFill>
          <a:ln/>
        </p:spPr>
      </p:sp>
      <p:pic>
        <p:nvPicPr>
          <p:cNvPr id="6" name="Image 0" descr="preencoded.png">    </p:cNvPr>
          <p:cNvPicPr>
            <a:picLocks noChangeAspect="1"/>
          </p:cNvPicPr>
          <p:nvPr/>
        </p:nvPicPr>
        <p:blipFill>
          <a:blip r:embed="rId1"/>
          <a:stretch>
            <a:fillRect/>
          </a:stretch>
        </p:blipFill>
        <p:spPr>
          <a:xfrm>
            <a:off x="937260" y="2217420"/>
            <a:ext cx="320040" cy="320040"/>
          </a:xfrm>
          <a:prstGeom prst="rect">
            <a:avLst/>
          </a:prstGeom>
        </p:spPr>
      </p:pic>
      <p:sp>
        <p:nvSpPr>
          <p:cNvPr id="7" name="Text 4"/>
          <p:cNvSpPr txBox="1"/>
          <p:nvPr/>
        </p:nvSpPr>
        <p:spPr>
          <a:xfrm>
            <a:off x="777240"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WHAT</a:t>
            </a:r>
            <a:endParaRPr lang="en-US" sz="2400" dirty="0"/>
          </a:p>
        </p:txBody>
      </p:sp>
      <p:sp>
        <p:nvSpPr>
          <p:cNvPr id="8" name="Text 5"/>
          <p:cNvSpPr txBox="1"/>
          <p:nvPr/>
        </p:nvSpPr>
        <p:spPr>
          <a:xfrm>
            <a:off x="777240"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Làm gì?</a:t>
            </a:r>
            <a:endParaRPr lang="en-US" sz="1300" dirty="0"/>
          </a:p>
        </p:txBody>
      </p:sp>
      <p:sp>
        <p:nvSpPr>
          <p:cNvPr id="9" name="Text 6"/>
          <p:cNvSpPr txBox="1"/>
          <p:nvPr/>
        </p:nvSpPr>
        <p:spPr>
          <a:xfrm>
            <a:off x="777240"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Xây dựng MVP website FixNear và bộ dữ liệu cửa hàng sửa laptop/điện thoại.</a:t>
            </a:r>
            <a:endParaRPr lang="en-US" sz="1500" dirty="0"/>
          </a:p>
        </p:txBody>
      </p:sp>
      <p:sp>
        <p:nvSpPr>
          <p:cNvPr id="10" name="Shape 7"/>
          <p:cNvSpPr/>
          <p:nvPr/>
        </p:nvSpPr>
        <p:spPr>
          <a:xfrm>
            <a:off x="2422093"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8"/>
          <p:cNvSpPr/>
          <p:nvPr/>
        </p:nvSpPr>
        <p:spPr>
          <a:xfrm>
            <a:off x="2650693" y="2057400"/>
            <a:ext cx="640080" cy="640080"/>
          </a:xfrm>
          <a:prstGeom prst="ellipse">
            <a:avLst/>
          </a:prstGeom>
          <a:solidFill>
            <a:srgbClr val="0B1B3A"/>
          </a:solidFill>
          <a:ln/>
        </p:spPr>
      </p:sp>
      <p:pic>
        <p:nvPicPr>
          <p:cNvPr id="12" name="Image 1" descr="preencoded.png">    </p:cNvPr>
          <p:cNvPicPr>
            <a:picLocks noChangeAspect="1"/>
          </p:cNvPicPr>
          <p:nvPr/>
        </p:nvPicPr>
        <p:blipFill>
          <a:blip r:embed="rId2"/>
          <a:stretch>
            <a:fillRect/>
          </a:stretch>
        </p:blipFill>
        <p:spPr>
          <a:xfrm>
            <a:off x="2810713" y="2217420"/>
            <a:ext cx="320040" cy="320040"/>
          </a:xfrm>
          <a:prstGeom prst="rect">
            <a:avLst/>
          </a:prstGeom>
        </p:spPr>
      </p:pic>
      <p:sp>
        <p:nvSpPr>
          <p:cNvPr id="13" name="Text 9"/>
          <p:cNvSpPr txBox="1"/>
          <p:nvPr/>
        </p:nvSpPr>
        <p:spPr>
          <a:xfrm>
            <a:off x="2650693"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WHO</a:t>
            </a:r>
            <a:endParaRPr lang="en-US" sz="2400" dirty="0"/>
          </a:p>
        </p:txBody>
      </p:sp>
      <p:sp>
        <p:nvSpPr>
          <p:cNvPr id="14" name="Text 10"/>
          <p:cNvSpPr txBox="1"/>
          <p:nvPr/>
        </p:nvSpPr>
        <p:spPr>
          <a:xfrm>
            <a:off x="2650693"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Cho ai?</a:t>
            </a:r>
            <a:endParaRPr lang="en-US" sz="1300" dirty="0"/>
          </a:p>
        </p:txBody>
      </p:sp>
      <p:sp>
        <p:nvSpPr>
          <p:cNvPr id="15" name="Text 11"/>
          <p:cNvSpPr txBox="1"/>
          <p:nvPr/>
        </p:nvSpPr>
        <p:spPr>
          <a:xfrm>
            <a:off x="2650693"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Sinh viên là người dùng chính; nhóm FIXNEAR là nhóm thực hiện.</a:t>
            </a:r>
            <a:endParaRPr lang="en-US" sz="1500" dirty="0"/>
          </a:p>
        </p:txBody>
      </p:sp>
      <p:sp>
        <p:nvSpPr>
          <p:cNvPr id="16" name="Shape 12"/>
          <p:cNvSpPr/>
          <p:nvPr/>
        </p:nvSpPr>
        <p:spPr>
          <a:xfrm>
            <a:off x="4295546"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4524146" y="2057400"/>
            <a:ext cx="640080" cy="640080"/>
          </a:xfrm>
          <a:prstGeom prst="ellipse">
            <a:avLst/>
          </a:prstGeom>
          <a:solidFill>
            <a:srgbClr val="0B1B3A"/>
          </a:solidFill>
          <a:ln/>
        </p:spPr>
      </p:sp>
      <p:pic>
        <p:nvPicPr>
          <p:cNvPr id="18" name="Image 2" descr="preencoded.png">    </p:cNvPr>
          <p:cNvPicPr>
            <a:picLocks noChangeAspect="1"/>
          </p:cNvPicPr>
          <p:nvPr/>
        </p:nvPicPr>
        <p:blipFill>
          <a:blip r:embed="rId3"/>
          <a:stretch>
            <a:fillRect/>
          </a:stretch>
        </p:blipFill>
        <p:spPr>
          <a:xfrm>
            <a:off x="4684166" y="2217420"/>
            <a:ext cx="320040" cy="320040"/>
          </a:xfrm>
          <a:prstGeom prst="rect">
            <a:avLst/>
          </a:prstGeom>
        </p:spPr>
      </p:pic>
      <p:sp>
        <p:nvSpPr>
          <p:cNvPr id="19" name="Text 14"/>
          <p:cNvSpPr txBox="1"/>
          <p:nvPr/>
        </p:nvSpPr>
        <p:spPr>
          <a:xfrm>
            <a:off x="4524146"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WHY</a:t>
            </a:r>
            <a:endParaRPr lang="en-US" sz="2400" dirty="0"/>
          </a:p>
        </p:txBody>
      </p:sp>
      <p:sp>
        <p:nvSpPr>
          <p:cNvPr id="20" name="Text 15"/>
          <p:cNvSpPr txBox="1"/>
          <p:nvPr/>
        </p:nvSpPr>
        <p:spPr>
          <a:xfrm>
            <a:off x="4524146"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Vì sao?</a:t>
            </a:r>
            <a:endParaRPr lang="en-US" sz="1300" dirty="0"/>
          </a:p>
        </p:txBody>
      </p:sp>
      <p:sp>
        <p:nvSpPr>
          <p:cNvPr id="21" name="Text 16"/>
          <p:cNvSpPr txBox="1"/>
          <p:nvPr/>
        </p:nvSpPr>
        <p:spPr>
          <a:xfrm>
            <a:off x="4524146"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Giảm thời gian tìm thông tin phân tán; có thêm dữ liệu tham khảo trước khi chọn nơi sửa.</a:t>
            </a:r>
            <a:endParaRPr lang="en-US" sz="1500" dirty="0"/>
          </a:p>
        </p:txBody>
      </p:sp>
      <p:sp>
        <p:nvSpPr>
          <p:cNvPr id="22" name="Shape 17"/>
          <p:cNvSpPr/>
          <p:nvPr/>
        </p:nvSpPr>
        <p:spPr>
          <a:xfrm>
            <a:off x="6169000"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3" name="Shape 18"/>
          <p:cNvSpPr/>
          <p:nvPr/>
        </p:nvSpPr>
        <p:spPr>
          <a:xfrm>
            <a:off x="6397600" y="2057400"/>
            <a:ext cx="640080" cy="640080"/>
          </a:xfrm>
          <a:prstGeom prst="ellipse">
            <a:avLst/>
          </a:prstGeom>
          <a:solidFill>
            <a:srgbClr val="0B1B3A"/>
          </a:solidFill>
          <a:ln/>
        </p:spPr>
      </p:sp>
      <p:pic>
        <p:nvPicPr>
          <p:cNvPr id="24" name="Image 3" descr="preencoded.png">    </p:cNvPr>
          <p:cNvPicPr>
            <a:picLocks noChangeAspect="1"/>
          </p:cNvPicPr>
          <p:nvPr/>
        </p:nvPicPr>
        <p:blipFill>
          <a:blip r:embed="rId4"/>
          <a:stretch>
            <a:fillRect/>
          </a:stretch>
        </p:blipFill>
        <p:spPr>
          <a:xfrm>
            <a:off x="6557620" y="2217420"/>
            <a:ext cx="320040" cy="320040"/>
          </a:xfrm>
          <a:prstGeom prst="rect">
            <a:avLst/>
          </a:prstGeom>
        </p:spPr>
      </p:pic>
      <p:sp>
        <p:nvSpPr>
          <p:cNvPr id="25" name="Text 19"/>
          <p:cNvSpPr txBox="1"/>
          <p:nvPr/>
        </p:nvSpPr>
        <p:spPr>
          <a:xfrm>
            <a:off x="6397600"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WHEN</a:t>
            </a:r>
            <a:endParaRPr lang="en-US" sz="2400" dirty="0"/>
          </a:p>
        </p:txBody>
      </p:sp>
      <p:sp>
        <p:nvSpPr>
          <p:cNvPr id="26" name="Text 20"/>
          <p:cNvSpPr txBox="1"/>
          <p:nvPr/>
        </p:nvSpPr>
        <p:spPr>
          <a:xfrm>
            <a:off x="6397600"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Khi nào?</a:t>
            </a:r>
            <a:endParaRPr lang="en-US" sz="1300" dirty="0"/>
          </a:p>
        </p:txBody>
      </p:sp>
      <p:sp>
        <p:nvSpPr>
          <p:cNvPr id="27" name="Text 21"/>
          <p:cNvSpPr txBox="1"/>
          <p:nvPr/>
        </p:nvSpPr>
        <p:spPr>
          <a:xfrm>
            <a:off x="6397600"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03 tuần triển khai.</a:t>
            </a:r>
            <a:endParaRPr lang="en-US" sz="1500" dirty="0"/>
          </a:p>
        </p:txBody>
      </p:sp>
      <p:sp>
        <p:nvSpPr>
          <p:cNvPr id="28" name="Shape 22"/>
          <p:cNvSpPr/>
          <p:nvPr/>
        </p:nvSpPr>
        <p:spPr>
          <a:xfrm>
            <a:off x="8042453"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9" name="Shape 23"/>
          <p:cNvSpPr/>
          <p:nvPr/>
        </p:nvSpPr>
        <p:spPr>
          <a:xfrm>
            <a:off x="8271053" y="2057400"/>
            <a:ext cx="640080" cy="640080"/>
          </a:xfrm>
          <a:prstGeom prst="ellipse">
            <a:avLst/>
          </a:prstGeom>
          <a:solidFill>
            <a:srgbClr val="0B1B3A"/>
          </a:solidFill>
          <a:ln/>
        </p:spPr>
      </p:sp>
      <p:pic>
        <p:nvPicPr>
          <p:cNvPr id="30" name="Image 4" descr="preencoded.png">    </p:cNvPr>
          <p:cNvPicPr>
            <a:picLocks noChangeAspect="1"/>
          </p:cNvPicPr>
          <p:nvPr/>
        </p:nvPicPr>
        <p:blipFill>
          <a:blip r:embed="rId5"/>
          <a:stretch>
            <a:fillRect/>
          </a:stretch>
        </p:blipFill>
        <p:spPr>
          <a:xfrm>
            <a:off x="8431073" y="2217420"/>
            <a:ext cx="320040" cy="320040"/>
          </a:xfrm>
          <a:prstGeom prst="rect">
            <a:avLst/>
          </a:prstGeom>
        </p:spPr>
      </p:pic>
      <p:sp>
        <p:nvSpPr>
          <p:cNvPr id="31" name="Text 24"/>
          <p:cNvSpPr txBox="1"/>
          <p:nvPr/>
        </p:nvSpPr>
        <p:spPr>
          <a:xfrm>
            <a:off x="8271053"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WHERE</a:t>
            </a:r>
            <a:endParaRPr lang="en-US" sz="2400" dirty="0"/>
          </a:p>
        </p:txBody>
      </p:sp>
      <p:sp>
        <p:nvSpPr>
          <p:cNvPr id="32" name="Text 25"/>
          <p:cNvSpPr txBox="1"/>
          <p:nvPr/>
        </p:nvSpPr>
        <p:spPr>
          <a:xfrm>
            <a:off x="8271053"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Ở đâu?</a:t>
            </a:r>
            <a:endParaRPr lang="en-US" sz="1300" dirty="0"/>
          </a:p>
        </p:txBody>
      </p:sp>
      <p:sp>
        <p:nvSpPr>
          <p:cNvPr id="33" name="Text 26"/>
          <p:cNvSpPr txBox="1"/>
          <p:nvPr/>
        </p:nvSpPr>
        <p:spPr>
          <a:xfrm>
            <a:off x="8271053"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Quanh trường và các khu sinh viên ở (lọc nhiều khu vực); chạy trên trình duyệt.</a:t>
            </a:r>
            <a:endParaRPr lang="en-US" sz="1500" dirty="0"/>
          </a:p>
        </p:txBody>
      </p:sp>
      <p:sp>
        <p:nvSpPr>
          <p:cNvPr id="34" name="Shape 27"/>
          <p:cNvSpPr/>
          <p:nvPr/>
        </p:nvSpPr>
        <p:spPr>
          <a:xfrm>
            <a:off x="9915906" y="1783080"/>
            <a:ext cx="1727149" cy="4114800"/>
          </a:xfrm>
          <a:prstGeom prst="roundRect">
            <a:avLst>
              <a:gd name="adj" fmla="val 6353"/>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5" name="Shape 28"/>
          <p:cNvSpPr/>
          <p:nvPr/>
        </p:nvSpPr>
        <p:spPr>
          <a:xfrm>
            <a:off x="10144506" y="2057400"/>
            <a:ext cx="640080" cy="640080"/>
          </a:xfrm>
          <a:prstGeom prst="ellipse">
            <a:avLst/>
          </a:prstGeom>
          <a:solidFill>
            <a:srgbClr val="0B1B3A"/>
          </a:solidFill>
          <a:ln/>
        </p:spPr>
      </p:sp>
      <p:pic>
        <p:nvPicPr>
          <p:cNvPr id="36" name="Image 5" descr="preencoded.png">    </p:cNvPr>
          <p:cNvPicPr>
            <a:picLocks noChangeAspect="1"/>
          </p:cNvPicPr>
          <p:nvPr/>
        </p:nvPicPr>
        <p:blipFill>
          <a:blip r:embed="rId6"/>
          <a:stretch>
            <a:fillRect/>
          </a:stretch>
        </p:blipFill>
        <p:spPr>
          <a:xfrm>
            <a:off x="10304526" y="2217420"/>
            <a:ext cx="320040" cy="320040"/>
          </a:xfrm>
          <a:prstGeom prst="rect">
            <a:avLst/>
          </a:prstGeom>
        </p:spPr>
      </p:pic>
      <p:sp>
        <p:nvSpPr>
          <p:cNvPr id="37" name="Text 29"/>
          <p:cNvSpPr txBox="1"/>
          <p:nvPr/>
        </p:nvSpPr>
        <p:spPr>
          <a:xfrm>
            <a:off x="10144506" y="2880360"/>
            <a:ext cx="1361389" cy="411480"/>
          </a:xfrm>
          <a:prstGeom prst="rect">
            <a:avLst/>
          </a:prstGeom>
          <a:noFill/>
          <a:ln/>
        </p:spPr>
        <p:txBody>
          <a:bodyPr wrap="square" lIns="0" tIns="0" rIns="0" bIns="0" rtlCol="0" anchor="ctr"/>
          <a:lstStyle/>
          <a:p>
            <a:pPr indent="0" marL="0">
              <a:buNone/>
            </a:pPr>
            <a:r>
              <a:rPr lang="en-US" sz="2400" b="1" dirty="0">
                <a:solidFill>
                  <a:srgbClr val="1E5AA8"/>
                </a:solidFill>
                <a:latin typeface="Arial" pitchFamily="34" charset="0"/>
                <a:ea typeface="Arial" pitchFamily="34" charset="-122"/>
                <a:cs typeface="Arial" pitchFamily="34" charset="-120"/>
              </a:rPr>
              <a:t>HOW</a:t>
            </a:r>
            <a:endParaRPr lang="en-US" sz="2400" dirty="0"/>
          </a:p>
        </p:txBody>
      </p:sp>
      <p:sp>
        <p:nvSpPr>
          <p:cNvPr id="38" name="Text 30"/>
          <p:cNvSpPr txBox="1"/>
          <p:nvPr/>
        </p:nvSpPr>
        <p:spPr>
          <a:xfrm>
            <a:off x="10144506" y="3319272"/>
            <a:ext cx="1361389"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Như thế nào?</a:t>
            </a:r>
            <a:endParaRPr lang="en-US" sz="1300" dirty="0"/>
          </a:p>
        </p:txBody>
      </p:sp>
      <p:sp>
        <p:nvSpPr>
          <p:cNvPr id="39" name="Text 31"/>
          <p:cNvSpPr txBox="1"/>
          <p:nvPr/>
        </p:nvSpPr>
        <p:spPr>
          <a:xfrm>
            <a:off x="10144506" y="3794760"/>
            <a:ext cx="1361389" cy="2011680"/>
          </a:xfrm>
          <a:prstGeom prst="rect">
            <a:avLst/>
          </a:prstGeom>
          <a:noFill/>
          <a:ln/>
        </p:spPr>
        <p:txBody>
          <a:bodyPr wrap="square" lIns="0" tIns="0" rIns="0" bIns="0" rtlCol="0" anchor="t"/>
          <a:lstStyle/>
          <a:p>
            <a:pPr indent="0" marL="0">
              <a:buNone/>
            </a:pPr>
            <a:r>
              <a:rPr lang="en-US" sz="1500" dirty="0">
                <a:solidFill>
                  <a:srgbClr val="0B1B3A"/>
                </a:solidFill>
                <a:latin typeface="Calibri" pitchFamily="34" charset="0"/>
                <a:ea typeface="Calibri" pitchFamily="34" charset="-122"/>
                <a:cs typeface="Calibri" pitchFamily="34" charset="-120"/>
              </a:rPr>
              <a:t>Khảo sát → nhu cầu → thu thập/xác minh dữ liệu → thiết kế → lập trình → kiểm thử → dùng thử → báo cáo.</a:t>
            </a:r>
            <a:endParaRPr lang="en-US" sz="1500" dirty="0"/>
          </a:p>
        </p:txBody>
      </p:sp>
      <p:sp>
        <p:nvSpPr>
          <p:cNvPr id="40" name="Text 32"/>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41" name="Text 33"/>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15 / 22</a:t>
            </a:r>
            <a:endParaRPr lang="en-US" sz="1000" dirty="0"/>
          </a:p>
        </p:txBody>
      </p:sp>
      <p:sp>
        <p:nvSpPr>
          <p:cNvPr id="42" name="TextBox 41"/>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43" name="TextBox 42"/>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15 / 27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 TỔNG QUAN  ·  SẢN PHẨM</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Sản phẩm: luồng người dùng &amp; phạm vi MVP</a:t>
            </a:r>
            <a:endParaRPr lang="en-US" sz="3200" dirty="0"/>
          </a:p>
        </p:txBody>
      </p:sp>
      <p:sp>
        <p:nvSpPr>
          <p:cNvPr id="4" name="Shape 2"/>
          <p:cNvSpPr/>
          <p:nvPr/>
        </p:nvSpPr>
        <p:spPr>
          <a:xfrm>
            <a:off x="548640" y="1783080"/>
            <a:ext cx="1920240"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31520" y="1965960"/>
            <a:ext cx="457200" cy="457200"/>
          </a:xfrm>
          <a:prstGeom prst="ellipse">
            <a:avLst/>
          </a:prstGeom>
          <a:solidFill>
            <a:srgbClr val="1E5AA8"/>
          </a:solidFill>
          <a:ln/>
        </p:spPr>
      </p:sp>
      <p:pic>
        <p:nvPicPr>
          <p:cNvPr id="6" name="Image 0" descr="preencoded.png">    </p:cNvPr>
          <p:cNvPicPr>
            <a:picLocks noChangeAspect="1"/>
          </p:cNvPicPr>
          <p:nvPr/>
        </p:nvPicPr>
        <p:blipFill>
          <a:blip r:embed="rId1"/>
          <a:stretch>
            <a:fillRect/>
          </a:stretch>
        </p:blipFill>
        <p:spPr>
          <a:xfrm>
            <a:off x="845820" y="2080260"/>
            <a:ext cx="228600" cy="228600"/>
          </a:xfrm>
          <a:prstGeom prst="rect">
            <a:avLst/>
          </a:prstGeom>
        </p:spPr>
      </p:pic>
      <p:sp>
        <p:nvSpPr>
          <p:cNvPr id="7" name="Text 4"/>
          <p:cNvSpPr txBox="1"/>
          <p:nvPr/>
        </p:nvSpPr>
        <p:spPr>
          <a:xfrm>
            <a:off x="1828800" y="1965960"/>
            <a:ext cx="457200" cy="457200"/>
          </a:xfrm>
          <a:prstGeom prst="rect">
            <a:avLst/>
          </a:prstGeom>
          <a:noFill/>
          <a:ln/>
        </p:spPr>
        <p:txBody>
          <a:bodyPr wrap="square" lIns="0" tIns="0" rIns="0" bIns="0" rtlCol="0" anchor="ctr"/>
          <a:lstStyle/>
          <a:p>
            <a:pPr algn="r" indent="0" marL="0">
              <a:buNone/>
            </a:pPr>
            <a:r>
              <a:rPr lang="en-US" sz="1400" b="1" dirty="0">
                <a:solidFill>
                  <a:srgbClr val="55657F"/>
                </a:solidFill>
                <a:latin typeface="Arial" pitchFamily="34" charset="0"/>
                <a:ea typeface="Arial" pitchFamily="34" charset="-122"/>
                <a:cs typeface="Arial" pitchFamily="34" charset="-120"/>
              </a:rPr>
              <a:t>01</a:t>
            </a:r>
            <a:endParaRPr lang="en-US" sz="1400" dirty="0"/>
          </a:p>
        </p:txBody>
      </p:sp>
      <p:sp>
        <p:nvSpPr>
          <p:cNvPr id="8" name="Text 5"/>
          <p:cNvSpPr txBox="1"/>
          <p:nvPr/>
        </p:nvSpPr>
        <p:spPr>
          <a:xfrm>
            <a:off x="731520" y="2514600"/>
            <a:ext cx="1554480" cy="36576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Thiết bị</a:t>
            </a:r>
            <a:endParaRPr lang="en-US" sz="1500" dirty="0"/>
          </a:p>
        </p:txBody>
      </p:sp>
      <p:sp>
        <p:nvSpPr>
          <p:cNvPr id="9" name="Shape 6"/>
          <p:cNvSpPr/>
          <p:nvPr/>
        </p:nvSpPr>
        <p:spPr>
          <a:xfrm>
            <a:off x="2527516" y="2240280"/>
            <a:ext cx="256032" cy="274320"/>
          </a:xfrm>
          <a:prstGeom prst="rightArrow">
            <a:avLst/>
          </a:prstGeom>
          <a:solidFill>
            <a:srgbClr val="E4590F"/>
          </a:solidFill>
          <a:ln/>
        </p:spPr>
      </p:sp>
      <p:sp>
        <p:nvSpPr>
          <p:cNvPr id="10" name="Shape 7"/>
          <p:cNvSpPr/>
          <p:nvPr/>
        </p:nvSpPr>
        <p:spPr>
          <a:xfrm>
            <a:off x="2842184" y="1783080"/>
            <a:ext cx="1920240"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1" name="Shape 8"/>
          <p:cNvSpPr/>
          <p:nvPr/>
        </p:nvSpPr>
        <p:spPr>
          <a:xfrm>
            <a:off x="3025064" y="1965960"/>
            <a:ext cx="457200" cy="457200"/>
          </a:xfrm>
          <a:prstGeom prst="ellipse">
            <a:avLst/>
          </a:prstGeom>
          <a:solidFill>
            <a:srgbClr val="1E5AA8"/>
          </a:solidFill>
          <a:ln/>
        </p:spPr>
      </p:sp>
      <p:pic>
        <p:nvPicPr>
          <p:cNvPr id="12" name="Image 1" descr="preencoded.png">    </p:cNvPr>
          <p:cNvPicPr>
            <a:picLocks noChangeAspect="1"/>
          </p:cNvPicPr>
          <p:nvPr/>
        </p:nvPicPr>
        <p:blipFill>
          <a:blip r:embed="rId2"/>
          <a:stretch>
            <a:fillRect/>
          </a:stretch>
        </p:blipFill>
        <p:spPr>
          <a:xfrm>
            <a:off x="3139364" y="2080260"/>
            <a:ext cx="228600" cy="228600"/>
          </a:xfrm>
          <a:prstGeom prst="rect">
            <a:avLst/>
          </a:prstGeom>
        </p:spPr>
      </p:pic>
      <p:sp>
        <p:nvSpPr>
          <p:cNvPr id="13" name="Text 9"/>
          <p:cNvSpPr txBox="1"/>
          <p:nvPr/>
        </p:nvSpPr>
        <p:spPr>
          <a:xfrm>
            <a:off x="4122344" y="1965960"/>
            <a:ext cx="457200" cy="457200"/>
          </a:xfrm>
          <a:prstGeom prst="rect">
            <a:avLst/>
          </a:prstGeom>
          <a:noFill/>
          <a:ln/>
        </p:spPr>
        <p:txBody>
          <a:bodyPr wrap="square" lIns="0" tIns="0" rIns="0" bIns="0" rtlCol="0" anchor="ctr"/>
          <a:lstStyle/>
          <a:p>
            <a:pPr algn="r" indent="0" marL="0">
              <a:buNone/>
            </a:pPr>
            <a:r>
              <a:rPr lang="en-US" sz="1400" b="1" dirty="0">
                <a:solidFill>
                  <a:srgbClr val="55657F"/>
                </a:solidFill>
                <a:latin typeface="Arial" pitchFamily="34" charset="0"/>
                <a:ea typeface="Arial" pitchFamily="34" charset="-122"/>
                <a:cs typeface="Arial" pitchFamily="34" charset="-120"/>
              </a:rPr>
              <a:t>02</a:t>
            </a:r>
            <a:endParaRPr lang="en-US" sz="1400" dirty="0"/>
          </a:p>
        </p:txBody>
      </p:sp>
      <p:sp>
        <p:nvSpPr>
          <p:cNvPr id="14" name="Text 10"/>
          <p:cNvSpPr txBox="1"/>
          <p:nvPr/>
        </p:nvSpPr>
        <p:spPr>
          <a:xfrm>
            <a:off x="3025064" y="2514600"/>
            <a:ext cx="1554480" cy="36576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Lỗi / dịch vụ</a:t>
            </a:r>
            <a:endParaRPr lang="en-US" sz="1500" dirty="0"/>
          </a:p>
        </p:txBody>
      </p:sp>
      <p:sp>
        <p:nvSpPr>
          <p:cNvPr id="15" name="Shape 11"/>
          <p:cNvSpPr/>
          <p:nvPr/>
        </p:nvSpPr>
        <p:spPr>
          <a:xfrm>
            <a:off x="4821060" y="2240280"/>
            <a:ext cx="256032" cy="274320"/>
          </a:xfrm>
          <a:prstGeom prst="rightArrow">
            <a:avLst/>
          </a:prstGeom>
          <a:solidFill>
            <a:srgbClr val="E4590F"/>
          </a:solidFill>
          <a:ln/>
        </p:spPr>
      </p:sp>
      <p:sp>
        <p:nvSpPr>
          <p:cNvPr id="16" name="Shape 12"/>
          <p:cNvSpPr/>
          <p:nvPr/>
        </p:nvSpPr>
        <p:spPr>
          <a:xfrm>
            <a:off x="5135728" y="1783080"/>
            <a:ext cx="1920240"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5318608" y="1965960"/>
            <a:ext cx="457200" cy="457200"/>
          </a:xfrm>
          <a:prstGeom prst="ellipse">
            <a:avLst/>
          </a:prstGeom>
          <a:solidFill>
            <a:srgbClr val="1E5AA8"/>
          </a:solidFill>
          <a:ln/>
        </p:spPr>
      </p:sp>
      <p:pic>
        <p:nvPicPr>
          <p:cNvPr id="18" name="Image 2" descr="preencoded.png">    </p:cNvPr>
          <p:cNvPicPr>
            <a:picLocks noChangeAspect="1"/>
          </p:cNvPicPr>
          <p:nvPr/>
        </p:nvPicPr>
        <p:blipFill>
          <a:blip r:embed="rId3"/>
          <a:stretch>
            <a:fillRect/>
          </a:stretch>
        </p:blipFill>
        <p:spPr>
          <a:xfrm>
            <a:off x="5432908" y="2080260"/>
            <a:ext cx="228600" cy="228600"/>
          </a:xfrm>
          <a:prstGeom prst="rect">
            <a:avLst/>
          </a:prstGeom>
        </p:spPr>
      </p:pic>
      <p:sp>
        <p:nvSpPr>
          <p:cNvPr id="19" name="Text 14"/>
          <p:cNvSpPr txBox="1"/>
          <p:nvPr/>
        </p:nvSpPr>
        <p:spPr>
          <a:xfrm>
            <a:off x="6415888" y="1965960"/>
            <a:ext cx="457200" cy="457200"/>
          </a:xfrm>
          <a:prstGeom prst="rect">
            <a:avLst/>
          </a:prstGeom>
          <a:noFill/>
          <a:ln/>
        </p:spPr>
        <p:txBody>
          <a:bodyPr wrap="square" lIns="0" tIns="0" rIns="0" bIns="0" rtlCol="0" anchor="ctr"/>
          <a:lstStyle/>
          <a:p>
            <a:pPr algn="r" indent="0" marL="0">
              <a:buNone/>
            </a:pPr>
            <a:r>
              <a:rPr lang="en-US" sz="1400" b="1" dirty="0">
                <a:solidFill>
                  <a:srgbClr val="55657F"/>
                </a:solidFill>
                <a:latin typeface="Arial" pitchFamily="34" charset="0"/>
                <a:ea typeface="Arial" pitchFamily="34" charset="-122"/>
                <a:cs typeface="Arial" pitchFamily="34" charset="-120"/>
              </a:rPr>
              <a:t>03</a:t>
            </a:r>
            <a:endParaRPr lang="en-US" sz="1400" dirty="0"/>
          </a:p>
        </p:txBody>
      </p:sp>
      <p:sp>
        <p:nvSpPr>
          <p:cNvPr id="20" name="Text 15"/>
          <p:cNvSpPr txBox="1"/>
          <p:nvPr/>
        </p:nvSpPr>
        <p:spPr>
          <a:xfrm>
            <a:off x="5318608" y="2514600"/>
            <a:ext cx="1554480" cy="36576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Cửa hàng</a:t>
            </a:r>
            <a:endParaRPr lang="en-US" sz="1500" dirty="0"/>
          </a:p>
        </p:txBody>
      </p:sp>
      <p:sp>
        <p:nvSpPr>
          <p:cNvPr id="21" name="Shape 16"/>
          <p:cNvSpPr/>
          <p:nvPr/>
        </p:nvSpPr>
        <p:spPr>
          <a:xfrm>
            <a:off x="7114604" y="2240280"/>
            <a:ext cx="256032" cy="274320"/>
          </a:xfrm>
          <a:prstGeom prst="rightArrow">
            <a:avLst/>
          </a:prstGeom>
          <a:solidFill>
            <a:srgbClr val="E4590F"/>
          </a:solidFill>
          <a:ln/>
        </p:spPr>
      </p:sp>
      <p:sp>
        <p:nvSpPr>
          <p:cNvPr id="22" name="Shape 17"/>
          <p:cNvSpPr/>
          <p:nvPr/>
        </p:nvSpPr>
        <p:spPr>
          <a:xfrm>
            <a:off x="7429271" y="1783080"/>
            <a:ext cx="1920240"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3" name="Shape 18"/>
          <p:cNvSpPr/>
          <p:nvPr/>
        </p:nvSpPr>
        <p:spPr>
          <a:xfrm>
            <a:off x="7612151" y="1965960"/>
            <a:ext cx="457200" cy="457200"/>
          </a:xfrm>
          <a:prstGeom prst="ellipse">
            <a:avLst/>
          </a:prstGeom>
          <a:solidFill>
            <a:srgbClr val="1E5AA8"/>
          </a:solidFill>
          <a:ln/>
        </p:spPr>
      </p:sp>
      <p:pic>
        <p:nvPicPr>
          <p:cNvPr id="24" name="Image 3" descr="preencoded.png">    </p:cNvPr>
          <p:cNvPicPr>
            <a:picLocks noChangeAspect="1"/>
          </p:cNvPicPr>
          <p:nvPr/>
        </p:nvPicPr>
        <p:blipFill>
          <a:blip r:embed="rId4"/>
          <a:stretch>
            <a:fillRect/>
          </a:stretch>
        </p:blipFill>
        <p:spPr>
          <a:xfrm>
            <a:off x="7726451" y="2080260"/>
            <a:ext cx="228600" cy="228600"/>
          </a:xfrm>
          <a:prstGeom prst="rect">
            <a:avLst/>
          </a:prstGeom>
        </p:spPr>
      </p:pic>
      <p:sp>
        <p:nvSpPr>
          <p:cNvPr id="25" name="Text 19"/>
          <p:cNvSpPr txBox="1"/>
          <p:nvPr/>
        </p:nvSpPr>
        <p:spPr>
          <a:xfrm>
            <a:off x="8709431" y="1965960"/>
            <a:ext cx="457200" cy="457200"/>
          </a:xfrm>
          <a:prstGeom prst="rect">
            <a:avLst/>
          </a:prstGeom>
          <a:noFill/>
          <a:ln/>
        </p:spPr>
        <p:txBody>
          <a:bodyPr wrap="square" lIns="0" tIns="0" rIns="0" bIns="0" rtlCol="0" anchor="ctr"/>
          <a:lstStyle/>
          <a:p>
            <a:pPr algn="r" indent="0" marL="0">
              <a:buNone/>
            </a:pPr>
            <a:r>
              <a:rPr lang="en-US" sz="1400" b="1" dirty="0">
                <a:solidFill>
                  <a:srgbClr val="55657F"/>
                </a:solidFill>
                <a:latin typeface="Arial" pitchFamily="34" charset="0"/>
                <a:ea typeface="Arial" pitchFamily="34" charset="-122"/>
                <a:cs typeface="Arial" pitchFamily="34" charset="-120"/>
              </a:rPr>
              <a:t>04</a:t>
            </a:r>
            <a:endParaRPr lang="en-US" sz="1400" dirty="0"/>
          </a:p>
        </p:txBody>
      </p:sp>
      <p:sp>
        <p:nvSpPr>
          <p:cNvPr id="26" name="Text 20"/>
          <p:cNvSpPr txBox="1"/>
          <p:nvPr/>
        </p:nvSpPr>
        <p:spPr>
          <a:xfrm>
            <a:off x="7612151" y="2514600"/>
            <a:ext cx="1554480" cy="36576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Giá &amp; review</a:t>
            </a:r>
            <a:endParaRPr lang="en-US" sz="1500" dirty="0"/>
          </a:p>
        </p:txBody>
      </p:sp>
      <p:sp>
        <p:nvSpPr>
          <p:cNvPr id="27" name="Shape 21"/>
          <p:cNvSpPr/>
          <p:nvPr/>
        </p:nvSpPr>
        <p:spPr>
          <a:xfrm>
            <a:off x="9408147" y="2240280"/>
            <a:ext cx="256032" cy="274320"/>
          </a:xfrm>
          <a:prstGeom prst="rightArrow">
            <a:avLst/>
          </a:prstGeom>
          <a:solidFill>
            <a:srgbClr val="E4590F"/>
          </a:solidFill>
          <a:ln/>
        </p:spPr>
      </p:sp>
      <p:sp>
        <p:nvSpPr>
          <p:cNvPr id="28" name="Shape 22"/>
          <p:cNvSpPr/>
          <p:nvPr/>
        </p:nvSpPr>
        <p:spPr>
          <a:xfrm>
            <a:off x="9722815" y="1783080"/>
            <a:ext cx="1920240" cy="1188720"/>
          </a:xfrm>
          <a:prstGeom prst="roundRect">
            <a:avLst>
              <a:gd name="adj" fmla="val 9231"/>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9" name="Shape 23"/>
          <p:cNvSpPr/>
          <p:nvPr/>
        </p:nvSpPr>
        <p:spPr>
          <a:xfrm>
            <a:off x="9905695" y="1965960"/>
            <a:ext cx="457200" cy="457200"/>
          </a:xfrm>
          <a:prstGeom prst="ellipse">
            <a:avLst/>
          </a:prstGeom>
          <a:solidFill>
            <a:srgbClr val="1E5AA8"/>
          </a:solidFill>
          <a:ln/>
        </p:spPr>
      </p:sp>
      <p:pic>
        <p:nvPicPr>
          <p:cNvPr id="30" name="Image 4" descr="preencoded.png">    </p:cNvPr>
          <p:cNvPicPr>
            <a:picLocks noChangeAspect="1"/>
          </p:cNvPicPr>
          <p:nvPr/>
        </p:nvPicPr>
        <p:blipFill>
          <a:blip r:embed="rId5"/>
          <a:stretch>
            <a:fillRect/>
          </a:stretch>
        </p:blipFill>
        <p:spPr>
          <a:xfrm>
            <a:off x="10019995" y="2080260"/>
            <a:ext cx="228600" cy="228600"/>
          </a:xfrm>
          <a:prstGeom prst="rect">
            <a:avLst/>
          </a:prstGeom>
        </p:spPr>
      </p:pic>
      <p:sp>
        <p:nvSpPr>
          <p:cNvPr id="31" name="Text 24"/>
          <p:cNvSpPr txBox="1"/>
          <p:nvPr/>
        </p:nvSpPr>
        <p:spPr>
          <a:xfrm>
            <a:off x="11002975" y="1965960"/>
            <a:ext cx="457200" cy="457200"/>
          </a:xfrm>
          <a:prstGeom prst="rect">
            <a:avLst/>
          </a:prstGeom>
          <a:noFill/>
          <a:ln/>
        </p:spPr>
        <p:txBody>
          <a:bodyPr wrap="square" lIns="0" tIns="0" rIns="0" bIns="0" rtlCol="0" anchor="ctr"/>
          <a:lstStyle/>
          <a:p>
            <a:pPr algn="r" indent="0" marL="0">
              <a:buNone/>
            </a:pPr>
            <a:r>
              <a:rPr lang="en-US" sz="1400" b="1" dirty="0">
                <a:solidFill>
                  <a:srgbClr val="55657F"/>
                </a:solidFill>
                <a:latin typeface="Arial" pitchFamily="34" charset="0"/>
                <a:ea typeface="Arial" pitchFamily="34" charset="-122"/>
                <a:cs typeface="Arial" pitchFamily="34" charset="-120"/>
              </a:rPr>
              <a:t>05</a:t>
            </a:r>
            <a:endParaRPr lang="en-US" sz="1400" dirty="0"/>
          </a:p>
        </p:txBody>
      </p:sp>
      <p:sp>
        <p:nvSpPr>
          <p:cNvPr id="32" name="Text 25"/>
          <p:cNvSpPr txBox="1"/>
          <p:nvPr/>
        </p:nvSpPr>
        <p:spPr>
          <a:xfrm>
            <a:off x="9905695" y="2514600"/>
            <a:ext cx="1554480" cy="365760"/>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Chỉ đường</a:t>
            </a:r>
            <a:endParaRPr lang="en-US" sz="1500" dirty="0"/>
          </a:p>
        </p:txBody>
      </p:sp>
      <p:sp>
        <p:nvSpPr>
          <p:cNvPr id="33" name="Shape 26"/>
          <p:cNvSpPr/>
          <p:nvPr/>
        </p:nvSpPr>
        <p:spPr>
          <a:xfrm>
            <a:off x="548640" y="3246120"/>
            <a:ext cx="5432908" cy="2971800"/>
          </a:xfrm>
          <a:prstGeom prst="roundRect">
            <a:avLst>
              <a:gd name="adj" fmla="val 3692"/>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4" name="Text 27"/>
          <p:cNvSpPr txBox="1"/>
          <p:nvPr/>
        </p:nvSpPr>
        <p:spPr>
          <a:xfrm>
            <a:off x="822960" y="3401568"/>
            <a:ext cx="4572000" cy="274320"/>
          </a:xfrm>
          <a:prstGeom prst="rect">
            <a:avLst/>
          </a:prstGeom>
          <a:noFill/>
          <a:ln/>
        </p:spPr>
        <p:txBody>
          <a:bodyPr wrap="square" lIns="0" tIns="0" rIns="0" bIns="0" rtlCol="0" anchor="t"/>
          <a:lstStyle/>
          <a:p>
            <a:pPr indent="0" marL="0">
              <a:buNone/>
            </a:pPr>
            <a:r>
              <a:rPr lang="en-US" sz="1200" b="1" spc="200" kern="0" dirty="0">
                <a:solidFill>
                  <a:srgbClr val="0E8A7E"/>
                </a:solidFill>
                <a:latin typeface="Calibri" pitchFamily="34" charset="0"/>
                <a:ea typeface="Calibri" pitchFamily="34" charset="-122"/>
                <a:cs typeface="Calibri" pitchFamily="34" charset="-120"/>
              </a:rPr>
              <a:t>TRONG PHẠM VI MVP</a:t>
            </a:r>
            <a:endParaRPr lang="en-US" sz="1200" dirty="0"/>
          </a:p>
        </p:txBody>
      </p:sp>
      <p:pic>
        <p:nvPicPr>
          <p:cNvPr id="35" name="Image 5" descr="preencoded.png">    </p:cNvPr>
          <p:cNvPicPr>
            <a:picLocks noChangeAspect="1"/>
          </p:cNvPicPr>
          <p:nvPr/>
        </p:nvPicPr>
        <p:blipFill>
          <a:blip r:embed="rId6"/>
          <a:stretch>
            <a:fillRect/>
          </a:stretch>
        </p:blipFill>
        <p:spPr>
          <a:xfrm>
            <a:off x="822960" y="3822192"/>
            <a:ext cx="201168" cy="201168"/>
          </a:xfrm>
          <a:prstGeom prst="rect">
            <a:avLst/>
          </a:prstGeom>
        </p:spPr>
      </p:pic>
      <p:sp>
        <p:nvSpPr>
          <p:cNvPr id="36" name="Text 28"/>
          <p:cNvSpPr txBox="1"/>
          <p:nvPr/>
        </p:nvSpPr>
        <p:spPr>
          <a:xfrm>
            <a:off x="1188720" y="3767328"/>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Đăng ký / đăng nhập, hồ sơ cơ bản</a:t>
            </a:r>
            <a:endParaRPr lang="en-US" sz="1350" dirty="0"/>
          </a:p>
        </p:txBody>
      </p:sp>
      <p:pic>
        <p:nvPicPr>
          <p:cNvPr id="37" name="Image 6" descr="preencoded.png">    </p:cNvPr>
          <p:cNvPicPr>
            <a:picLocks noChangeAspect="1"/>
          </p:cNvPicPr>
          <p:nvPr/>
        </p:nvPicPr>
        <p:blipFill>
          <a:blip r:embed="rId7"/>
          <a:stretch>
            <a:fillRect/>
          </a:stretch>
        </p:blipFill>
        <p:spPr>
          <a:xfrm>
            <a:off x="822960" y="4160520"/>
            <a:ext cx="201168" cy="201168"/>
          </a:xfrm>
          <a:prstGeom prst="rect">
            <a:avLst/>
          </a:prstGeom>
        </p:spPr>
      </p:pic>
      <p:sp>
        <p:nvSpPr>
          <p:cNvPr id="38" name="Text 29"/>
          <p:cNvSpPr txBox="1"/>
          <p:nvPr/>
        </p:nvSpPr>
        <p:spPr>
          <a:xfrm>
            <a:off x="1188720" y="4105656"/>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Tìm theo tên cửa hàng, thiết bị, lỗi/dịch vụ</a:t>
            </a:r>
            <a:endParaRPr lang="en-US" sz="1350" dirty="0"/>
          </a:p>
        </p:txBody>
      </p:sp>
      <p:pic>
        <p:nvPicPr>
          <p:cNvPr id="39" name="Image 7" descr="preencoded.png">    </p:cNvPr>
          <p:cNvPicPr>
            <a:picLocks noChangeAspect="1"/>
          </p:cNvPicPr>
          <p:nvPr/>
        </p:nvPicPr>
        <p:blipFill>
          <a:blip r:embed="rId8"/>
          <a:stretch>
            <a:fillRect/>
          </a:stretch>
        </p:blipFill>
        <p:spPr>
          <a:xfrm>
            <a:off x="822960" y="4498848"/>
            <a:ext cx="201168" cy="201168"/>
          </a:xfrm>
          <a:prstGeom prst="rect">
            <a:avLst/>
          </a:prstGeom>
        </p:spPr>
      </p:pic>
      <p:sp>
        <p:nvSpPr>
          <p:cNvPr id="40" name="Text 30"/>
          <p:cNvSpPr txBox="1"/>
          <p:nvPr/>
        </p:nvSpPr>
        <p:spPr>
          <a:xfrm>
            <a:off x="1188720" y="4443984"/>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Danh sách cửa hàng; lọc theo lỗi và nhiều khu vực</a:t>
            </a:r>
            <a:endParaRPr lang="en-US" sz="1350" dirty="0"/>
          </a:p>
        </p:txBody>
      </p:sp>
      <p:pic>
        <p:nvPicPr>
          <p:cNvPr id="41" name="Image 8" descr="preencoded.png">    </p:cNvPr>
          <p:cNvPicPr>
            <a:picLocks noChangeAspect="1"/>
          </p:cNvPicPr>
          <p:nvPr/>
        </p:nvPicPr>
        <p:blipFill>
          <a:blip r:embed="rId9"/>
          <a:stretch>
            <a:fillRect/>
          </a:stretch>
        </p:blipFill>
        <p:spPr>
          <a:xfrm>
            <a:off x="822960" y="4837176"/>
            <a:ext cx="201168" cy="201168"/>
          </a:xfrm>
          <a:prstGeom prst="rect">
            <a:avLst/>
          </a:prstGeom>
        </p:spPr>
      </p:pic>
      <p:sp>
        <p:nvSpPr>
          <p:cNvPr id="42" name="Text 31"/>
          <p:cNvSpPr txBox="1"/>
          <p:nvPr/>
        </p:nvSpPr>
        <p:spPr>
          <a:xfrm>
            <a:off x="1188720" y="4782312"/>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Chi tiết: địa chỉ, giờ mở cửa, khoảng giá, bảo hành</a:t>
            </a:r>
            <a:endParaRPr lang="en-US" sz="1350" dirty="0"/>
          </a:p>
        </p:txBody>
      </p:sp>
      <p:pic>
        <p:nvPicPr>
          <p:cNvPr id="43" name="Image 9" descr="preencoded.png">    </p:cNvPr>
          <p:cNvPicPr>
            <a:picLocks noChangeAspect="1"/>
          </p:cNvPicPr>
          <p:nvPr/>
        </p:nvPicPr>
        <p:blipFill>
          <a:blip r:embed="rId10"/>
          <a:stretch>
            <a:fillRect/>
          </a:stretch>
        </p:blipFill>
        <p:spPr>
          <a:xfrm>
            <a:off x="822960" y="5175504"/>
            <a:ext cx="201168" cy="201168"/>
          </a:xfrm>
          <a:prstGeom prst="rect">
            <a:avLst/>
          </a:prstGeom>
        </p:spPr>
      </p:pic>
      <p:sp>
        <p:nvSpPr>
          <p:cNvPr id="44" name="Text 32"/>
          <p:cNvSpPr txBox="1"/>
          <p:nvPr/>
        </p:nvSpPr>
        <p:spPr>
          <a:xfrm>
            <a:off x="1188720" y="5120640"/>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Xem &amp; gửi review; admin ẩn nội dung không phù hợp</a:t>
            </a:r>
            <a:endParaRPr lang="en-US" sz="1350" dirty="0"/>
          </a:p>
        </p:txBody>
      </p:sp>
      <p:pic>
        <p:nvPicPr>
          <p:cNvPr id="45" name="Image 10" descr="preencoded.png">    </p:cNvPr>
          <p:cNvPicPr>
            <a:picLocks noChangeAspect="1"/>
          </p:cNvPicPr>
          <p:nvPr/>
        </p:nvPicPr>
        <p:blipFill>
          <a:blip r:embed="rId11"/>
          <a:stretch>
            <a:fillRect/>
          </a:stretch>
        </p:blipFill>
        <p:spPr>
          <a:xfrm>
            <a:off x="822960" y="5513832"/>
            <a:ext cx="201168" cy="201168"/>
          </a:xfrm>
          <a:prstGeom prst="rect">
            <a:avLst/>
          </a:prstGeom>
        </p:spPr>
      </p:pic>
      <p:sp>
        <p:nvSpPr>
          <p:cNvPr id="46" name="Text 33"/>
          <p:cNvSpPr txBox="1"/>
          <p:nvPr/>
        </p:nvSpPr>
        <p:spPr>
          <a:xfrm>
            <a:off x="1188720" y="5458968"/>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Bản đồ nhúng: xem vị trí, khoảng cách, chỉ đường</a:t>
            </a:r>
            <a:endParaRPr lang="en-US" sz="1350" dirty="0"/>
          </a:p>
        </p:txBody>
      </p:sp>
      <p:pic>
        <p:nvPicPr>
          <p:cNvPr id="47" name="Image 11" descr="preencoded.png">    </p:cNvPr>
          <p:cNvPicPr>
            <a:picLocks noChangeAspect="1"/>
          </p:cNvPicPr>
          <p:nvPr/>
        </p:nvPicPr>
        <p:blipFill>
          <a:blip r:embed="rId12"/>
          <a:stretch>
            <a:fillRect/>
          </a:stretch>
        </p:blipFill>
        <p:spPr>
          <a:xfrm>
            <a:off x="822960" y="5852160"/>
            <a:ext cx="201168" cy="201168"/>
          </a:xfrm>
          <a:prstGeom prst="rect">
            <a:avLst/>
          </a:prstGeom>
        </p:spPr>
      </p:pic>
      <p:sp>
        <p:nvSpPr>
          <p:cNvPr id="48" name="Text 34"/>
          <p:cNvSpPr txBox="1"/>
          <p:nvPr/>
        </p:nvSpPr>
        <p:spPr>
          <a:xfrm>
            <a:off x="1188720" y="5797296"/>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Admin: CRUD cửa hàng, dịch vụ, giá; xử lý báo cáo sai</a:t>
            </a:r>
            <a:endParaRPr lang="en-US" sz="1350" dirty="0"/>
          </a:p>
        </p:txBody>
      </p:sp>
      <p:sp>
        <p:nvSpPr>
          <p:cNvPr id="49" name="Shape 35"/>
          <p:cNvSpPr/>
          <p:nvPr/>
        </p:nvSpPr>
        <p:spPr>
          <a:xfrm>
            <a:off x="6210148" y="3246120"/>
            <a:ext cx="5432908" cy="2971800"/>
          </a:xfrm>
          <a:prstGeom prst="roundRect">
            <a:avLst>
              <a:gd name="adj" fmla="val 3692"/>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50" name="Text 36"/>
          <p:cNvSpPr txBox="1"/>
          <p:nvPr/>
        </p:nvSpPr>
        <p:spPr>
          <a:xfrm>
            <a:off x="6484468" y="3401568"/>
            <a:ext cx="4572000"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NGOÀI PHẠM VI</a:t>
            </a:r>
            <a:endParaRPr lang="en-US" sz="1200" dirty="0"/>
          </a:p>
        </p:txBody>
      </p:sp>
      <p:pic>
        <p:nvPicPr>
          <p:cNvPr id="51" name="Image 12" descr="preencoded.png">    </p:cNvPr>
          <p:cNvPicPr>
            <a:picLocks noChangeAspect="1"/>
          </p:cNvPicPr>
          <p:nvPr/>
        </p:nvPicPr>
        <p:blipFill>
          <a:blip r:embed="rId13"/>
          <a:stretch>
            <a:fillRect/>
          </a:stretch>
        </p:blipFill>
        <p:spPr>
          <a:xfrm>
            <a:off x="6484468" y="3822192"/>
            <a:ext cx="201168" cy="201168"/>
          </a:xfrm>
          <a:prstGeom prst="rect">
            <a:avLst/>
          </a:prstGeom>
        </p:spPr>
      </p:pic>
      <p:sp>
        <p:nvSpPr>
          <p:cNvPr id="52" name="Text 37"/>
          <p:cNvSpPr txBox="1"/>
          <p:nvPr/>
        </p:nvSpPr>
        <p:spPr>
          <a:xfrm>
            <a:off x="6850228" y="3767328"/>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Thanh toán</a:t>
            </a:r>
            <a:endParaRPr lang="en-US" sz="1350" dirty="0"/>
          </a:p>
        </p:txBody>
      </p:sp>
      <p:pic>
        <p:nvPicPr>
          <p:cNvPr id="53" name="Image 13" descr="preencoded.png">    </p:cNvPr>
          <p:cNvPicPr>
            <a:picLocks noChangeAspect="1"/>
          </p:cNvPicPr>
          <p:nvPr/>
        </p:nvPicPr>
        <p:blipFill>
          <a:blip r:embed="rId14"/>
          <a:stretch>
            <a:fillRect/>
          </a:stretch>
        </p:blipFill>
        <p:spPr>
          <a:xfrm>
            <a:off x="6484468" y="4160520"/>
            <a:ext cx="201168" cy="201168"/>
          </a:xfrm>
          <a:prstGeom prst="rect">
            <a:avLst/>
          </a:prstGeom>
        </p:spPr>
      </p:pic>
      <p:sp>
        <p:nvSpPr>
          <p:cNvPr id="54" name="Text 38"/>
          <p:cNvSpPr txBox="1"/>
          <p:nvPr/>
        </p:nvSpPr>
        <p:spPr>
          <a:xfrm>
            <a:off x="6850228" y="4105656"/>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Đặt lịch sửa</a:t>
            </a:r>
            <a:endParaRPr lang="en-US" sz="1350" dirty="0"/>
          </a:p>
        </p:txBody>
      </p:sp>
      <p:pic>
        <p:nvPicPr>
          <p:cNvPr id="55" name="Image 14" descr="preencoded.png">    </p:cNvPr>
          <p:cNvPicPr>
            <a:picLocks noChangeAspect="1"/>
          </p:cNvPicPr>
          <p:nvPr/>
        </p:nvPicPr>
        <p:blipFill>
          <a:blip r:embed="rId15"/>
          <a:stretch>
            <a:fillRect/>
          </a:stretch>
        </p:blipFill>
        <p:spPr>
          <a:xfrm>
            <a:off x="6484468" y="4498848"/>
            <a:ext cx="201168" cy="201168"/>
          </a:xfrm>
          <a:prstGeom prst="rect">
            <a:avLst/>
          </a:prstGeom>
        </p:spPr>
      </p:pic>
      <p:sp>
        <p:nvSpPr>
          <p:cNvPr id="56" name="Text 39"/>
          <p:cNvSpPr txBox="1"/>
          <p:nvPr/>
        </p:nvSpPr>
        <p:spPr>
          <a:xfrm>
            <a:off x="6850228" y="4443984"/>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Chat realtime</a:t>
            </a:r>
            <a:endParaRPr lang="en-US" sz="1350" dirty="0"/>
          </a:p>
        </p:txBody>
      </p:sp>
      <p:pic>
        <p:nvPicPr>
          <p:cNvPr id="57" name="Image 15" descr="preencoded.png">    </p:cNvPr>
          <p:cNvPicPr>
            <a:picLocks noChangeAspect="1"/>
          </p:cNvPicPr>
          <p:nvPr/>
        </p:nvPicPr>
        <p:blipFill>
          <a:blip r:embed="rId16"/>
          <a:stretch>
            <a:fillRect/>
          </a:stretch>
        </p:blipFill>
        <p:spPr>
          <a:xfrm>
            <a:off x="6484468" y="4837176"/>
            <a:ext cx="201168" cy="201168"/>
          </a:xfrm>
          <a:prstGeom prst="rect">
            <a:avLst/>
          </a:prstGeom>
        </p:spPr>
      </p:pic>
      <p:sp>
        <p:nvSpPr>
          <p:cNvPr id="58" name="Text 40"/>
          <p:cNvSpPr txBox="1"/>
          <p:nvPr/>
        </p:nvSpPr>
        <p:spPr>
          <a:xfrm>
            <a:off x="6850228" y="4782312"/>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AI chẩn đoán lỗi</a:t>
            </a:r>
            <a:endParaRPr lang="en-US" sz="1350" dirty="0"/>
          </a:p>
        </p:txBody>
      </p:sp>
      <p:pic>
        <p:nvPicPr>
          <p:cNvPr id="59" name="Image 16" descr="preencoded.png">    </p:cNvPr>
          <p:cNvPicPr>
            <a:picLocks noChangeAspect="1"/>
          </p:cNvPicPr>
          <p:nvPr/>
        </p:nvPicPr>
        <p:blipFill>
          <a:blip r:embed="rId17"/>
          <a:stretch>
            <a:fillRect/>
          </a:stretch>
        </p:blipFill>
        <p:spPr>
          <a:xfrm>
            <a:off x="6484468" y="5175504"/>
            <a:ext cx="201168" cy="201168"/>
          </a:xfrm>
          <a:prstGeom prst="rect">
            <a:avLst/>
          </a:prstGeom>
        </p:spPr>
      </p:pic>
      <p:sp>
        <p:nvSpPr>
          <p:cNvPr id="60" name="Text 41"/>
          <p:cNvSpPr txBox="1"/>
          <p:nvPr/>
        </p:nvSpPr>
        <p:spPr>
          <a:xfrm>
            <a:off x="6850228" y="5120640"/>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Giao nhận thiết bị</a:t>
            </a:r>
            <a:endParaRPr lang="en-US" sz="1350" dirty="0"/>
          </a:p>
        </p:txBody>
      </p:sp>
      <p:pic>
        <p:nvPicPr>
          <p:cNvPr id="61" name="Image 17" descr="preencoded.png">    </p:cNvPr>
          <p:cNvPicPr>
            <a:picLocks noChangeAspect="1"/>
          </p:cNvPicPr>
          <p:nvPr/>
        </p:nvPicPr>
        <p:blipFill>
          <a:blip r:embed="rId18"/>
          <a:stretch>
            <a:fillRect/>
          </a:stretch>
        </p:blipFill>
        <p:spPr>
          <a:xfrm>
            <a:off x="6484468" y="5513832"/>
            <a:ext cx="201168" cy="201168"/>
          </a:xfrm>
          <a:prstGeom prst="rect">
            <a:avLst/>
          </a:prstGeom>
        </p:spPr>
      </p:pic>
      <p:sp>
        <p:nvSpPr>
          <p:cNvPr id="62" name="Text 42"/>
          <p:cNvSpPr txBox="1"/>
          <p:nvPr/>
        </p:nvSpPr>
        <p:spPr>
          <a:xfrm>
            <a:off x="6850228" y="5458968"/>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Ứng dụng mobile</a:t>
            </a:r>
            <a:endParaRPr lang="en-US" sz="1350" dirty="0"/>
          </a:p>
        </p:txBody>
      </p:sp>
      <p:pic>
        <p:nvPicPr>
          <p:cNvPr id="63" name="Image 18" descr="preencoded.png">    </p:cNvPr>
          <p:cNvPicPr>
            <a:picLocks noChangeAspect="1"/>
          </p:cNvPicPr>
          <p:nvPr/>
        </p:nvPicPr>
        <p:blipFill>
          <a:blip r:embed="rId19"/>
          <a:stretch>
            <a:fillRect/>
          </a:stretch>
        </p:blipFill>
        <p:spPr>
          <a:xfrm>
            <a:off x="6484468" y="5852160"/>
            <a:ext cx="201168" cy="201168"/>
          </a:xfrm>
          <a:prstGeom prst="rect">
            <a:avLst/>
          </a:prstGeom>
        </p:spPr>
      </p:pic>
      <p:sp>
        <p:nvSpPr>
          <p:cNvPr id="64" name="Text 43"/>
          <p:cNvSpPr txBox="1"/>
          <p:nvPr/>
        </p:nvSpPr>
        <p:spPr>
          <a:xfrm>
            <a:off x="6850228" y="5797296"/>
            <a:ext cx="4518508" cy="310896"/>
          </a:xfrm>
          <a:prstGeom prst="rect">
            <a:avLst/>
          </a:prstGeom>
          <a:noFill/>
          <a:ln/>
        </p:spPr>
        <p:txBody>
          <a:bodyPr wrap="square" lIns="0" tIns="0" rIns="0" bIns="0" rtlCol="0" anchor="ctr"/>
          <a:lstStyle/>
          <a:p>
            <a:pPr indent="0" marL="0">
              <a:buNone/>
            </a:pPr>
            <a:r>
              <a:rPr lang="en-US" sz="1350" dirty="0">
                <a:solidFill>
                  <a:srgbClr val="0B1B3A"/>
                </a:solidFill>
                <a:latin typeface="Calibri" pitchFamily="34" charset="0"/>
                <a:ea typeface="Calibri" pitchFamily="34" charset="-122"/>
                <a:cs typeface="Calibri" pitchFamily="34" charset="-120"/>
              </a:rPr>
              <a:t>Hệ thống cho toàn thành phố</a:t>
            </a:r>
            <a:endParaRPr lang="en-US" sz="1350" dirty="0"/>
          </a:p>
        </p:txBody>
      </p:sp>
      <p:sp>
        <p:nvSpPr>
          <p:cNvPr id="65" name="Text 44"/>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66" name="Text 45"/>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16 / 22</a:t>
            </a:r>
            <a:endParaRPr lang="en-US" sz="1000" dirty="0"/>
          </a:p>
        </p:txBody>
      </p:sp>
      <p:sp>
        <p:nvSpPr>
          <p:cNvPr id="67" name="TextBox 66"/>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68" name="TextBox 67"/>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16 / 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II. NỘI DUNG TRIỂN KHAI  ·  KẾ HOẠCH</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Kế hoạch hành động · Gantt 03 tuần</a:t>
            </a:r>
            <a:endParaRPr lang="en-US" sz="3200" dirty="0"/>
          </a:p>
        </p:txBody>
      </p:sp>
      <p:sp>
        <p:nvSpPr>
          <p:cNvPr id="4" name="Text 2"/>
          <p:cNvSpPr txBox="1"/>
          <p:nvPr/>
        </p:nvSpPr>
        <p:spPr>
          <a:xfrm>
            <a:off x="640080" y="1783080"/>
            <a:ext cx="2377440" cy="347472"/>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CÔNG VIỆC</a:t>
            </a:r>
            <a:endParaRPr lang="en-US" sz="1100" dirty="0"/>
          </a:p>
        </p:txBody>
      </p:sp>
      <p:sp>
        <p:nvSpPr>
          <p:cNvPr id="5" name="Text 3"/>
          <p:cNvSpPr txBox="1"/>
          <p:nvPr/>
        </p:nvSpPr>
        <p:spPr>
          <a:xfrm>
            <a:off x="3017520" y="1783080"/>
            <a:ext cx="1097280" cy="347472"/>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PHỤ TRÁCH</a:t>
            </a:r>
            <a:endParaRPr lang="en-US" sz="1100" dirty="0"/>
          </a:p>
        </p:txBody>
      </p:sp>
      <p:sp>
        <p:nvSpPr>
          <p:cNvPr id="6" name="Shape 4"/>
          <p:cNvSpPr/>
          <p:nvPr/>
        </p:nvSpPr>
        <p:spPr>
          <a:xfrm>
            <a:off x="4178808" y="1783080"/>
            <a:ext cx="2457602" cy="347472"/>
          </a:xfrm>
          <a:prstGeom prst="roundRect">
            <a:avLst>
              <a:gd name="adj" fmla="val 15789"/>
            </a:avLst>
          </a:prstGeom>
          <a:solidFill>
            <a:srgbClr val="0B1B3A"/>
          </a:solidFill>
          <a:ln/>
        </p:spPr>
      </p:sp>
      <p:sp>
        <p:nvSpPr>
          <p:cNvPr id="7" name="Text 5"/>
          <p:cNvSpPr txBox="1"/>
          <p:nvPr/>
        </p:nvSpPr>
        <p:spPr>
          <a:xfrm>
            <a:off x="4160520" y="1783080"/>
            <a:ext cx="2494178"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TUẦN 1  ·  N1–N7</a:t>
            </a:r>
            <a:endParaRPr lang="en-US" sz="1100" dirty="0"/>
          </a:p>
        </p:txBody>
      </p:sp>
      <p:sp>
        <p:nvSpPr>
          <p:cNvPr id="8" name="Shape 6"/>
          <p:cNvSpPr/>
          <p:nvPr/>
        </p:nvSpPr>
        <p:spPr>
          <a:xfrm>
            <a:off x="6672986" y="1783080"/>
            <a:ext cx="2457602" cy="347472"/>
          </a:xfrm>
          <a:prstGeom prst="roundRect">
            <a:avLst>
              <a:gd name="adj" fmla="val 15789"/>
            </a:avLst>
          </a:prstGeom>
          <a:solidFill>
            <a:srgbClr val="0B1B3A"/>
          </a:solidFill>
          <a:ln/>
        </p:spPr>
      </p:sp>
      <p:sp>
        <p:nvSpPr>
          <p:cNvPr id="9" name="Text 7"/>
          <p:cNvSpPr txBox="1"/>
          <p:nvPr/>
        </p:nvSpPr>
        <p:spPr>
          <a:xfrm>
            <a:off x="6654698" y="1783080"/>
            <a:ext cx="2494178"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TUẦN 2  ·  N8–N14</a:t>
            </a:r>
            <a:endParaRPr lang="en-US" sz="1100" dirty="0"/>
          </a:p>
        </p:txBody>
      </p:sp>
      <p:sp>
        <p:nvSpPr>
          <p:cNvPr id="10" name="Shape 8"/>
          <p:cNvSpPr/>
          <p:nvPr/>
        </p:nvSpPr>
        <p:spPr>
          <a:xfrm>
            <a:off x="9167165" y="1783080"/>
            <a:ext cx="2457602" cy="347472"/>
          </a:xfrm>
          <a:prstGeom prst="roundRect">
            <a:avLst>
              <a:gd name="adj" fmla="val 15789"/>
            </a:avLst>
          </a:prstGeom>
          <a:solidFill>
            <a:srgbClr val="0B1B3A"/>
          </a:solidFill>
          <a:ln/>
        </p:spPr>
      </p:sp>
      <p:sp>
        <p:nvSpPr>
          <p:cNvPr id="11" name="Text 9"/>
          <p:cNvSpPr txBox="1"/>
          <p:nvPr/>
        </p:nvSpPr>
        <p:spPr>
          <a:xfrm>
            <a:off x="9148877" y="1783080"/>
            <a:ext cx="2494178"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TUẦN 3  ·  N15–N21</a:t>
            </a:r>
            <a:endParaRPr lang="en-US" sz="1100" dirty="0"/>
          </a:p>
        </p:txBody>
      </p:sp>
      <p:sp>
        <p:nvSpPr>
          <p:cNvPr id="12" name="Text 10"/>
          <p:cNvSpPr txBox="1"/>
          <p:nvPr/>
        </p:nvSpPr>
        <p:spPr>
          <a:xfrm>
            <a:off x="4160520"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a:t>
            </a:r>
            <a:endParaRPr lang="en-US" sz="1000" dirty="0"/>
          </a:p>
        </p:txBody>
      </p:sp>
      <p:sp>
        <p:nvSpPr>
          <p:cNvPr id="13" name="Text 11"/>
          <p:cNvSpPr txBox="1"/>
          <p:nvPr/>
        </p:nvSpPr>
        <p:spPr>
          <a:xfrm>
            <a:off x="4516831"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4873142"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3</a:t>
            </a:r>
            <a:endParaRPr lang="en-US" sz="1000" dirty="0"/>
          </a:p>
        </p:txBody>
      </p:sp>
      <p:sp>
        <p:nvSpPr>
          <p:cNvPr id="15" name="Text 13"/>
          <p:cNvSpPr txBox="1"/>
          <p:nvPr/>
        </p:nvSpPr>
        <p:spPr>
          <a:xfrm>
            <a:off x="5229454"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4</a:t>
            </a:r>
            <a:endParaRPr lang="en-US" sz="1000" dirty="0"/>
          </a:p>
        </p:txBody>
      </p:sp>
      <p:sp>
        <p:nvSpPr>
          <p:cNvPr id="16" name="Text 14"/>
          <p:cNvSpPr txBox="1"/>
          <p:nvPr/>
        </p:nvSpPr>
        <p:spPr>
          <a:xfrm>
            <a:off x="5585765"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5</a:t>
            </a:r>
            <a:endParaRPr lang="en-US" sz="1000" dirty="0"/>
          </a:p>
        </p:txBody>
      </p:sp>
      <p:sp>
        <p:nvSpPr>
          <p:cNvPr id="17" name="Text 15"/>
          <p:cNvSpPr txBox="1"/>
          <p:nvPr/>
        </p:nvSpPr>
        <p:spPr>
          <a:xfrm>
            <a:off x="5942076"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6</a:t>
            </a:r>
            <a:endParaRPr lang="en-US" sz="1000" dirty="0"/>
          </a:p>
        </p:txBody>
      </p:sp>
      <p:sp>
        <p:nvSpPr>
          <p:cNvPr id="18" name="Text 16"/>
          <p:cNvSpPr txBox="1"/>
          <p:nvPr/>
        </p:nvSpPr>
        <p:spPr>
          <a:xfrm>
            <a:off x="6298387"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7</a:t>
            </a:r>
            <a:endParaRPr lang="en-US" sz="1000" dirty="0"/>
          </a:p>
        </p:txBody>
      </p:sp>
      <p:sp>
        <p:nvSpPr>
          <p:cNvPr id="19" name="Text 17"/>
          <p:cNvSpPr txBox="1"/>
          <p:nvPr/>
        </p:nvSpPr>
        <p:spPr>
          <a:xfrm>
            <a:off x="6654698"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8</a:t>
            </a:r>
            <a:endParaRPr lang="en-US" sz="1000" dirty="0"/>
          </a:p>
        </p:txBody>
      </p:sp>
      <p:sp>
        <p:nvSpPr>
          <p:cNvPr id="20" name="Text 18"/>
          <p:cNvSpPr txBox="1"/>
          <p:nvPr/>
        </p:nvSpPr>
        <p:spPr>
          <a:xfrm>
            <a:off x="7011010"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9</a:t>
            </a:r>
            <a:endParaRPr lang="en-US" sz="1000" dirty="0"/>
          </a:p>
        </p:txBody>
      </p:sp>
      <p:sp>
        <p:nvSpPr>
          <p:cNvPr id="21" name="Text 19"/>
          <p:cNvSpPr txBox="1"/>
          <p:nvPr/>
        </p:nvSpPr>
        <p:spPr>
          <a:xfrm>
            <a:off x="7367321"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10</a:t>
            </a:r>
            <a:endParaRPr lang="en-US" sz="1000" dirty="0"/>
          </a:p>
        </p:txBody>
      </p:sp>
      <p:sp>
        <p:nvSpPr>
          <p:cNvPr id="22" name="Text 20"/>
          <p:cNvSpPr txBox="1"/>
          <p:nvPr/>
        </p:nvSpPr>
        <p:spPr>
          <a:xfrm>
            <a:off x="7723632"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11</a:t>
            </a:r>
            <a:endParaRPr lang="en-US" sz="1000" dirty="0"/>
          </a:p>
        </p:txBody>
      </p:sp>
      <p:sp>
        <p:nvSpPr>
          <p:cNvPr id="23" name="Text 21"/>
          <p:cNvSpPr txBox="1"/>
          <p:nvPr/>
        </p:nvSpPr>
        <p:spPr>
          <a:xfrm>
            <a:off x="8079943"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12</a:t>
            </a:r>
            <a:endParaRPr lang="en-US" sz="1000" dirty="0"/>
          </a:p>
        </p:txBody>
      </p:sp>
      <p:sp>
        <p:nvSpPr>
          <p:cNvPr id="24" name="Text 22"/>
          <p:cNvSpPr txBox="1"/>
          <p:nvPr/>
        </p:nvSpPr>
        <p:spPr>
          <a:xfrm>
            <a:off x="8436254"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13</a:t>
            </a:r>
            <a:endParaRPr lang="en-US" sz="1000" dirty="0"/>
          </a:p>
        </p:txBody>
      </p:sp>
      <p:sp>
        <p:nvSpPr>
          <p:cNvPr id="25" name="Text 23"/>
          <p:cNvSpPr txBox="1"/>
          <p:nvPr/>
        </p:nvSpPr>
        <p:spPr>
          <a:xfrm>
            <a:off x="8792566"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14</a:t>
            </a:r>
            <a:endParaRPr lang="en-US" sz="1000" dirty="0"/>
          </a:p>
        </p:txBody>
      </p:sp>
      <p:sp>
        <p:nvSpPr>
          <p:cNvPr id="26" name="Text 24"/>
          <p:cNvSpPr txBox="1"/>
          <p:nvPr/>
        </p:nvSpPr>
        <p:spPr>
          <a:xfrm>
            <a:off x="9148877"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15</a:t>
            </a:r>
            <a:endParaRPr lang="en-US" sz="1000" dirty="0"/>
          </a:p>
        </p:txBody>
      </p:sp>
      <p:sp>
        <p:nvSpPr>
          <p:cNvPr id="27" name="Text 25"/>
          <p:cNvSpPr txBox="1"/>
          <p:nvPr/>
        </p:nvSpPr>
        <p:spPr>
          <a:xfrm>
            <a:off x="9505188"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16</a:t>
            </a:r>
            <a:endParaRPr lang="en-US" sz="1000" dirty="0"/>
          </a:p>
        </p:txBody>
      </p:sp>
      <p:sp>
        <p:nvSpPr>
          <p:cNvPr id="28" name="Text 26"/>
          <p:cNvSpPr txBox="1"/>
          <p:nvPr/>
        </p:nvSpPr>
        <p:spPr>
          <a:xfrm>
            <a:off x="9861499"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17</a:t>
            </a:r>
            <a:endParaRPr lang="en-US" sz="1000" dirty="0"/>
          </a:p>
        </p:txBody>
      </p:sp>
      <p:sp>
        <p:nvSpPr>
          <p:cNvPr id="29" name="Text 27"/>
          <p:cNvSpPr txBox="1"/>
          <p:nvPr/>
        </p:nvSpPr>
        <p:spPr>
          <a:xfrm>
            <a:off x="10217810"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18</a:t>
            </a:r>
            <a:endParaRPr lang="en-US" sz="1000" dirty="0"/>
          </a:p>
        </p:txBody>
      </p:sp>
      <p:sp>
        <p:nvSpPr>
          <p:cNvPr id="30" name="Text 28"/>
          <p:cNvSpPr txBox="1"/>
          <p:nvPr/>
        </p:nvSpPr>
        <p:spPr>
          <a:xfrm>
            <a:off x="10574122"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19</a:t>
            </a:r>
            <a:endParaRPr lang="en-US" sz="1000" dirty="0"/>
          </a:p>
        </p:txBody>
      </p:sp>
      <p:sp>
        <p:nvSpPr>
          <p:cNvPr id="31" name="Text 29"/>
          <p:cNvSpPr txBox="1"/>
          <p:nvPr/>
        </p:nvSpPr>
        <p:spPr>
          <a:xfrm>
            <a:off x="10930433"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20</a:t>
            </a:r>
            <a:endParaRPr lang="en-US" sz="1000" dirty="0"/>
          </a:p>
        </p:txBody>
      </p:sp>
      <p:sp>
        <p:nvSpPr>
          <p:cNvPr id="32" name="Text 30"/>
          <p:cNvSpPr txBox="1"/>
          <p:nvPr/>
        </p:nvSpPr>
        <p:spPr>
          <a:xfrm>
            <a:off x="11286744" y="2167128"/>
            <a:ext cx="356311" cy="228600"/>
          </a:xfrm>
          <a:prstGeom prst="rect">
            <a:avLst/>
          </a:prstGeom>
          <a:noFill/>
          <a:ln/>
        </p:spPr>
        <p:txBody>
          <a:bodyPr wrap="square" lIns="0" tIns="0" rIns="0" bIns="0" rtlCol="0" anchor="ctr"/>
          <a:lstStyle/>
          <a:p>
            <a:pPr algn="ctr" indent="0" marL="0">
              <a:buNone/>
            </a:pPr>
            <a:r>
              <a:rPr lang="en-US" sz="1000" dirty="0">
                <a:solidFill>
                  <a:srgbClr val="55657F"/>
                </a:solidFill>
                <a:latin typeface="Calibri" pitchFamily="34" charset="0"/>
                <a:ea typeface="Calibri" pitchFamily="34" charset="-122"/>
                <a:cs typeface="Calibri" pitchFamily="34" charset="-120"/>
              </a:rPr>
              <a:t>21</a:t>
            </a:r>
            <a:endParaRPr lang="en-US" sz="1000" dirty="0"/>
          </a:p>
        </p:txBody>
      </p:sp>
      <p:sp>
        <p:nvSpPr>
          <p:cNvPr id="33" name="Shape 31"/>
          <p:cNvSpPr/>
          <p:nvPr/>
        </p:nvSpPr>
        <p:spPr>
          <a:xfrm>
            <a:off x="548640" y="2441448"/>
            <a:ext cx="11094415" cy="310896"/>
          </a:xfrm>
          <a:prstGeom prst="rect">
            <a:avLst/>
          </a:prstGeom>
          <a:solidFill>
            <a:srgbClr val="FFFFFF"/>
          </a:solidFill>
          <a:ln/>
        </p:spPr>
      </p:sp>
      <p:sp>
        <p:nvSpPr>
          <p:cNvPr id="34" name="Text 32"/>
          <p:cNvSpPr txBox="1"/>
          <p:nvPr/>
        </p:nvSpPr>
        <p:spPr>
          <a:xfrm>
            <a:off x="640080" y="2441448"/>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Khảo sát &amp; xác định nhu cầu</a:t>
            </a:r>
            <a:endParaRPr lang="en-US" sz="1250" dirty="0"/>
          </a:p>
        </p:txBody>
      </p:sp>
      <p:sp>
        <p:nvSpPr>
          <p:cNvPr id="35" name="Text 33"/>
          <p:cNvSpPr txBox="1"/>
          <p:nvPr/>
        </p:nvSpPr>
        <p:spPr>
          <a:xfrm>
            <a:off x="3017520" y="2441448"/>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Trung + Phúc</a:t>
            </a:r>
            <a:endParaRPr lang="en-US" sz="1150" dirty="0"/>
          </a:p>
        </p:txBody>
      </p:sp>
      <p:sp>
        <p:nvSpPr>
          <p:cNvPr id="36" name="Shape 34"/>
          <p:cNvSpPr/>
          <p:nvPr/>
        </p:nvSpPr>
        <p:spPr>
          <a:xfrm>
            <a:off x="4178808" y="2496312"/>
            <a:ext cx="676046" cy="201168"/>
          </a:xfrm>
          <a:prstGeom prst="roundRect">
            <a:avLst>
              <a:gd name="adj" fmla="val 27273"/>
            </a:avLst>
          </a:prstGeom>
          <a:solidFill>
            <a:srgbClr val="1E5AA8"/>
          </a:solidFill>
          <a:ln/>
        </p:spPr>
      </p:sp>
      <p:sp>
        <p:nvSpPr>
          <p:cNvPr id="37" name="Shape 35"/>
          <p:cNvSpPr/>
          <p:nvPr/>
        </p:nvSpPr>
        <p:spPr>
          <a:xfrm>
            <a:off x="548640" y="2752344"/>
            <a:ext cx="11094415" cy="310896"/>
          </a:xfrm>
          <a:prstGeom prst="rect">
            <a:avLst/>
          </a:prstGeom>
          <a:solidFill>
            <a:srgbClr val="EAF0F8"/>
          </a:solidFill>
          <a:ln/>
        </p:spPr>
      </p:sp>
      <p:sp>
        <p:nvSpPr>
          <p:cNvPr id="38" name="Text 36"/>
          <p:cNvSpPr txBox="1"/>
          <p:nvPr/>
        </p:nvSpPr>
        <p:spPr>
          <a:xfrm>
            <a:off x="640080" y="2752344"/>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Khảo sát bán kính cửa hàng</a:t>
            </a:r>
            <a:endParaRPr lang="en-US" sz="1250" dirty="0"/>
          </a:p>
        </p:txBody>
      </p:sp>
      <p:sp>
        <p:nvSpPr>
          <p:cNvPr id="39" name="Text 37"/>
          <p:cNvSpPr txBox="1"/>
          <p:nvPr/>
        </p:nvSpPr>
        <p:spPr>
          <a:xfrm>
            <a:off x="3017520" y="2752344"/>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Phúc + Kim</a:t>
            </a:r>
            <a:endParaRPr lang="en-US" sz="1150" dirty="0"/>
          </a:p>
        </p:txBody>
      </p:sp>
      <p:sp>
        <p:nvSpPr>
          <p:cNvPr id="40" name="Shape 38"/>
          <p:cNvSpPr/>
          <p:nvPr/>
        </p:nvSpPr>
        <p:spPr>
          <a:xfrm>
            <a:off x="4178808" y="2807208"/>
            <a:ext cx="1032358" cy="201168"/>
          </a:xfrm>
          <a:prstGeom prst="roundRect">
            <a:avLst>
              <a:gd name="adj" fmla="val 27273"/>
            </a:avLst>
          </a:prstGeom>
          <a:solidFill>
            <a:srgbClr val="1E5AA8"/>
          </a:solidFill>
          <a:ln/>
        </p:spPr>
      </p:sp>
      <p:sp>
        <p:nvSpPr>
          <p:cNvPr id="41" name="Shape 39"/>
          <p:cNvSpPr/>
          <p:nvPr/>
        </p:nvSpPr>
        <p:spPr>
          <a:xfrm>
            <a:off x="548640" y="3063240"/>
            <a:ext cx="11094415" cy="310896"/>
          </a:xfrm>
          <a:prstGeom prst="rect">
            <a:avLst/>
          </a:prstGeom>
          <a:solidFill>
            <a:srgbClr val="FFFFFF"/>
          </a:solidFill>
          <a:ln/>
        </p:spPr>
      </p:sp>
      <p:sp>
        <p:nvSpPr>
          <p:cNvPr id="42" name="Text 40"/>
          <p:cNvSpPr txBox="1"/>
          <p:nvPr/>
        </p:nvSpPr>
        <p:spPr>
          <a:xfrm>
            <a:off x="640080" y="3063240"/>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Thu thập/xác minh cửa hàng</a:t>
            </a:r>
            <a:endParaRPr lang="en-US" sz="1250" dirty="0"/>
          </a:p>
        </p:txBody>
      </p:sp>
      <p:sp>
        <p:nvSpPr>
          <p:cNvPr id="43" name="Text 41"/>
          <p:cNvSpPr txBox="1"/>
          <p:nvPr/>
        </p:nvSpPr>
        <p:spPr>
          <a:xfrm>
            <a:off x="3017520" y="3063240"/>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Phúc + Kim</a:t>
            </a:r>
            <a:endParaRPr lang="en-US" sz="1150" dirty="0"/>
          </a:p>
        </p:txBody>
      </p:sp>
      <p:sp>
        <p:nvSpPr>
          <p:cNvPr id="44" name="Shape 42"/>
          <p:cNvSpPr/>
          <p:nvPr/>
        </p:nvSpPr>
        <p:spPr>
          <a:xfrm>
            <a:off x="4178808" y="3118104"/>
            <a:ext cx="1744980" cy="201168"/>
          </a:xfrm>
          <a:prstGeom prst="roundRect">
            <a:avLst>
              <a:gd name="adj" fmla="val 27273"/>
            </a:avLst>
          </a:prstGeom>
          <a:solidFill>
            <a:srgbClr val="1E5AA8"/>
          </a:solidFill>
          <a:ln/>
        </p:spPr>
      </p:sp>
      <p:sp>
        <p:nvSpPr>
          <p:cNvPr id="45" name="Shape 43"/>
          <p:cNvSpPr/>
          <p:nvPr/>
        </p:nvSpPr>
        <p:spPr>
          <a:xfrm>
            <a:off x="548640" y="3374136"/>
            <a:ext cx="11094415" cy="310896"/>
          </a:xfrm>
          <a:prstGeom prst="rect">
            <a:avLst/>
          </a:prstGeom>
          <a:solidFill>
            <a:srgbClr val="EAF0F8"/>
          </a:solidFill>
          <a:ln/>
        </p:spPr>
      </p:sp>
      <p:sp>
        <p:nvSpPr>
          <p:cNvPr id="46" name="Text 44"/>
          <p:cNvSpPr txBox="1"/>
          <p:nvPr/>
        </p:nvSpPr>
        <p:spPr>
          <a:xfrm>
            <a:off x="640080" y="3374136"/>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Wireframe/UI</a:t>
            </a:r>
            <a:endParaRPr lang="en-US" sz="1250" dirty="0"/>
          </a:p>
        </p:txBody>
      </p:sp>
      <p:sp>
        <p:nvSpPr>
          <p:cNvPr id="47" name="Text 45"/>
          <p:cNvSpPr txBox="1"/>
          <p:nvPr/>
        </p:nvSpPr>
        <p:spPr>
          <a:xfrm>
            <a:off x="3017520" y="3374136"/>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Đình</a:t>
            </a:r>
            <a:endParaRPr lang="en-US" sz="1150" dirty="0"/>
          </a:p>
        </p:txBody>
      </p:sp>
      <p:sp>
        <p:nvSpPr>
          <p:cNvPr id="48" name="Shape 46"/>
          <p:cNvSpPr/>
          <p:nvPr/>
        </p:nvSpPr>
        <p:spPr>
          <a:xfrm>
            <a:off x="4178808" y="3429000"/>
            <a:ext cx="1388669" cy="201168"/>
          </a:xfrm>
          <a:prstGeom prst="roundRect">
            <a:avLst>
              <a:gd name="adj" fmla="val 27273"/>
            </a:avLst>
          </a:prstGeom>
          <a:solidFill>
            <a:srgbClr val="1E5AA8"/>
          </a:solidFill>
          <a:ln/>
        </p:spPr>
      </p:sp>
      <p:sp>
        <p:nvSpPr>
          <p:cNvPr id="49" name="Shape 47"/>
          <p:cNvSpPr/>
          <p:nvPr/>
        </p:nvSpPr>
        <p:spPr>
          <a:xfrm>
            <a:off x="548640" y="3685032"/>
            <a:ext cx="11094415" cy="310896"/>
          </a:xfrm>
          <a:prstGeom prst="rect">
            <a:avLst/>
          </a:prstGeom>
          <a:solidFill>
            <a:srgbClr val="FFFFFF"/>
          </a:solidFill>
          <a:ln/>
        </p:spPr>
      </p:sp>
      <p:sp>
        <p:nvSpPr>
          <p:cNvPr id="50" name="Text 48"/>
          <p:cNvSpPr txBox="1"/>
          <p:nvPr/>
        </p:nvSpPr>
        <p:spPr>
          <a:xfrm>
            <a:off x="640080" y="3685032"/>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Database &amp; cấu trúc backend</a:t>
            </a:r>
            <a:endParaRPr lang="en-US" sz="1250" dirty="0"/>
          </a:p>
        </p:txBody>
      </p:sp>
      <p:sp>
        <p:nvSpPr>
          <p:cNvPr id="51" name="Text 49"/>
          <p:cNvSpPr txBox="1"/>
          <p:nvPr/>
        </p:nvSpPr>
        <p:spPr>
          <a:xfrm>
            <a:off x="3017520" y="3685032"/>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Hiếu + Trung</a:t>
            </a:r>
            <a:endParaRPr lang="en-US" sz="1150" dirty="0"/>
          </a:p>
        </p:txBody>
      </p:sp>
      <p:sp>
        <p:nvSpPr>
          <p:cNvPr id="52" name="Shape 50"/>
          <p:cNvSpPr/>
          <p:nvPr/>
        </p:nvSpPr>
        <p:spPr>
          <a:xfrm>
            <a:off x="4535119" y="3739896"/>
            <a:ext cx="1388669" cy="201168"/>
          </a:xfrm>
          <a:prstGeom prst="roundRect">
            <a:avLst>
              <a:gd name="adj" fmla="val 27273"/>
            </a:avLst>
          </a:prstGeom>
          <a:solidFill>
            <a:srgbClr val="1E5AA8"/>
          </a:solidFill>
          <a:ln/>
        </p:spPr>
      </p:sp>
      <p:sp>
        <p:nvSpPr>
          <p:cNvPr id="53" name="Shape 51"/>
          <p:cNvSpPr/>
          <p:nvPr/>
        </p:nvSpPr>
        <p:spPr>
          <a:xfrm>
            <a:off x="548640" y="3995928"/>
            <a:ext cx="11094415" cy="310896"/>
          </a:xfrm>
          <a:prstGeom prst="rect">
            <a:avLst/>
          </a:prstGeom>
          <a:solidFill>
            <a:srgbClr val="EAF0F8"/>
          </a:solidFill>
          <a:ln/>
        </p:spPr>
      </p:sp>
      <p:sp>
        <p:nvSpPr>
          <p:cNvPr id="54" name="Text 52"/>
          <p:cNvSpPr txBox="1"/>
          <p:nvPr/>
        </p:nvSpPr>
        <p:spPr>
          <a:xfrm>
            <a:off x="640080" y="3995928"/>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Trang chủ/search/list/detail</a:t>
            </a:r>
            <a:endParaRPr lang="en-US" sz="1250" dirty="0"/>
          </a:p>
        </p:txBody>
      </p:sp>
      <p:sp>
        <p:nvSpPr>
          <p:cNvPr id="55" name="Text 53"/>
          <p:cNvSpPr txBox="1"/>
          <p:nvPr/>
        </p:nvSpPr>
        <p:spPr>
          <a:xfrm>
            <a:off x="3017520" y="3995928"/>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Đình + Trung</a:t>
            </a:r>
            <a:endParaRPr lang="en-US" sz="1150" dirty="0"/>
          </a:p>
        </p:txBody>
      </p:sp>
      <p:sp>
        <p:nvSpPr>
          <p:cNvPr id="56" name="Shape 54"/>
          <p:cNvSpPr/>
          <p:nvPr/>
        </p:nvSpPr>
        <p:spPr>
          <a:xfrm>
            <a:off x="5604053" y="4050792"/>
            <a:ext cx="2101291" cy="201168"/>
          </a:xfrm>
          <a:prstGeom prst="roundRect">
            <a:avLst>
              <a:gd name="adj" fmla="val 27273"/>
            </a:avLst>
          </a:prstGeom>
          <a:solidFill>
            <a:srgbClr val="1E5AA8"/>
          </a:solidFill>
          <a:ln/>
        </p:spPr>
      </p:sp>
      <p:sp>
        <p:nvSpPr>
          <p:cNvPr id="57" name="Shape 55"/>
          <p:cNvSpPr/>
          <p:nvPr/>
        </p:nvSpPr>
        <p:spPr>
          <a:xfrm>
            <a:off x="548640" y="4306824"/>
            <a:ext cx="11094415" cy="310896"/>
          </a:xfrm>
          <a:prstGeom prst="rect">
            <a:avLst/>
          </a:prstGeom>
          <a:solidFill>
            <a:srgbClr val="FFFFFF"/>
          </a:solidFill>
          <a:ln/>
        </p:spPr>
      </p:sp>
      <p:sp>
        <p:nvSpPr>
          <p:cNvPr id="58" name="Text 56"/>
          <p:cNvSpPr txBox="1"/>
          <p:nvPr/>
        </p:nvSpPr>
        <p:spPr>
          <a:xfrm>
            <a:off x="640080" y="4306824"/>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Login/review/admin CRUD</a:t>
            </a:r>
            <a:endParaRPr lang="en-US" sz="1250" dirty="0"/>
          </a:p>
        </p:txBody>
      </p:sp>
      <p:sp>
        <p:nvSpPr>
          <p:cNvPr id="59" name="Text 57"/>
          <p:cNvSpPr txBox="1"/>
          <p:nvPr/>
        </p:nvSpPr>
        <p:spPr>
          <a:xfrm>
            <a:off x="3017520" y="4306824"/>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Hiếu + Trung</a:t>
            </a:r>
            <a:endParaRPr lang="en-US" sz="1150" dirty="0"/>
          </a:p>
        </p:txBody>
      </p:sp>
      <p:sp>
        <p:nvSpPr>
          <p:cNvPr id="60" name="Shape 58"/>
          <p:cNvSpPr/>
          <p:nvPr/>
        </p:nvSpPr>
        <p:spPr>
          <a:xfrm>
            <a:off x="6672986" y="4361688"/>
            <a:ext cx="2101291" cy="201168"/>
          </a:xfrm>
          <a:prstGeom prst="roundRect">
            <a:avLst>
              <a:gd name="adj" fmla="val 27273"/>
            </a:avLst>
          </a:prstGeom>
          <a:solidFill>
            <a:srgbClr val="1E5AA8"/>
          </a:solidFill>
          <a:ln/>
        </p:spPr>
      </p:sp>
      <p:sp>
        <p:nvSpPr>
          <p:cNvPr id="61" name="Shape 59"/>
          <p:cNvSpPr/>
          <p:nvPr/>
        </p:nvSpPr>
        <p:spPr>
          <a:xfrm>
            <a:off x="548640" y="4617720"/>
            <a:ext cx="11094415" cy="310896"/>
          </a:xfrm>
          <a:prstGeom prst="rect">
            <a:avLst/>
          </a:prstGeom>
          <a:solidFill>
            <a:srgbClr val="EAF0F8"/>
          </a:solidFill>
          <a:ln/>
        </p:spPr>
      </p:sp>
      <p:sp>
        <p:nvSpPr>
          <p:cNvPr id="62" name="Text 60"/>
          <p:cNvSpPr txBox="1"/>
          <p:nvPr/>
        </p:nvSpPr>
        <p:spPr>
          <a:xfrm>
            <a:off x="640080" y="4617720"/>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Lọc khu vực + bản đồ nhúng</a:t>
            </a:r>
            <a:endParaRPr lang="en-US" sz="1250" dirty="0"/>
          </a:p>
        </p:txBody>
      </p:sp>
      <p:sp>
        <p:nvSpPr>
          <p:cNvPr id="63" name="Text 61"/>
          <p:cNvSpPr txBox="1"/>
          <p:nvPr/>
        </p:nvSpPr>
        <p:spPr>
          <a:xfrm>
            <a:off x="3017520" y="4617720"/>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Đình + Hiếu</a:t>
            </a:r>
            <a:endParaRPr lang="en-US" sz="1150" dirty="0"/>
          </a:p>
        </p:txBody>
      </p:sp>
      <p:sp>
        <p:nvSpPr>
          <p:cNvPr id="64" name="Shape 62"/>
          <p:cNvSpPr/>
          <p:nvPr/>
        </p:nvSpPr>
        <p:spPr>
          <a:xfrm>
            <a:off x="7029298" y="4672584"/>
            <a:ext cx="1744980" cy="201168"/>
          </a:xfrm>
          <a:prstGeom prst="roundRect">
            <a:avLst>
              <a:gd name="adj" fmla="val 27273"/>
            </a:avLst>
          </a:prstGeom>
          <a:solidFill>
            <a:srgbClr val="1E5AA8"/>
          </a:solidFill>
          <a:ln/>
        </p:spPr>
      </p:sp>
      <p:sp>
        <p:nvSpPr>
          <p:cNvPr id="65" name="Shape 63"/>
          <p:cNvSpPr/>
          <p:nvPr/>
        </p:nvSpPr>
        <p:spPr>
          <a:xfrm>
            <a:off x="548640" y="4928616"/>
            <a:ext cx="11094415" cy="310896"/>
          </a:xfrm>
          <a:prstGeom prst="rect">
            <a:avLst/>
          </a:prstGeom>
          <a:solidFill>
            <a:srgbClr val="FFFFFF"/>
          </a:solidFill>
          <a:ln/>
        </p:spPr>
      </p:sp>
      <p:sp>
        <p:nvSpPr>
          <p:cNvPr id="66" name="Text 64"/>
          <p:cNvSpPr txBox="1"/>
          <p:nvPr/>
        </p:nvSpPr>
        <p:spPr>
          <a:xfrm>
            <a:off x="640080" y="4928616"/>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Nhập dữ liệu thật</a:t>
            </a:r>
            <a:endParaRPr lang="en-US" sz="1250" dirty="0"/>
          </a:p>
        </p:txBody>
      </p:sp>
      <p:sp>
        <p:nvSpPr>
          <p:cNvPr id="67" name="Text 65"/>
          <p:cNvSpPr txBox="1"/>
          <p:nvPr/>
        </p:nvSpPr>
        <p:spPr>
          <a:xfrm>
            <a:off x="3017520" y="4928616"/>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Phúc + Kim</a:t>
            </a:r>
            <a:endParaRPr lang="en-US" sz="1150" dirty="0"/>
          </a:p>
        </p:txBody>
      </p:sp>
      <p:sp>
        <p:nvSpPr>
          <p:cNvPr id="68" name="Shape 66"/>
          <p:cNvSpPr/>
          <p:nvPr/>
        </p:nvSpPr>
        <p:spPr>
          <a:xfrm>
            <a:off x="7385609" y="4983480"/>
            <a:ext cx="1744980" cy="201168"/>
          </a:xfrm>
          <a:prstGeom prst="roundRect">
            <a:avLst>
              <a:gd name="adj" fmla="val 27273"/>
            </a:avLst>
          </a:prstGeom>
          <a:solidFill>
            <a:srgbClr val="1E5AA8"/>
          </a:solidFill>
          <a:ln/>
        </p:spPr>
      </p:sp>
      <p:sp>
        <p:nvSpPr>
          <p:cNvPr id="69" name="Shape 67"/>
          <p:cNvSpPr/>
          <p:nvPr/>
        </p:nvSpPr>
        <p:spPr>
          <a:xfrm>
            <a:off x="548640" y="5239512"/>
            <a:ext cx="11094415" cy="310896"/>
          </a:xfrm>
          <a:prstGeom prst="rect">
            <a:avLst/>
          </a:prstGeom>
          <a:solidFill>
            <a:srgbClr val="EAF0F8"/>
          </a:solidFill>
          <a:ln/>
        </p:spPr>
      </p:sp>
      <p:sp>
        <p:nvSpPr>
          <p:cNvPr id="70" name="Text 68"/>
          <p:cNvSpPr txBox="1"/>
          <p:nvPr/>
        </p:nvSpPr>
        <p:spPr>
          <a:xfrm>
            <a:off x="640080" y="5239512"/>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Testing &amp; sửa lỗi</a:t>
            </a:r>
            <a:endParaRPr lang="en-US" sz="1250" dirty="0"/>
          </a:p>
        </p:txBody>
      </p:sp>
      <p:sp>
        <p:nvSpPr>
          <p:cNvPr id="71" name="Text 69"/>
          <p:cNvSpPr txBox="1"/>
          <p:nvPr/>
        </p:nvSpPr>
        <p:spPr>
          <a:xfrm>
            <a:off x="3017520" y="5239512"/>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Cả nhóm</a:t>
            </a:r>
            <a:endParaRPr lang="en-US" sz="1150" dirty="0"/>
          </a:p>
        </p:txBody>
      </p:sp>
      <p:sp>
        <p:nvSpPr>
          <p:cNvPr id="72" name="Shape 70"/>
          <p:cNvSpPr/>
          <p:nvPr/>
        </p:nvSpPr>
        <p:spPr>
          <a:xfrm>
            <a:off x="8454542" y="5294376"/>
            <a:ext cx="1744980" cy="201168"/>
          </a:xfrm>
          <a:prstGeom prst="roundRect">
            <a:avLst>
              <a:gd name="adj" fmla="val 27273"/>
            </a:avLst>
          </a:prstGeom>
          <a:solidFill>
            <a:srgbClr val="1E5AA8"/>
          </a:solidFill>
          <a:ln/>
        </p:spPr>
      </p:sp>
      <p:sp>
        <p:nvSpPr>
          <p:cNvPr id="73" name="Shape 71"/>
          <p:cNvSpPr/>
          <p:nvPr/>
        </p:nvSpPr>
        <p:spPr>
          <a:xfrm>
            <a:off x="548640" y="5550408"/>
            <a:ext cx="11094415" cy="310896"/>
          </a:xfrm>
          <a:prstGeom prst="rect">
            <a:avLst/>
          </a:prstGeom>
          <a:solidFill>
            <a:srgbClr val="FFFFFF"/>
          </a:solidFill>
          <a:ln/>
        </p:spPr>
      </p:sp>
      <p:sp>
        <p:nvSpPr>
          <p:cNvPr id="74" name="Text 72"/>
          <p:cNvSpPr txBox="1"/>
          <p:nvPr/>
        </p:nvSpPr>
        <p:spPr>
          <a:xfrm>
            <a:off x="640080" y="5550408"/>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Dùng thử &amp; lấy feedback</a:t>
            </a:r>
            <a:endParaRPr lang="en-US" sz="1250" dirty="0"/>
          </a:p>
        </p:txBody>
      </p:sp>
      <p:sp>
        <p:nvSpPr>
          <p:cNvPr id="75" name="Text 73"/>
          <p:cNvSpPr txBox="1"/>
          <p:nvPr/>
        </p:nvSpPr>
        <p:spPr>
          <a:xfrm>
            <a:off x="3017520" y="5550408"/>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Kim + Phúc</a:t>
            </a:r>
            <a:endParaRPr lang="en-US" sz="1150" dirty="0"/>
          </a:p>
        </p:txBody>
      </p:sp>
      <p:sp>
        <p:nvSpPr>
          <p:cNvPr id="76" name="Shape 74"/>
          <p:cNvSpPr/>
          <p:nvPr/>
        </p:nvSpPr>
        <p:spPr>
          <a:xfrm>
            <a:off x="9523476" y="5605272"/>
            <a:ext cx="1032358" cy="201168"/>
          </a:xfrm>
          <a:prstGeom prst="roundRect">
            <a:avLst>
              <a:gd name="adj" fmla="val 27273"/>
            </a:avLst>
          </a:prstGeom>
          <a:solidFill>
            <a:srgbClr val="1E5AA8"/>
          </a:solidFill>
          <a:ln/>
        </p:spPr>
      </p:sp>
      <p:sp>
        <p:nvSpPr>
          <p:cNvPr id="77" name="Shape 75"/>
          <p:cNvSpPr/>
          <p:nvPr/>
        </p:nvSpPr>
        <p:spPr>
          <a:xfrm>
            <a:off x="548640" y="5861304"/>
            <a:ext cx="11094415" cy="310896"/>
          </a:xfrm>
          <a:prstGeom prst="rect">
            <a:avLst/>
          </a:prstGeom>
          <a:solidFill>
            <a:srgbClr val="EAF0F8"/>
          </a:solidFill>
          <a:ln/>
        </p:spPr>
      </p:sp>
      <p:sp>
        <p:nvSpPr>
          <p:cNvPr id="78" name="Text 76"/>
          <p:cNvSpPr txBox="1"/>
          <p:nvPr/>
        </p:nvSpPr>
        <p:spPr>
          <a:xfrm>
            <a:off x="640080" y="5861304"/>
            <a:ext cx="2468880" cy="310896"/>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Báo cáo/slide/clip</a:t>
            </a:r>
            <a:endParaRPr lang="en-US" sz="1250" dirty="0"/>
          </a:p>
        </p:txBody>
      </p:sp>
      <p:sp>
        <p:nvSpPr>
          <p:cNvPr id="79" name="Text 77"/>
          <p:cNvSpPr txBox="1"/>
          <p:nvPr/>
        </p:nvSpPr>
        <p:spPr>
          <a:xfrm>
            <a:off x="3017520" y="5861304"/>
            <a:ext cx="1097280" cy="310896"/>
          </a:xfrm>
          <a:prstGeom prst="rect">
            <a:avLst/>
          </a:prstGeom>
          <a:noFill/>
          <a:ln/>
        </p:spPr>
        <p:txBody>
          <a:bodyPr wrap="square" lIns="0" tIns="0" rIns="0" bIns="0" rtlCol="0" anchor="ctr"/>
          <a:lstStyle/>
          <a:p>
            <a:pPr indent="0" marL="0">
              <a:buNone/>
            </a:pPr>
            <a:r>
              <a:rPr lang="en-US" sz="1150" dirty="0">
                <a:solidFill>
                  <a:srgbClr val="55657F"/>
                </a:solidFill>
                <a:latin typeface="Calibri" pitchFamily="34" charset="0"/>
                <a:ea typeface="Calibri" pitchFamily="34" charset="-122"/>
                <a:cs typeface="Calibri" pitchFamily="34" charset="-120"/>
              </a:rPr>
              <a:t>Cả nhóm</a:t>
            </a:r>
            <a:endParaRPr lang="en-US" sz="1150" dirty="0"/>
          </a:p>
        </p:txBody>
      </p:sp>
      <p:sp>
        <p:nvSpPr>
          <p:cNvPr id="80" name="Shape 78"/>
          <p:cNvSpPr/>
          <p:nvPr/>
        </p:nvSpPr>
        <p:spPr>
          <a:xfrm>
            <a:off x="10236098" y="5916168"/>
            <a:ext cx="1388669" cy="201168"/>
          </a:xfrm>
          <a:prstGeom prst="roundRect">
            <a:avLst>
              <a:gd name="adj" fmla="val 27273"/>
            </a:avLst>
          </a:prstGeom>
          <a:solidFill>
            <a:srgbClr val="1E5AA8"/>
          </a:solidFill>
          <a:ln/>
        </p:spPr>
      </p:sp>
      <p:sp>
        <p:nvSpPr>
          <p:cNvPr id="81" name="Shape 79"/>
          <p:cNvSpPr/>
          <p:nvPr/>
        </p:nvSpPr>
        <p:spPr>
          <a:xfrm>
            <a:off x="6654698" y="2167128"/>
            <a:ext cx="0" cy="4005072"/>
          </a:xfrm>
          <a:prstGeom prst="line">
            <a:avLst/>
          </a:prstGeom>
          <a:noFill/>
          <a:ln w="12700">
            <a:solidFill>
              <a:srgbClr val="D6DEEA"/>
            </a:solidFill>
            <a:prstDash val="dash"/>
          </a:ln>
        </p:spPr>
      </p:sp>
      <p:sp>
        <p:nvSpPr>
          <p:cNvPr id="82" name="Shape 80"/>
          <p:cNvSpPr/>
          <p:nvPr/>
        </p:nvSpPr>
        <p:spPr>
          <a:xfrm>
            <a:off x="9148877" y="2167128"/>
            <a:ext cx="0" cy="4005072"/>
          </a:xfrm>
          <a:prstGeom prst="line">
            <a:avLst/>
          </a:prstGeom>
          <a:noFill/>
          <a:ln w="12700">
            <a:solidFill>
              <a:srgbClr val="D6DEEA"/>
            </a:solidFill>
            <a:prstDash val="dash"/>
          </a:ln>
        </p:spPr>
      </p:sp>
      <p:sp>
        <p:nvSpPr>
          <p:cNvPr id="83" name="Text 81"/>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84" name="Text 82"/>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17 / 22</a:t>
            </a:r>
            <a:endParaRPr lang="en-US" sz="1000" dirty="0"/>
          </a:p>
        </p:txBody>
      </p:sp>
      <p:sp>
        <p:nvSpPr>
          <p:cNvPr id="85" name="TextBox 84"/>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86" name="TextBox 85"/>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17 / 27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II. NỘI DUNG TRIỂN KHAI  ·  KIỂM SOÁT TIẾN ĐỘ</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Mốc kiểm soát &amp; báo cáo nhanh hằng tuần</a:t>
            </a:r>
            <a:endParaRPr lang="en-US" sz="3200" dirty="0"/>
          </a:p>
        </p:txBody>
      </p:sp>
      <p:sp>
        <p:nvSpPr>
          <p:cNvPr id="4" name="Shape 2"/>
          <p:cNvSpPr/>
          <p:nvPr/>
        </p:nvSpPr>
        <p:spPr>
          <a:xfrm>
            <a:off x="548640" y="1783080"/>
            <a:ext cx="6675120" cy="1325880"/>
          </a:xfrm>
          <a:prstGeom prst="roundRect">
            <a:avLst>
              <a:gd name="adj" fmla="val 827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822960" y="2240280"/>
            <a:ext cx="1371600" cy="411480"/>
          </a:xfrm>
          <a:prstGeom prst="roundRect">
            <a:avLst>
              <a:gd name="adj" fmla="val 48889"/>
            </a:avLst>
          </a:prstGeom>
          <a:solidFill>
            <a:srgbClr val="0B1B3A"/>
          </a:solidFill>
          <a:ln/>
        </p:spPr>
      </p:sp>
      <p:sp>
        <p:nvSpPr>
          <p:cNvPr id="6" name="Text 4"/>
          <p:cNvSpPr txBox="1"/>
          <p:nvPr/>
        </p:nvSpPr>
        <p:spPr>
          <a:xfrm>
            <a:off x="822960" y="2240280"/>
            <a:ext cx="1371600" cy="41148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CUỐI TUẦN 1</a:t>
            </a:r>
            <a:endParaRPr lang="en-US" sz="1200" dirty="0"/>
          </a:p>
        </p:txBody>
      </p:sp>
      <p:sp>
        <p:nvSpPr>
          <p:cNvPr id="7" name="Text 5"/>
          <p:cNvSpPr txBox="1"/>
          <p:nvPr/>
        </p:nvSpPr>
        <p:spPr>
          <a:xfrm>
            <a:off x="2468880" y="1783080"/>
            <a:ext cx="4526280" cy="132588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Google Form + dữ liệu khảo sát ban đầu; kết quả khảo sát bán kính &amp; phạm vi đã chốt; danh sách cửa hàng; wireframe; database.</a:t>
            </a:r>
            <a:endParaRPr lang="en-US" sz="1450" dirty="0"/>
          </a:p>
        </p:txBody>
      </p:sp>
      <p:sp>
        <p:nvSpPr>
          <p:cNvPr id="8" name="Shape 6"/>
          <p:cNvSpPr/>
          <p:nvPr/>
        </p:nvSpPr>
        <p:spPr>
          <a:xfrm>
            <a:off x="548640" y="3246120"/>
            <a:ext cx="6675120" cy="1325880"/>
          </a:xfrm>
          <a:prstGeom prst="roundRect">
            <a:avLst>
              <a:gd name="adj" fmla="val 827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9" name="Shape 7"/>
          <p:cNvSpPr/>
          <p:nvPr/>
        </p:nvSpPr>
        <p:spPr>
          <a:xfrm>
            <a:off x="822960" y="3703320"/>
            <a:ext cx="1371600" cy="411480"/>
          </a:xfrm>
          <a:prstGeom prst="roundRect">
            <a:avLst>
              <a:gd name="adj" fmla="val 48889"/>
            </a:avLst>
          </a:prstGeom>
          <a:solidFill>
            <a:srgbClr val="0B1B3A"/>
          </a:solidFill>
          <a:ln/>
        </p:spPr>
      </p:sp>
      <p:sp>
        <p:nvSpPr>
          <p:cNvPr id="10" name="Text 8"/>
          <p:cNvSpPr txBox="1"/>
          <p:nvPr/>
        </p:nvSpPr>
        <p:spPr>
          <a:xfrm>
            <a:off x="822960" y="3703320"/>
            <a:ext cx="1371600" cy="41148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CUỐI TUẦN 2</a:t>
            </a:r>
            <a:endParaRPr lang="en-US" sz="1200" dirty="0"/>
          </a:p>
        </p:txBody>
      </p:sp>
      <p:sp>
        <p:nvSpPr>
          <p:cNvPr id="11" name="Text 9"/>
          <p:cNvSpPr txBox="1"/>
          <p:nvPr/>
        </p:nvSpPr>
        <p:spPr>
          <a:xfrm>
            <a:off x="2468880" y="3246120"/>
            <a:ext cx="4526280" cy="132588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Website chạy được luồng thiết bị/lỗi → danh sách → chi tiết; login; dữ liệu mẫu/thật đã nhập.</a:t>
            </a:r>
            <a:endParaRPr lang="en-US" sz="1450" dirty="0"/>
          </a:p>
        </p:txBody>
      </p:sp>
      <p:sp>
        <p:nvSpPr>
          <p:cNvPr id="12" name="Shape 10"/>
          <p:cNvSpPr/>
          <p:nvPr/>
        </p:nvSpPr>
        <p:spPr>
          <a:xfrm>
            <a:off x="548640" y="4709160"/>
            <a:ext cx="6675120" cy="1325880"/>
          </a:xfrm>
          <a:prstGeom prst="roundRect">
            <a:avLst>
              <a:gd name="adj" fmla="val 827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3" name="Shape 11"/>
          <p:cNvSpPr/>
          <p:nvPr/>
        </p:nvSpPr>
        <p:spPr>
          <a:xfrm>
            <a:off x="822960" y="5166360"/>
            <a:ext cx="1371600" cy="411480"/>
          </a:xfrm>
          <a:prstGeom prst="roundRect">
            <a:avLst>
              <a:gd name="adj" fmla="val 48889"/>
            </a:avLst>
          </a:prstGeom>
          <a:solidFill>
            <a:srgbClr val="0B1B3A"/>
          </a:solidFill>
          <a:ln/>
        </p:spPr>
      </p:sp>
      <p:sp>
        <p:nvSpPr>
          <p:cNvPr id="14" name="Text 12"/>
          <p:cNvSpPr txBox="1"/>
          <p:nvPr/>
        </p:nvSpPr>
        <p:spPr>
          <a:xfrm>
            <a:off x="822960" y="5166360"/>
            <a:ext cx="1371600" cy="41148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CUỐI TUẦN 3</a:t>
            </a:r>
            <a:endParaRPr lang="en-US" sz="1200" dirty="0"/>
          </a:p>
        </p:txBody>
      </p:sp>
      <p:sp>
        <p:nvSpPr>
          <p:cNvPr id="15" name="Text 13"/>
          <p:cNvSpPr txBox="1"/>
          <p:nvPr/>
        </p:nvSpPr>
        <p:spPr>
          <a:xfrm>
            <a:off x="2468880" y="4709160"/>
            <a:ext cx="4526280" cy="1325880"/>
          </a:xfrm>
          <a:prstGeom prst="rect">
            <a:avLst/>
          </a:prstGeom>
          <a:noFill/>
          <a:ln/>
        </p:spPr>
        <p:txBody>
          <a:bodyPr wrap="square" lIns="0" tIns="0" rIns="0" bIns="0" rtlCol="0" anchor="ctr"/>
          <a:lstStyle/>
          <a:p>
            <a:pPr indent="0" marL="0">
              <a:buNone/>
            </a:pPr>
            <a:r>
              <a:rPr lang="en-US" sz="1450" dirty="0">
                <a:solidFill>
                  <a:srgbClr val="0B1B3A"/>
                </a:solidFill>
                <a:latin typeface="Calibri" pitchFamily="34" charset="0"/>
                <a:ea typeface="Calibri" pitchFamily="34" charset="-122"/>
                <a:cs typeface="Calibri" pitchFamily="34" charset="-120"/>
              </a:rPr>
              <a:t>Review + admin; lọc khu vực + bản đồ nhúng; test; feedback; sửa lỗi; báo cáo; slide; clip/minh chứng.</a:t>
            </a:r>
            <a:endParaRPr lang="en-US" sz="1450" dirty="0"/>
          </a:p>
        </p:txBody>
      </p:sp>
      <p:sp>
        <p:nvSpPr>
          <p:cNvPr id="16" name="Shape 14"/>
          <p:cNvSpPr/>
          <p:nvPr/>
        </p:nvSpPr>
        <p:spPr>
          <a:xfrm>
            <a:off x="7498080" y="1783080"/>
            <a:ext cx="4142232" cy="4251960"/>
          </a:xfrm>
          <a:prstGeom prst="roundRect">
            <a:avLst>
              <a:gd name="adj" fmla="val 3311"/>
            </a:avLst>
          </a:prstGeom>
          <a:solidFill>
            <a:srgbClr val="0B1B3A"/>
          </a:solidFill>
          <a:ln/>
        </p:spPr>
      </p:sp>
      <p:sp>
        <p:nvSpPr>
          <p:cNvPr id="17" name="Text 15"/>
          <p:cNvSpPr txBox="1"/>
          <p:nvPr/>
        </p:nvSpPr>
        <p:spPr>
          <a:xfrm>
            <a:off x="7818120" y="2011680"/>
            <a:ext cx="356616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BÁO CÁO NHANH HẰNG TUẦN</a:t>
            </a:r>
            <a:endParaRPr lang="en-US" sz="1200" dirty="0"/>
          </a:p>
        </p:txBody>
      </p:sp>
      <p:sp>
        <p:nvSpPr>
          <p:cNvPr id="18" name="Shape 16"/>
          <p:cNvSpPr/>
          <p:nvPr/>
        </p:nvSpPr>
        <p:spPr>
          <a:xfrm>
            <a:off x="7818120" y="2514600"/>
            <a:ext cx="384048" cy="384048"/>
          </a:xfrm>
          <a:prstGeom prst="ellipse">
            <a:avLst/>
          </a:prstGeom>
          <a:solidFill>
            <a:srgbClr val="E4590F"/>
          </a:solidFill>
          <a:ln/>
        </p:spPr>
      </p:sp>
      <p:sp>
        <p:nvSpPr>
          <p:cNvPr id="19" name="Text 17"/>
          <p:cNvSpPr txBox="1"/>
          <p:nvPr/>
        </p:nvSpPr>
        <p:spPr>
          <a:xfrm>
            <a:off x="781812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0" name="Text 18"/>
          <p:cNvSpPr txBox="1"/>
          <p:nvPr/>
        </p:nvSpPr>
        <p:spPr>
          <a:xfrm>
            <a:off x="8366760" y="2514600"/>
            <a:ext cx="301752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Đã làm được gì?</a:t>
            </a:r>
            <a:endParaRPr lang="en-US" sz="1600" dirty="0"/>
          </a:p>
        </p:txBody>
      </p:sp>
      <p:sp>
        <p:nvSpPr>
          <p:cNvPr id="21" name="Text 19"/>
          <p:cNvSpPr txBox="1"/>
          <p:nvPr/>
        </p:nvSpPr>
        <p:spPr>
          <a:xfrm>
            <a:off x="8366760" y="2944368"/>
            <a:ext cx="3017520" cy="640080"/>
          </a:xfrm>
          <a:prstGeom prst="rect">
            <a:avLst/>
          </a:prstGeom>
          <a:noFill/>
          <a:ln/>
        </p:spPr>
        <p:txBody>
          <a:bodyPr wrap="square" lIns="0" tIns="0" rIns="0" bIns="0" rtlCol="0" anchor="t"/>
          <a:lstStyle/>
          <a:p>
            <a:pPr indent="0" marL="0">
              <a:buNone/>
            </a:pPr>
            <a:r>
              <a:rPr lang="en-US" sz="1300" dirty="0">
                <a:solidFill>
                  <a:srgbClr val="DCE8F7"/>
                </a:solidFill>
                <a:latin typeface="Calibri" pitchFamily="34" charset="0"/>
                <a:ea typeface="Calibri" pitchFamily="34" charset="-122"/>
                <a:cs typeface="Calibri" pitchFamily="34" charset="-120"/>
              </a:rPr>
              <a:t>Hoạt động đã hoàn thành và đầu ra có thể kiểm tra.</a:t>
            </a:r>
            <a:endParaRPr lang="en-US" sz="1300" dirty="0"/>
          </a:p>
        </p:txBody>
      </p:sp>
      <p:sp>
        <p:nvSpPr>
          <p:cNvPr id="22" name="Shape 20"/>
          <p:cNvSpPr/>
          <p:nvPr/>
        </p:nvSpPr>
        <p:spPr>
          <a:xfrm>
            <a:off x="7818120" y="3685032"/>
            <a:ext cx="384048" cy="384048"/>
          </a:xfrm>
          <a:prstGeom prst="ellipse">
            <a:avLst/>
          </a:prstGeom>
          <a:solidFill>
            <a:srgbClr val="E4590F"/>
          </a:solidFill>
          <a:ln/>
        </p:spPr>
      </p:sp>
      <p:sp>
        <p:nvSpPr>
          <p:cNvPr id="23" name="Text 21"/>
          <p:cNvSpPr txBox="1"/>
          <p:nvPr/>
        </p:nvSpPr>
        <p:spPr>
          <a:xfrm>
            <a:off x="7818120" y="3685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4" name="Text 22"/>
          <p:cNvSpPr txBox="1"/>
          <p:nvPr/>
        </p:nvSpPr>
        <p:spPr>
          <a:xfrm>
            <a:off x="8366760" y="3685032"/>
            <a:ext cx="301752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Vấn đề đang tồn đọng?</a:t>
            </a:r>
            <a:endParaRPr lang="en-US" sz="1600" dirty="0"/>
          </a:p>
        </p:txBody>
      </p:sp>
      <p:sp>
        <p:nvSpPr>
          <p:cNvPr id="25" name="Text 23"/>
          <p:cNvSpPr txBox="1"/>
          <p:nvPr/>
        </p:nvSpPr>
        <p:spPr>
          <a:xfrm>
            <a:off x="8366760" y="4114800"/>
            <a:ext cx="3017520" cy="640080"/>
          </a:xfrm>
          <a:prstGeom prst="rect">
            <a:avLst/>
          </a:prstGeom>
          <a:noFill/>
          <a:ln/>
        </p:spPr>
        <p:txBody>
          <a:bodyPr wrap="square" lIns="0" tIns="0" rIns="0" bIns="0" rtlCol="0" anchor="t"/>
          <a:lstStyle/>
          <a:p>
            <a:pPr indent="0" marL="0">
              <a:buNone/>
            </a:pPr>
            <a:r>
              <a:rPr lang="en-US" sz="1300" dirty="0">
                <a:solidFill>
                  <a:srgbClr val="DCE8F7"/>
                </a:solidFill>
                <a:latin typeface="Calibri" pitchFamily="34" charset="0"/>
                <a:ea typeface="Calibri" pitchFamily="34" charset="-122"/>
                <a:cs typeface="Calibri" pitchFamily="34" charset="-120"/>
              </a:rPr>
              <a:t>Lỗi kỹ thuật, dữ liệu thiếu, thành viên trễ việc, cửa hàng phản hồi chậm.</a:t>
            </a:r>
            <a:endParaRPr lang="en-US" sz="1300" dirty="0"/>
          </a:p>
        </p:txBody>
      </p:sp>
      <p:sp>
        <p:nvSpPr>
          <p:cNvPr id="26" name="Shape 24"/>
          <p:cNvSpPr/>
          <p:nvPr/>
        </p:nvSpPr>
        <p:spPr>
          <a:xfrm>
            <a:off x="7818120" y="4855464"/>
            <a:ext cx="384048" cy="384048"/>
          </a:xfrm>
          <a:prstGeom prst="ellipse">
            <a:avLst/>
          </a:prstGeom>
          <a:solidFill>
            <a:srgbClr val="E4590F"/>
          </a:solidFill>
          <a:ln/>
        </p:spPr>
      </p:sp>
      <p:sp>
        <p:nvSpPr>
          <p:cNvPr id="27" name="Text 25"/>
          <p:cNvSpPr txBox="1"/>
          <p:nvPr/>
        </p:nvSpPr>
        <p:spPr>
          <a:xfrm>
            <a:off x="7818120" y="4855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8" name="Text 26"/>
          <p:cNvSpPr txBox="1"/>
          <p:nvPr/>
        </p:nvSpPr>
        <p:spPr>
          <a:xfrm>
            <a:off x="8366760" y="4855464"/>
            <a:ext cx="301752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Sẽ làm gì tiếp theo?</a:t>
            </a:r>
            <a:endParaRPr lang="en-US" sz="1600" dirty="0"/>
          </a:p>
        </p:txBody>
      </p:sp>
      <p:sp>
        <p:nvSpPr>
          <p:cNvPr id="29" name="Text 27"/>
          <p:cNvSpPr txBox="1"/>
          <p:nvPr/>
        </p:nvSpPr>
        <p:spPr>
          <a:xfrm>
            <a:off x="8366760" y="5285232"/>
            <a:ext cx="3017520" cy="640080"/>
          </a:xfrm>
          <a:prstGeom prst="rect">
            <a:avLst/>
          </a:prstGeom>
          <a:noFill/>
          <a:ln/>
        </p:spPr>
        <p:txBody>
          <a:bodyPr wrap="square" lIns="0" tIns="0" rIns="0" bIns="0" rtlCol="0" anchor="t"/>
          <a:lstStyle/>
          <a:p>
            <a:pPr indent="0" marL="0">
              <a:buNone/>
            </a:pPr>
            <a:r>
              <a:rPr lang="en-US" sz="1300" dirty="0">
                <a:solidFill>
                  <a:srgbClr val="DCE8F7"/>
                </a:solidFill>
                <a:latin typeface="Calibri" pitchFamily="34" charset="0"/>
                <a:ea typeface="Calibri" pitchFamily="34" charset="-122"/>
                <a:cs typeface="Calibri" pitchFamily="34" charset="-120"/>
              </a:rPr>
              <a:t>Việc của tuần kế tiếp, người phụ trách và thời hạn.</a:t>
            </a:r>
            <a:endParaRPr lang="en-US" sz="1300" dirty="0"/>
          </a:p>
        </p:txBody>
      </p:sp>
      <p:sp>
        <p:nvSpPr>
          <p:cNvPr id="30" name="Text 28"/>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1" name="Text 29"/>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18 / 22</a:t>
            </a:r>
            <a:endParaRPr lang="en-US" sz="1000" dirty="0"/>
          </a:p>
        </p:txBody>
      </p:sp>
      <p:sp>
        <p:nvSpPr>
          <p:cNvPr id="32" name="TextBox 31"/>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33" name="TextBox 32"/>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18 / 27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II. NỘI DUNG TRIỂN KHAI  ·  TRUYỀN THÔNG</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Kế hoạch đăng bài &amp; truyền thông</a:t>
            </a:r>
            <a:endParaRPr lang="en-US" sz="3200" dirty="0"/>
          </a:p>
        </p:txBody>
      </p:sp>
      <p:sp>
        <p:nvSpPr>
          <p:cNvPr id="4" name="Text 2"/>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600" dirty="0">
                <a:solidFill>
                  <a:srgbClr val="55657F"/>
                </a:solidFill>
                <a:latin typeface="Calibri" pitchFamily="34" charset="0"/>
                <a:ea typeface="Calibri" pitchFamily="34" charset="-122"/>
                <a:cs typeface="Calibri" pitchFamily="34" charset="-120"/>
              </a:rPr>
              <a:t>Truyền thông phục vụ khảo sát, dùng thử và minh chứng tính cộng đồng của dự án.</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1463040"/>
                <a:gridCol w="4023360"/>
                <a:gridCol w="2926080"/>
                <a:gridCol w="2681935"/>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Thời điểm</a:t>
                      </a:r>
                      <a:endParaRPr lang="en-US" sz="1300" dirty="0">
                        <a:latin typeface="Arial" charset="0"/>
                        <a:ea typeface="Arial" charset="0"/>
                        <a:cs typeface="Arial"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Nội dung</a:t>
                      </a:r>
                      <a:endParaRPr lang="en-US" sz="1300" dirty="0">
                        <a:latin typeface="Arial" charset="0"/>
                        <a:ea typeface="Arial" charset="0"/>
                        <a:cs typeface="Arial"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Kênh</a:t>
                      </a:r>
                      <a:endParaRPr lang="en-US" sz="1300" dirty="0">
                        <a:latin typeface="Arial" charset="0"/>
                        <a:ea typeface="Arial" charset="0"/>
                        <a:cs typeface="Arial"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Mục tiêu</a:t>
                      </a:r>
                      <a:endParaRPr lang="en-US" sz="1300" dirty="0">
                        <a:latin typeface="Arial" charset="0"/>
                        <a:ea typeface="Arial" charset="0"/>
                        <a:cs typeface="Arial"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r>
              <a:tr h="868680">
                <a:tc>
                  <a:txBody>
                    <a:bodyPr/>
                    <a:lstStyle/>
                    <a:p>
                      <a:pPr indent="0" marL="0">
                        <a:buNone/>
                      </a:pPr>
                      <a:r>
                        <a:rPr lang="en-US" sz="1400" b="1" dirty="0">
                          <a:solidFill>
                            <a:srgbClr val="C2410C"/>
                          </a:solidFill>
                          <a:latin typeface="Calibri" pitchFamily="34" charset="0"/>
                          <a:ea typeface="Calibri" pitchFamily="34" charset="-122"/>
                          <a:cs typeface="Calibri" pitchFamily="34" charset="-120"/>
                        </a:rPr>
                        <a:t>Tuần 1</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Form khảo sát: thói quen và khó khăn khi tìm nơi sửa</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Nhóm lớp / bạn bè / mạng xã hội phù hợp</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Thu tối thiểu 10 phản hồi đúng đối tượng.</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C2410C"/>
                          </a:solidFill>
                          <a:latin typeface="Calibri" pitchFamily="34" charset="0"/>
                          <a:ea typeface="Calibri" pitchFamily="34" charset="-122"/>
                          <a:cs typeface="Calibri" pitchFamily="34" charset="-120"/>
                        </a:rPr>
                        <a:t>Tuần 2</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Giới thiệu FixNear và mời đăng ký dùng thử</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Nhóm lớp / trang cá nhân</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Tìm người test sản phẩm.</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r>
              <a:tr h="868680">
                <a:tc>
                  <a:txBody>
                    <a:bodyPr/>
                    <a:lstStyle/>
                    <a:p>
                      <a:pPr indent="0" marL="0">
                        <a:buNone/>
                      </a:pPr>
                      <a:r>
                        <a:rPr lang="en-US" sz="1400" b="1" dirty="0">
                          <a:solidFill>
                            <a:srgbClr val="C2410C"/>
                          </a:solidFill>
                          <a:latin typeface="Calibri" pitchFamily="34" charset="0"/>
                          <a:ea typeface="Calibri" pitchFamily="34" charset="-122"/>
                          <a:cs typeface="Calibri" pitchFamily="34" charset="-120"/>
                        </a:rPr>
                        <a:t>Tuần 3</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Mời dùng thử + form feedback</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Nhóm lớp / người đã khảo sát</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Thu phản hồi định tính / định lượng.</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C2410C"/>
                          </a:solidFill>
                          <a:latin typeface="Calibri" pitchFamily="34" charset="0"/>
                          <a:ea typeface="Calibri" pitchFamily="34" charset="-122"/>
                          <a:cs typeface="Calibri" pitchFamily="34" charset="-120"/>
                        </a:rPr>
                        <a:t>Kết thúc</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Chia sẻ sản phẩm và kết quả học tập của nhóm</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Kênh nhóm lựa chọn</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400" dirty="0">
                          <a:solidFill>
                            <a:srgbClr val="0B1B3A"/>
                          </a:solidFill>
                          <a:latin typeface="Calibri" pitchFamily="34" charset="0"/>
                          <a:ea typeface="Calibri" pitchFamily="34" charset="-122"/>
                          <a:cs typeface="Calibri" pitchFamily="34" charset="-120"/>
                        </a:rPr>
                        <a:t>Minh chứng tính cộng đồng.</a:t>
                      </a:r>
                      <a:endParaRPr lang="en-US" sz="1400" dirty="0">
                        <a:latin typeface="Calibri" charset="0"/>
                        <a:ea typeface="Calibri" charset="0"/>
                        <a:cs typeface="Calibri" charset="0"/>
                      </a:endParaRPr>
                    </a:p>
                  </a:txBody>
                  <a:tcPr marL="137160" marR="137160"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r>
            </a:tbl>
          </a:graphicData>
        </a:graphic>
      </p:graphicFrame>
      <p:sp>
        <p:nvSpPr>
          <p:cNvPr id="6" name="Text 3"/>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7" name="Text 4"/>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19 / 22</a:t>
            </a:r>
            <a:endParaRPr lang="en-US" sz="1000" dirty="0"/>
          </a:p>
        </p:txBody>
      </p:sp>
      <p:sp>
        <p:nvSpPr>
          <p:cNvPr id="21" name="TextBox 20"/>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2" name="TextBox 21"/>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19 / 27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II. NỘI DUNG TRIỂN KHAI  ·  KINH PHÍ</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Dự trù kinh phí</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955280" cy="914400"/>
        </p:xfrm>
        <a:graphic>
          <a:graphicData uri="http://schemas.openxmlformats.org/drawingml/2006/table">
            <a:tbl>
              <a:tblPr/>
              <a:tblGrid>
                <a:gridCol w="2286000"/>
                <a:gridCol w="777240"/>
                <a:gridCol w="1143000"/>
                <a:gridCol w="1280160"/>
                <a:gridCol w="2468880"/>
              </a:tblGrid>
              <a:tr h="45720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Hạng mục</a:t>
                      </a:r>
                      <a:endParaRPr lang="en-US" sz="12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SL</a:t>
                      </a:r>
                      <a:endParaRPr lang="en-US" sz="12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Đơn giá (đ)</a:t>
                      </a:r>
                      <a:endParaRPr lang="en-US" sz="12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Thành tiền (đ)</a:t>
                      </a:r>
                      <a:endParaRPr lang="en-US" sz="12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Ghi chú</a:t>
                      </a:r>
                      <a:endParaRPr lang="en-US" sz="12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0B1B3A"/>
                    </a:solidFill>
                  </a:tcPr>
                </a:tc>
              </a:tr>
              <a:tr h="621792">
                <a:tc>
                  <a:txBody>
                    <a:bodyPr/>
                    <a:lstStyle/>
                    <a:p>
                      <a:pPr indent="0" marL="0">
                        <a:buNone/>
                      </a:pPr>
                      <a:r>
                        <a:rPr lang="en-US" sz="1300" b="1" dirty="0">
                          <a:solidFill>
                            <a:srgbClr val="0B1B3A"/>
                          </a:solidFill>
                          <a:latin typeface="Calibri" pitchFamily="34" charset="0"/>
                          <a:ea typeface="Calibri" pitchFamily="34" charset="-122"/>
                          <a:cs typeface="Calibri" pitchFamily="34" charset="-120"/>
                        </a:rPr>
                        <a:t>Hosting miễn phí / local demo</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B3A"/>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200" dirty="0">
                          <a:solidFill>
                            <a:srgbClr val="55657F"/>
                          </a:solidFill>
                          <a:latin typeface="Calibri" pitchFamily="34" charset="0"/>
                          <a:ea typeface="Calibri" pitchFamily="34" charset="-122"/>
                          <a:cs typeface="Calibri" pitchFamily="34" charset="-120"/>
                        </a:rPr>
                        <a:t>Ưu tiên nền tảng miễn phí hoặc localhost.</a:t>
                      </a:r>
                      <a:endParaRPr lang="en-US" sz="12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0B1B3A"/>
                          </a:solidFill>
                          <a:latin typeface="Calibri" pitchFamily="34" charset="0"/>
                          <a:ea typeface="Calibri" pitchFamily="34" charset="-122"/>
                          <a:cs typeface="Calibri" pitchFamily="34" charset="-120"/>
                        </a:rPr>
                        <a:t>Tên miền</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ctr" indent="0" marL="0">
                        <a:buNone/>
                      </a:pPr>
                      <a:r>
                        <a:rPr lang="en-US" sz="1300" dirty="0">
                          <a:solidFill>
                            <a:srgbClr val="0B1B3A"/>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200" dirty="0">
                          <a:solidFill>
                            <a:srgbClr val="55657F"/>
                          </a:solidFill>
                          <a:latin typeface="Calibri" pitchFamily="34" charset="0"/>
                          <a:ea typeface="Calibri" pitchFamily="34" charset="-122"/>
                          <a:cs typeface="Calibri" pitchFamily="34" charset="-120"/>
                        </a:rPr>
                        <a:t>Không bắt buộc cho ASM; dùng URL miễn phí nếu có.</a:t>
                      </a:r>
                      <a:endParaRPr lang="en-US" sz="12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r>
              <a:tr h="621792">
                <a:tc>
                  <a:txBody>
                    <a:bodyPr/>
                    <a:lstStyle/>
                    <a:p>
                      <a:pPr indent="0" marL="0">
                        <a:buNone/>
                      </a:pPr>
                      <a:r>
                        <a:rPr lang="en-US" sz="1300" b="1" dirty="0">
                          <a:solidFill>
                            <a:srgbClr val="0B1B3A"/>
                          </a:solidFill>
                          <a:latin typeface="Calibri" pitchFamily="34" charset="0"/>
                          <a:ea typeface="Calibri" pitchFamily="34" charset="-122"/>
                          <a:cs typeface="Calibri" pitchFamily="34" charset="-120"/>
                        </a:rPr>
                        <a:t>Di chuyển khảo sát cửa hàng</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B3A"/>
                          </a:solidFill>
                          <a:latin typeface="Calibri" pitchFamily="34" charset="0"/>
                          <a:ea typeface="Calibri" pitchFamily="34" charset="-122"/>
                          <a:cs typeface="Calibri" pitchFamily="34" charset="-120"/>
                        </a:rPr>
                        <a:t>05 lượt</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20.000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200" dirty="0">
                          <a:solidFill>
                            <a:srgbClr val="55657F"/>
                          </a:solidFill>
                          <a:latin typeface="Calibri" pitchFamily="34" charset="0"/>
                          <a:ea typeface="Calibri" pitchFamily="34" charset="-122"/>
                          <a:cs typeface="Calibri" pitchFamily="34" charset="-120"/>
                        </a:rPr>
                        <a:t>Chỉ phát sinh nếu cần đi thực địa.</a:t>
                      </a:r>
                      <a:endParaRPr lang="en-US" sz="12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0B1B3A"/>
                          </a:solidFill>
                          <a:latin typeface="Calibri" pitchFamily="34" charset="0"/>
                          <a:ea typeface="Calibri" pitchFamily="34" charset="-122"/>
                          <a:cs typeface="Calibri" pitchFamily="34" charset="-120"/>
                        </a:rPr>
                        <a:t>In tài liệu / QR khảo sát</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ctr" indent="0" marL="0">
                        <a:buNone/>
                      </a:pPr>
                      <a:r>
                        <a:rPr lang="en-US" sz="1300" dirty="0">
                          <a:solidFill>
                            <a:srgbClr val="0B1B3A"/>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c>
                  <a:txBody>
                    <a:bodyPr/>
                    <a:lstStyle/>
                    <a:p>
                      <a:pPr indent="0" marL="0">
                        <a:buNone/>
                      </a:pPr>
                      <a:r>
                        <a:rPr lang="en-US" sz="1200" dirty="0">
                          <a:solidFill>
                            <a:srgbClr val="55657F"/>
                          </a:solidFill>
                          <a:latin typeface="Calibri" pitchFamily="34" charset="0"/>
                          <a:ea typeface="Calibri" pitchFamily="34" charset="-122"/>
                          <a:cs typeface="Calibri" pitchFamily="34" charset="-120"/>
                        </a:rPr>
                        <a:t>Tùy nhu cầu.</a:t>
                      </a:r>
                      <a:endParaRPr lang="en-US" sz="12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EAF0F8"/>
                    </a:solidFill>
                  </a:tcPr>
                </a:tc>
              </a:tr>
              <a:tr h="621792">
                <a:tc>
                  <a:txBody>
                    <a:bodyPr/>
                    <a:lstStyle/>
                    <a:p>
                      <a:pPr indent="0" marL="0">
                        <a:buNone/>
                      </a:pPr>
                      <a:r>
                        <a:rPr lang="en-US" sz="1300" b="1" dirty="0">
                          <a:solidFill>
                            <a:srgbClr val="0B1B3A"/>
                          </a:solidFill>
                          <a:latin typeface="Calibri" pitchFamily="34" charset="0"/>
                          <a:ea typeface="Calibri" pitchFamily="34" charset="-122"/>
                          <a:cs typeface="Calibri" pitchFamily="34" charset="-120"/>
                        </a:rPr>
                        <a:t>Dự phòng</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B1B3A"/>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B1B3A"/>
                          </a:solidFill>
                          <a:latin typeface="Calibri" pitchFamily="34" charset="0"/>
                          <a:ea typeface="Calibri" pitchFamily="34" charset="-122"/>
                          <a:cs typeface="Calibri" pitchFamily="34" charset="-120"/>
                        </a:rPr>
                        <a:t>50.000</a:t>
                      </a:r>
                      <a:endParaRPr lang="en-US" sz="13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c>
                  <a:txBody>
                    <a:bodyPr/>
                    <a:lstStyle/>
                    <a:p>
                      <a:pPr indent="0" marL="0">
                        <a:buNone/>
                      </a:pPr>
                      <a:r>
                        <a:rPr lang="en-US" sz="1200" dirty="0">
                          <a:solidFill>
                            <a:srgbClr val="55657F"/>
                          </a:solidFill>
                          <a:latin typeface="Calibri" pitchFamily="34" charset="0"/>
                          <a:ea typeface="Calibri" pitchFamily="34" charset="-122"/>
                          <a:cs typeface="Calibri" pitchFamily="34" charset="-120"/>
                        </a:rPr>
                        <a:t>Phát sinh nhỏ.</a:t>
                      </a:r>
                      <a:endParaRPr lang="en-US" sz="1200" dirty="0">
                        <a:latin typeface="Calibri" charset="0"/>
                        <a:ea typeface="Calibri" charset="0"/>
                        <a:cs typeface="Calibri"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FFFFFF"/>
                    </a:solidFill>
                  </a:tcPr>
                </a:tc>
              </a:tr>
              <a:tr h="621792">
                <a:tc gridSpan="3">
                  <a:txBody>
                    <a:bodyPr/>
                    <a:lstStyle/>
                    <a:p>
                      <a:pPr indent="0" marL="0">
                        <a:buNone/>
                      </a:pPr>
                      <a:r>
                        <a:rPr lang="en-US" sz="1300" b="1" dirty="0">
                          <a:solidFill>
                            <a:srgbClr val="FFFFFF"/>
                          </a:solidFill>
                          <a:latin typeface="Arial" pitchFamily="34" charset="0"/>
                          <a:ea typeface="Arial" pitchFamily="34" charset="-122"/>
                          <a:cs typeface="Arial" pitchFamily="34" charset="-120"/>
                        </a:rPr>
                        <a:t>TỔNG DỰ TRÙ</a:t>
                      </a:r>
                      <a:endParaRPr lang="en-US" sz="13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1E5AA8"/>
                    </a:solidFill>
                  </a:tcPr>
                </a:tc>
                <a:tc hMerge="1">
                  <a:tcPr/>
                </a:tc>
                <a:tc hMerge="1">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200.000</a:t>
                      </a:r>
                      <a:endParaRPr lang="en-US" sz="1300" dirty="0">
                        <a:latin typeface="Arial" charset="0"/>
                        <a:ea typeface="Arial" charset="0"/>
                        <a:cs typeface="Arial" charset="0"/>
                      </a:endParaRPr>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1E5AA8"/>
                    </a:solidFill>
                  </a:tcPr>
                </a:tc>
                <a:tc>
                  <a:txBody>
                    <a:bodyPr/>
                    <a:lstStyle/>
                    <a:p>
                      <a:pPr indent="0" marL="0">
                        <a:buNone/>
                      </a:pPr>
                      <a:r>
                        <a:rPr lang="en-US" sz="1200" dirty="0">
                          <a:solidFill>
                            <a:srgbClr val="FFFFFF"/>
                          </a:solidFill>
                        </a:rPr>
                        <a:t>Có thể thấp hơn nếu làm hoàn toàn online.</a:t>
                      </a:r>
                      <a:endParaRPr lang="en-US" sz="1200" dirty="0"/>
                    </a:p>
                  </a:txBody>
                  <a:tcPr marL="109728" marR="109728" marT="45720" marB="45720"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rgbClr val="1E5AA8"/>
                    </a:solidFill>
                  </a:tcPr>
                </a:tc>
              </a:tr>
            </a:tbl>
          </a:graphicData>
        </a:graphic>
      </p:graphicFrame>
      <p:sp>
        <p:nvSpPr>
          <p:cNvPr id="5" name="Shape 2"/>
          <p:cNvSpPr/>
          <p:nvPr/>
        </p:nvSpPr>
        <p:spPr>
          <a:xfrm>
            <a:off x="8732520" y="1783080"/>
            <a:ext cx="2907792" cy="4206240"/>
          </a:xfrm>
          <a:prstGeom prst="roundRect">
            <a:avLst>
              <a:gd name="adj" fmla="val 4717"/>
            </a:avLst>
          </a:prstGeom>
          <a:solidFill>
            <a:srgbClr val="0B1B3A"/>
          </a:solidFill>
          <a:ln/>
        </p:spPr>
      </p:sp>
      <p:sp>
        <p:nvSpPr>
          <p:cNvPr id="6" name="Text 3"/>
          <p:cNvSpPr txBox="1"/>
          <p:nvPr/>
        </p:nvSpPr>
        <p:spPr>
          <a:xfrm>
            <a:off x="9006840" y="2057400"/>
            <a:ext cx="237744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TỔNG DỰ TRÙ</a:t>
            </a:r>
            <a:endParaRPr lang="en-US" sz="1200" dirty="0"/>
          </a:p>
        </p:txBody>
      </p:sp>
      <p:sp>
        <p:nvSpPr>
          <p:cNvPr id="7" name="Text 4"/>
          <p:cNvSpPr txBox="1"/>
          <p:nvPr/>
        </p:nvSpPr>
        <p:spPr>
          <a:xfrm>
            <a:off x="9006840" y="2423160"/>
            <a:ext cx="237744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200.000</a:t>
            </a:r>
            <a:endParaRPr lang="en-US" sz="4000" dirty="0"/>
          </a:p>
        </p:txBody>
      </p:sp>
      <p:sp>
        <p:nvSpPr>
          <p:cNvPr id="8" name="Text 5"/>
          <p:cNvSpPr txBox="1"/>
          <p:nvPr/>
        </p:nvSpPr>
        <p:spPr>
          <a:xfrm>
            <a:off x="9006840" y="3246120"/>
            <a:ext cx="2377440" cy="365760"/>
          </a:xfrm>
          <a:prstGeom prst="rect">
            <a:avLst/>
          </a:prstGeom>
          <a:noFill/>
          <a:ln/>
        </p:spPr>
        <p:txBody>
          <a:bodyPr wrap="square" lIns="0" tIns="0" rIns="0" bIns="0" rtlCol="0" anchor="t"/>
          <a:lstStyle/>
          <a:p>
            <a:pPr indent="0" marL="0">
              <a:buNone/>
            </a:pPr>
            <a:r>
              <a:rPr lang="en-US" sz="1800" b="1" dirty="0">
                <a:solidFill>
                  <a:srgbClr val="3DD6C6"/>
                </a:solidFill>
                <a:latin typeface="Calibri" pitchFamily="34" charset="0"/>
                <a:ea typeface="Calibri" pitchFamily="34" charset="-122"/>
                <a:cs typeface="Calibri" pitchFamily="34" charset="-120"/>
              </a:rPr>
              <a:t>VNĐ</a:t>
            </a:r>
            <a:endParaRPr lang="en-US" sz="1800" dirty="0"/>
          </a:p>
        </p:txBody>
      </p:sp>
      <p:sp>
        <p:nvSpPr>
          <p:cNvPr id="9" name="Text 6"/>
          <p:cNvSpPr txBox="1"/>
          <p:nvPr/>
        </p:nvSpPr>
        <p:spPr>
          <a:xfrm>
            <a:off x="9006840" y="3977640"/>
            <a:ext cx="2377440" cy="1463040"/>
          </a:xfrm>
          <a:prstGeom prst="rect">
            <a:avLst/>
          </a:prstGeom>
          <a:noFill/>
          <a:ln/>
        </p:spPr>
        <p:txBody>
          <a:bodyPr wrap="square" lIns="0" tIns="0" rIns="0" bIns="0" rtlCol="0" anchor="t"/>
          <a:lstStyle/>
          <a:p>
            <a:pPr indent="0" marL="0">
              <a:buNone/>
            </a:pPr>
            <a:r>
              <a:rPr lang="en-US" sz="1400" dirty="0">
                <a:solidFill>
                  <a:srgbClr val="DCE8F7"/>
                </a:solidFill>
                <a:latin typeface="Calibri" pitchFamily="34" charset="0"/>
                <a:ea typeface="Calibri" pitchFamily="34" charset="-122"/>
                <a:cs typeface="Calibri" pitchFamily="34" charset="-120"/>
              </a:rPr>
              <a:t>Ưu tiên công cụ miễn phí; chi phí thực tế có thể thấp hơn nếu làm hoàn toàn online.</a:t>
            </a:r>
            <a:endParaRPr lang="en-US" sz="1400" dirty="0"/>
          </a:p>
        </p:txBody>
      </p:sp>
      <p:sp>
        <p:nvSpPr>
          <p:cNvPr id="10" name="Text 7"/>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11" name="Text 8"/>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20 / 22</a:t>
            </a:r>
            <a:endParaRPr lang="en-US" sz="1000" dirty="0"/>
          </a:p>
        </p:txBody>
      </p:sp>
      <p:sp>
        <p:nvSpPr>
          <p:cNvPr id="22" name="TextBox 21"/>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23" name="TextBox 22"/>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20 / 27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457200"/>
          </a:xfrm>
          <a:prstGeom prst="rect">
            <a:avLst/>
          </a:prstGeom>
          <a:noFill/>
          <a:ln/>
        </p:spPr>
        <p:txBody>
          <a:bodyPr wrap="square" lIns="0" tIns="0" rIns="0" bIns="0" rtlCol="0" anchor="ctr"/>
          <a:lstStyle/>
          <a:p>
            <a:pPr indent="0" marL="0">
              <a:buNone/>
            </a:pPr>
            <a:r>
              <a:rPr lang="en-US" sz="1300" b="1" spc="200" kern="0" dirty="0">
                <a:solidFill>
                  <a:srgbClr val="1E5AA8"/>
                </a:solidFill>
                <a:latin typeface="Arial" pitchFamily="34" charset="0"/>
                <a:ea typeface="Arial" pitchFamily="34" charset="-122"/>
                <a:cs typeface="Arial" pitchFamily="34" charset="-120"/>
              </a:rPr>
              <a:t>III. ĐÁNH GIÁ  ·  THÀNH VIÊN TRONG NHÓM</a:t>
            </a:r>
            <a:endParaRPr lang="en-US" sz="1300" dirty="0"/>
          </a:p>
        </p:txBody>
      </p:sp>
      <p:sp>
        <p:nvSpPr>
          <p:cNvPr id="3" name="Text 1"/>
          <p:cNvSpPr txBox="1"/>
          <p:nvPr/>
        </p:nvSpPr>
        <p:spPr>
          <a:xfrm>
            <a:off x="548640" y="914400"/>
            <a:ext cx="11094415" cy="640080"/>
          </a:xfrm>
          <a:prstGeom prst="rect">
            <a:avLst/>
          </a:prstGeom>
          <a:noFill/>
          <a:ln/>
        </p:spPr>
        <p:txBody>
          <a:bodyPr wrap="square" lIns="0" tIns="0" rIns="0" bIns="0" rtlCol="0" anchor="ctr"/>
          <a:lstStyle/>
          <a:p>
            <a:pPr indent="0" marL="0">
              <a:buNone/>
            </a:pPr>
            <a:r>
              <a:rPr lang="en-US" sz="3200" b="1" dirty="0">
                <a:solidFill>
                  <a:srgbClr val="0B1B3A"/>
                </a:solidFill>
                <a:latin typeface="Arial" pitchFamily="34" charset="0"/>
                <a:ea typeface="Arial" pitchFamily="34" charset="-122"/>
                <a:cs typeface="Arial" pitchFamily="34" charset="-120"/>
              </a:rPr>
              <a:t>Đánh giá thành viên trong nhóm</a:t>
            </a:r>
            <a:endParaRPr lang="en-US" sz="3200" dirty="0"/>
          </a:p>
        </p:txBody>
      </p:sp>
      <p:sp>
        <p:nvSpPr>
          <p:cNvPr id="4" name="Text 2"/>
          <p:cNvSpPr txBox="1"/>
          <p:nvPr/>
        </p:nvSpPr>
        <p:spPr>
          <a:xfrm>
            <a:off x="1463040" y="1783080"/>
            <a:ext cx="274320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THÀNH VIÊN</a:t>
            </a:r>
            <a:endParaRPr lang="en-US" sz="1100" dirty="0"/>
          </a:p>
        </p:txBody>
      </p:sp>
      <p:sp>
        <p:nvSpPr>
          <p:cNvPr id="5" name="Text 3"/>
          <p:cNvSpPr txBox="1"/>
          <p:nvPr/>
        </p:nvSpPr>
        <p:spPr>
          <a:xfrm>
            <a:off x="4572000" y="1783080"/>
            <a:ext cx="274320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TRỌNG TRÁCH</a:t>
            </a:r>
            <a:endParaRPr lang="en-US" sz="1100" dirty="0"/>
          </a:p>
        </p:txBody>
      </p:sp>
      <p:sp>
        <p:nvSpPr>
          <p:cNvPr id="6" name="Text 4"/>
          <p:cNvSpPr txBox="1"/>
          <p:nvPr/>
        </p:nvSpPr>
        <p:spPr>
          <a:xfrm>
            <a:off x="7315200" y="1783080"/>
            <a:ext cx="4297680" cy="274320"/>
          </a:xfrm>
          <a:prstGeom prst="rect">
            <a:avLst/>
          </a:prstGeom>
          <a:noFill/>
          <a:ln/>
        </p:spPr>
        <p:txBody>
          <a:bodyPr wrap="square" lIns="0" tIns="0" rIns="0" bIns="0" rtlCol="0" anchor="ctr"/>
          <a:lstStyle/>
          <a:p>
            <a:pPr indent="0" marL="0">
              <a:buNone/>
            </a:pPr>
            <a:r>
              <a:rPr lang="en-US" sz="1100" b="1" spc="200" kern="0" dirty="0">
                <a:solidFill>
                  <a:srgbClr val="55657F"/>
                </a:solidFill>
                <a:latin typeface="Calibri" pitchFamily="34" charset="0"/>
                <a:ea typeface="Calibri" pitchFamily="34" charset="-122"/>
                <a:cs typeface="Calibri" pitchFamily="34" charset="-120"/>
              </a:rPr>
              <a:t>TIÊU CHÍ TỰ / CHÉO ĐÁNH GIÁ CUỐI KỲ</a:t>
            </a:r>
            <a:endParaRPr lang="en-US" sz="1100" dirty="0"/>
          </a:p>
        </p:txBody>
      </p:sp>
      <p:sp>
        <p:nvSpPr>
          <p:cNvPr id="7" name="Shape 5"/>
          <p:cNvSpPr/>
          <p:nvPr/>
        </p:nvSpPr>
        <p:spPr>
          <a:xfrm>
            <a:off x="548640" y="2148840"/>
            <a:ext cx="11094415" cy="676656"/>
          </a:xfrm>
          <a:prstGeom prst="roundRect">
            <a:avLst>
              <a:gd name="adj" fmla="val 1621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731520" y="2258568"/>
            <a:ext cx="457200" cy="457200"/>
          </a:xfrm>
          <a:prstGeom prst="ellipse">
            <a:avLst/>
          </a:prstGeom>
          <a:solidFill>
            <a:srgbClr val="0B1B3A"/>
          </a:solidFill>
          <a:ln/>
        </p:spPr>
      </p:sp>
      <p:sp>
        <p:nvSpPr>
          <p:cNvPr id="9" name="Text 7"/>
          <p:cNvSpPr txBox="1"/>
          <p:nvPr/>
        </p:nvSpPr>
        <p:spPr>
          <a:xfrm>
            <a:off x="731520" y="22585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10" name="Text 8"/>
          <p:cNvSpPr txBox="1"/>
          <p:nvPr/>
        </p:nvSpPr>
        <p:spPr>
          <a:xfrm>
            <a:off x="1463040" y="2148840"/>
            <a:ext cx="3566160" cy="676656"/>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Nguyễn Phạm Thành Trung</a:t>
            </a:r>
            <a:endParaRPr lang="en-US" sz="1500" dirty="0"/>
          </a:p>
        </p:txBody>
      </p:sp>
      <p:sp>
        <p:nvSpPr>
          <p:cNvPr id="11" name="Text 9"/>
          <p:cNvSpPr txBox="1"/>
          <p:nvPr/>
        </p:nvSpPr>
        <p:spPr>
          <a:xfrm>
            <a:off x="4572000" y="2148840"/>
            <a:ext cx="2560320" cy="676656"/>
          </a:xfrm>
          <a:prstGeom prst="rect">
            <a:avLst/>
          </a:prstGeom>
          <a:noFill/>
          <a:ln/>
        </p:spPr>
        <p:txBody>
          <a:bodyPr wrap="square" lIns="0" tIns="0" rIns="0" bIns="0" rtlCol="0" anchor="ctr"/>
          <a:lstStyle/>
          <a:p>
            <a:pPr indent="0" marL="0">
              <a:buNone/>
            </a:pPr>
            <a:r>
              <a:rPr lang="en-US" sz="1450" b="1" dirty="0">
                <a:solidFill>
                  <a:srgbClr val="C2410C"/>
                </a:solidFill>
                <a:latin typeface="Calibri" pitchFamily="34" charset="0"/>
                <a:ea typeface="Calibri" pitchFamily="34" charset="-122"/>
                <a:cs typeface="Calibri" pitchFamily="34" charset="-120"/>
              </a:rPr>
              <a:t>Điều phối + tích hợp</a:t>
            </a:r>
            <a:endParaRPr lang="en-US" sz="1450" dirty="0"/>
          </a:p>
        </p:txBody>
      </p:sp>
      <p:sp>
        <p:nvSpPr>
          <p:cNvPr id="12" name="Text 10"/>
          <p:cNvSpPr txBox="1"/>
          <p:nvPr/>
        </p:nvSpPr>
        <p:spPr>
          <a:xfrm>
            <a:off x="7315200" y="2148840"/>
            <a:ext cx="4206240" cy="676656"/>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Tiến độ; chất lượng tích hợp; báo cáo</a:t>
            </a:r>
            <a:endParaRPr lang="en-US" sz="1400" dirty="0"/>
          </a:p>
        </p:txBody>
      </p:sp>
      <p:sp>
        <p:nvSpPr>
          <p:cNvPr id="13" name="Shape 11"/>
          <p:cNvSpPr/>
          <p:nvPr/>
        </p:nvSpPr>
        <p:spPr>
          <a:xfrm>
            <a:off x="548640" y="2916936"/>
            <a:ext cx="11094415" cy="676656"/>
          </a:xfrm>
          <a:prstGeom prst="roundRect">
            <a:avLst>
              <a:gd name="adj" fmla="val 1621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14" name="Shape 12"/>
          <p:cNvSpPr/>
          <p:nvPr/>
        </p:nvSpPr>
        <p:spPr>
          <a:xfrm>
            <a:off x="731520" y="3026664"/>
            <a:ext cx="457200" cy="457200"/>
          </a:xfrm>
          <a:prstGeom prst="ellipse">
            <a:avLst/>
          </a:prstGeom>
          <a:solidFill>
            <a:srgbClr val="0B1B3A"/>
          </a:solidFill>
          <a:ln/>
        </p:spPr>
      </p:sp>
      <p:sp>
        <p:nvSpPr>
          <p:cNvPr id="15" name="Text 13"/>
          <p:cNvSpPr txBox="1"/>
          <p:nvPr/>
        </p:nvSpPr>
        <p:spPr>
          <a:xfrm>
            <a:off x="731520" y="30266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6" name="Text 14"/>
          <p:cNvSpPr txBox="1"/>
          <p:nvPr/>
        </p:nvSpPr>
        <p:spPr>
          <a:xfrm>
            <a:off x="1463040" y="2916936"/>
            <a:ext cx="3566160" cy="676656"/>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Nguyễn Minh Hiếu</a:t>
            </a:r>
            <a:endParaRPr lang="en-US" sz="1500" dirty="0"/>
          </a:p>
        </p:txBody>
      </p:sp>
      <p:sp>
        <p:nvSpPr>
          <p:cNvPr id="17" name="Text 15"/>
          <p:cNvSpPr txBox="1"/>
          <p:nvPr/>
        </p:nvSpPr>
        <p:spPr>
          <a:xfrm>
            <a:off x="4572000" y="2916936"/>
            <a:ext cx="2560320" cy="676656"/>
          </a:xfrm>
          <a:prstGeom prst="rect">
            <a:avLst/>
          </a:prstGeom>
          <a:noFill/>
          <a:ln/>
        </p:spPr>
        <p:txBody>
          <a:bodyPr wrap="square" lIns="0" tIns="0" rIns="0" bIns="0" rtlCol="0" anchor="ctr"/>
          <a:lstStyle/>
          <a:p>
            <a:pPr indent="0" marL="0">
              <a:buNone/>
            </a:pPr>
            <a:r>
              <a:rPr lang="en-US" sz="1450" b="1" dirty="0">
                <a:solidFill>
                  <a:srgbClr val="C2410C"/>
                </a:solidFill>
                <a:latin typeface="Calibri" pitchFamily="34" charset="0"/>
                <a:ea typeface="Calibri" pitchFamily="34" charset="-122"/>
                <a:cs typeface="Calibri" pitchFamily="34" charset="-120"/>
              </a:rPr>
              <a:t>Backend + testing</a:t>
            </a:r>
            <a:endParaRPr lang="en-US" sz="1450" dirty="0"/>
          </a:p>
        </p:txBody>
      </p:sp>
      <p:sp>
        <p:nvSpPr>
          <p:cNvPr id="18" name="Text 16"/>
          <p:cNvSpPr txBox="1"/>
          <p:nvPr/>
        </p:nvSpPr>
        <p:spPr>
          <a:xfrm>
            <a:off x="7315200" y="2916936"/>
            <a:ext cx="4206240" cy="676656"/>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CRUD/API; test case; xử lý lỗi</a:t>
            </a:r>
            <a:endParaRPr lang="en-US" sz="1400" dirty="0"/>
          </a:p>
        </p:txBody>
      </p:sp>
      <p:sp>
        <p:nvSpPr>
          <p:cNvPr id="19" name="Shape 17"/>
          <p:cNvSpPr/>
          <p:nvPr/>
        </p:nvSpPr>
        <p:spPr>
          <a:xfrm>
            <a:off x="548640" y="3685032"/>
            <a:ext cx="11094415" cy="676656"/>
          </a:xfrm>
          <a:prstGeom prst="roundRect">
            <a:avLst>
              <a:gd name="adj" fmla="val 1621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0" name="Shape 18"/>
          <p:cNvSpPr/>
          <p:nvPr/>
        </p:nvSpPr>
        <p:spPr>
          <a:xfrm>
            <a:off x="731520" y="3794760"/>
            <a:ext cx="457200" cy="457200"/>
          </a:xfrm>
          <a:prstGeom prst="ellipse">
            <a:avLst/>
          </a:prstGeom>
          <a:solidFill>
            <a:srgbClr val="0B1B3A"/>
          </a:solidFill>
          <a:ln/>
        </p:spPr>
      </p:sp>
      <p:sp>
        <p:nvSpPr>
          <p:cNvPr id="21" name="Text 19"/>
          <p:cNvSpPr txBox="1"/>
          <p:nvPr/>
        </p:nvSpPr>
        <p:spPr>
          <a:xfrm>
            <a:off x="731520" y="3794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22" name="Text 20"/>
          <p:cNvSpPr txBox="1"/>
          <p:nvPr/>
        </p:nvSpPr>
        <p:spPr>
          <a:xfrm>
            <a:off x="1463040" y="3685032"/>
            <a:ext cx="3566160" cy="676656"/>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Trần Ngọc Xuân Đình</a:t>
            </a:r>
            <a:endParaRPr lang="en-US" sz="1500" dirty="0"/>
          </a:p>
        </p:txBody>
      </p:sp>
      <p:sp>
        <p:nvSpPr>
          <p:cNvPr id="23" name="Text 21"/>
          <p:cNvSpPr txBox="1"/>
          <p:nvPr/>
        </p:nvSpPr>
        <p:spPr>
          <a:xfrm>
            <a:off x="4572000" y="3685032"/>
            <a:ext cx="2560320" cy="676656"/>
          </a:xfrm>
          <a:prstGeom prst="rect">
            <a:avLst/>
          </a:prstGeom>
          <a:noFill/>
          <a:ln/>
        </p:spPr>
        <p:txBody>
          <a:bodyPr wrap="square" lIns="0" tIns="0" rIns="0" bIns="0" rtlCol="0" anchor="ctr"/>
          <a:lstStyle/>
          <a:p>
            <a:pPr indent="0" marL="0">
              <a:buNone/>
            </a:pPr>
            <a:r>
              <a:rPr lang="en-US" sz="1450" b="1" dirty="0">
                <a:solidFill>
                  <a:srgbClr val="C2410C"/>
                </a:solidFill>
                <a:latin typeface="Calibri" pitchFamily="34" charset="0"/>
                <a:ea typeface="Calibri" pitchFamily="34" charset="-122"/>
                <a:cs typeface="Calibri" pitchFamily="34" charset="-120"/>
              </a:rPr>
              <a:t>UI/UX + frontend</a:t>
            </a:r>
            <a:endParaRPr lang="en-US" sz="1450" dirty="0"/>
          </a:p>
        </p:txBody>
      </p:sp>
      <p:sp>
        <p:nvSpPr>
          <p:cNvPr id="24" name="Text 22"/>
          <p:cNvSpPr txBox="1"/>
          <p:nvPr/>
        </p:nvSpPr>
        <p:spPr>
          <a:xfrm>
            <a:off x="7315200" y="3685032"/>
            <a:ext cx="4206240" cy="676656"/>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Wireframe; responsive; trải nghiệm</a:t>
            </a:r>
            <a:endParaRPr lang="en-US" sz="1400" dirty="0"/>
          </a:p>
        </p:txBody>
      </p:sp>
      <p:sp>
        <p:nvSpPr>
          <p:cNvPr id="25" name="Shape 23"/>
          <p:cNvSpPr/>
          <p:nvPr/>
        </p:nvSpPr>
        <p:spPr>
          <a:xfrm>
            <a:off x="548640" y="4453128"/>
            <a:ext cx="11094415" cy="676656"/>
          </a:xfrm>
          <a:prstGeom prst="roundRect">
            <a:avLst>
              <a:gd name="adj" fmla="val 1621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26" name="Shape 24"/>
          <p:cNvSpPr/>
          <p:nvPr/>
        </p:nvSpPr>
        <p:spPr>
          <a:xfrm>
            <a:off x="731520" y="4562856"/>
            <a:ext cx="457200" cy="457200"/>
          </a:xfrm>
          <a:prstGeom prst="ellipse">
            <a:avLst/>
          </a:prstGeom>
          <a:solidFill>
            <a:srgbClr val="0B1B3A"/>
          </a:solidFill>
          <a:ln/>
        </p:spPr>
      </p:sp>
      <p:sp>
        <p:nvSpPr>
          <p:cNvPr id="27" name="Text 25"/>
          <p:cNvSpPr txBox="1"/>
          <p:nvPr/>
        </p:nvSpPr>
        <p:spPr>
          <a:xfrm>
            <a:off x="731520" y="45628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8" name="Text 26"/>
          <p:cNvSpPr txBox="1"/>
          <p:nvPr/>
        </p:nvSpPr>
        <p:spPr>
          <a:xfrm>
            <a:off x="1463040" y="4453128"/>
            <a:ext cx="3566160" cy="676656"/>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Lê Bùi Hồng Phúc</a:t>
            </a:r>
            <a:endParaRPr lang="en-US" sz="1500" dirty="0"/>
          </a:p>
        </p:txBody>
      </p:sp>
      <p:sp>
        <p:nvSpPr>
          <p:cNvPr id="29" name="Text 27"/>
          <p:cNvSpPr txBox="1"/>
          <p:nvPr/>
        </p:nvSpPr>
        <p:spPr>
          <a:xfrm>
            <a:off x="4572000" y="4453128"/>
            <a:ext cx="2560320" cy="676656"/>
          </a:xfrm>
          <a:prstGeom prst="rect">
            <a:avLst/>
          </a:prstGeom>
          <a:noFill/>
          <a:ln/>
        </p:spPr>
        <p:txBody>
          <a:bodyPr wrap="square" lIns="0" tIns="0" rIns="0" bIns="0" rtlCol="0" anchor="ctr"/>
          <a:lstStyle/>
          <a:p>
            <a:pPr indent="0" marL="0">
              <a:buNone/>
            </a:pPr>
            <a:r>
              <a:rPr lang="en-US" sz="1450" b="1" dirty="0">
                <a:solidFill>
                  <a:srgbClr val="C2410C"/>
                </a:solidFill>
                <a:latin typeface="Calibri" pitchFamily="34" charset="0"/>
                <a:ea typeface="Calibri" pitchFamily="34" charset="-122"/>
                <a:cs typeface="Calibri" pitchFamily="34" charset="-120"/>
              </a:rPr>
              <a:t>Khảo sát + dữ liệu</a:t>
            </a:r>
            <a:endParaRPr lang="en-US" sz="1450" dirty="0"/>
          </a:p>
        </p:txBody>
      </p:sp>
      <p:sp>
        <p:nvSpPr>
          <p:cNvPr id="30" name="Text 28"/>
          <p:cNvSpPr txBox="1"/>
          <p:nvPr/>
        </p:nvSpPr>
        <p:spPr>
          <a:xfrm>
            <a:off x="7315200" y="4453128"/>
            <a:ext cx="4206240" cy="676656"/>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Số phản hồi hợp lệ; độ sạch dữ liệu</a:t>
            </a:r>
            <a:endParaRPr lang="en-US" sz="1400" dirty="0"/>
          </a:p>
        </p:txBody>
      </p:sp>
      <p:sp>
        <p:nvSpPr>
          <p:cNvPr id="31" name="Shape 29"/>
          <p:cNvSpPr/>
          <p:nvPr/>
        </p:nvSpPr>
        <p:spPr>
          <a:xfrm>
            <a:off x="548640" y="5221224"/>
            <a:ext cx="11094415" cy="676656"/>
          </a:xfrm>
          <a:prstGeom prst="roundRect">
            <a:avLst>
              <a:gd name="adj" fmla="val 16216"/>
            </a:avLst>
          </a:prstGeom>
          <a:solidFill>
            <a:srgbClr val="FFFFFF"/>
          </a:solidFill>
          <a:ln w="9525">
            <a:solidFill>
              <a:srgbClr val="D6DEEA"/>
            </a:solidFill>
            <a:prstDash val="solid"/>
          </a:ln>
          <a:effectLst>
            <a:outerShdw sx="100000" sy="100000" kx="0" ky="0" algn="bl" rotWithShape="0" blurRad="101600" dist="25400" dir="5400000">
              <a:srgbClr val="000000">
                <a:alpha val="10000"/>
              </a:srgbClr>
            </a:outerShdw>
          </a:effectLst>
        </p:spPr>
      </p:sp>
      <p:sp>
        <p:nvSpPr>
          <p:cNvPr id="32" name="Shape 30"/>
          <p:cNvSpPr/>
          <p:nvPr/>
        </p:nvSpPr>
        <p:spPr>
          <a:xfrm>
            <a:off x="731520" y="5330952"/>
            <a:ext cx="457200" cy="457200"/>
          </a:xfrm>
          <a:prstGeom prst="ellipse">
            <a:avLst/>
          </a:prstGeom>
          <a:solidFill>
            <a:srgbClr val="0B1B3A"/>
          </a:solidFill>
          <a:ln/>
        </p:spPr>
      </p:sp>
      <p:sp>
        <p:nvSpPr>
          <p:cNvPr id="33" name="Text 31"/>
          <p:cNvSpPr txBox="1"/>
          <p:nvPr/>
        </p:nvSpPr>
        <p:spPr>
          <a:xfrm>
            <a:off x="731520" y="5330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34" name="Text 32"/>
          <p:cNvSpPr txBox="1"/>
          <p:nvPr/>
        </p:nvSpPr>
        <p:spPr>
          <a:xfrm>
            <a:off x="1463040" y="5221224"/>
            <a:ext cx="3566160" cy="676656"/>
          </a:xfrm>
          <a:prstGeom prst="rect">
            <a:avLst/>
          </a:prstGeom>
          <a:noFill/>
          <a:ln/>
        </p:spPr>
        <p:txBody>
          <a:bodyPr wrap="square" lIns="0" tIns="0" rIns="0" bIns="0" rtlCol="0" anchor="ctr"/>
          <a:lstStyle/>
          <a:p>
            <a:pPr indent="0" marL="0">
              <a:buNone/>
            </a:pPr>
            <a:r>
              <a:rPr lang="en-US" sz="1500" b="1" dirty="0">
                <a:solidFill>
                  <a:srgbClr val="0B1B3A"/>
                </a:solidFill>
                <a:latin typeface="Arial" pitchFamily="34" charset="0"/>
                <a:ea typeface="Arial" pitchFamily="34" charset="-122"/>
                <a:cs typeface="Arial" pitchFamily="34" charset="-120"/>
              </a:rPr>
              <a:t>Bàn Tiến Kim</a:t>
            </a:r>
            <a:endParaRPr lang="en-US" sz="1500" dirty="0"/>
          </a:p>
        </p:txBody>
      </p:sp>
      <p:sp>
        <p:nvSpPr>
          <p:cNvPr id="35" name="Text 33"/>
          <p:cNvSpPr txBox="1"/>
          <p:nvPr/>
        </p:nvSpPr>
        <p:spPr>
          <a:xfrm>
            <a:off x="4572000" y="5221224"/>
            <a:ext cx="2560320" cy="676656"/>
          </a:xfrm>
          <a:prstGeom prst="rect">
            <a:avLst/>
          </a:prstGeom>
          <a:noFill/>
          <a:ln/>
        </p:spPr>
        <p:txBody>
          <a:bodyPr wrap="square" lIns="0" tIns="0" rIns="0" bIns="0" rtlCol="0" anchor="ctr"/>
          <a:lstStyle/>
          <a:p>
            <a:pPr indent="0" marL="0">
              <a:buNone/>
            </a:pPr>
            <a:r>
              <a:rPr lang="en-US" sz="1450" b="1" dirty="0">
                <a:solidFill>
                  <a:srgbClr val="C2410C"/>
                </a:solidFill>
                <a:latin typeface="Calibri" pitchFamily="34" charset="0"/>
                <a:ea typeface="Calibri" pitchFamily="34" charset="-122"/>
                <a:cs typeface="Calibri" pitchFamily="34" charset="-120"/>
              </a:rPr>
              <a:t>Đối ngoại + nội dung</a:t>
            </a:r>
            <a:endParaRPr lang="en-US" sz="1450" dirty="0"/>
          </a:p>
        </p:txBody>
      </p:sp>
      <p:sp>
        <p:nvSpPr>
          <p:cNvPr id="36" name="Text 34"/>
          <p:cNvSpPr txBox="1"/>
          <p:nvPr/>
        </p:nvSpPr>
        <p:spPr>
          <a:xfrm>
            <a:off x="7315200" y="5221224"/>
            <a:ext cx="4206240" cy="676656"/>
          </a:xfrm>
          <a:prstGeom prst="rect">
            <a:avLst/>
          </a:prstGeom>
          <a:noFill/>
          <a:ln/>
        </p:spPr>
        <p:txBody>
          <a:bodyPr wrap="square" lIns="0" tIns="0" rIns="0" bIns="0" rtlCol="0" anchor="ctr"/>
          <a:lstStyle/>
          <a:p>
            <a:pPr indent="0" marL="0">
              <a:buNone/>
            </a:pPr>
            <a:r>
              <a:rPr lang="en-US" sz="1400" dirty="0">
                <a:solidFill>
                  <a:srgbClr val="0B1B3A"/>
                </a:solidFill>
                <a:latin typeface="Calibri" pitchFamily="34" charset="0"/>
                <a:ea typeface="Calibri" pitchFamily="34" charset="-122"/>
                <a:cs typeface="Calibri" pitchFamily="34" charset="-120"/>
              </a:rPr>
              <a:t>Liên hệ; minh chứng; nội dung/truyền thông</a:t>
            </a:r>
            <a:endParaRPr lang="en-US" sz="1400" dirty="0"/>
          </a:p>
        </p:txBody>
      </p:sp>
      <p:sp>
        <p:nvSpPr>
          <p:cNvPr id="37" name="Text 35"/>
          <p:cNvSpPr txBox="1"/>
          <p:nvPr/>
        </p:nvSpPr>
        <p:spPr>
          <a:xfrm>
            <a:off x="548640" y="6035040"/>
            <a:ext cx="11094415" cy="274320"/>
          </a:xfrm>
          <a:prstGeom prst="rect">
            <a:avLst/>
          </a:prstGeom>
          <a:noFill/>
          <a:ln/>
        </p:spPr>
        <p:txBody>
          <a:bodyPr wrap="square" lIns="0" tIns="0" rIns="0" bIns="0" rtlCol="0" anchor="ctr"/>
          <a:lstStyle/>
          <a:p>
            <a:pPr indent="0" marL="0">
              <a:buNone/>
            </a:pPr>
            <a:r>
              <a:rPr lang="en-US" sz="1300" dirty="0">
                <a:solidFill>
                  <a:srgbClr val="55657F"/>
                </a:solidFill>
                <a:latin typeface="Calibri" pitchFamily="34" charset="0"/>
                <a:ea typeface="Calibri" pitchFamily="34" charset="-122"/>
                <a:cs typeface="Calibri" pitchFamily="34" charset="-120"/>
              </a:rPr>
              <a:t>Tự đánh giá và đánh giá chéo vào cuối kỳ; kết quả được cập nhật sau khi có sản phẩm và minh chứng.</a:t>
            </a:r>
            <a:endParaRPr lang="en-US" sz="1300" dirty="0"/>
          </a:p>
        </p:txBody>
      </p:sp>
      <p:sp>
        <p:nvSpPr>
          <p:cNvPr id="38" name="Text 36"/>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6B7C97"/>
                </a:solidFill>
                <a:latin typeface="Calibri" pitchFamily="34" charset="0"/>
                <a:ea typeface="Calibri" pitchFamily="34" charset="-122"/>
                <a:cs typeface="Calibri" pitchFamily="34" charset="-120"/>
              </a:rPr>
              <a:t>FIXNEAR  ·  PDP104</a:t>
            </a:r>
            <a:endParaRPr lang="en-US" sz="1000" dirty="0"/>
          </a:p>
        </p:txBody>
      </p:sp>
      <p:sp>
        <p:nvSpPr>
          <p:cNvPr id="39" name="Text 37"/>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6B7C97"/>
                </a:solidFill>
                <a:latin typeface="Calibri" pitchFamily="34" charset="0"/>
                <a:ea typeface="Calibri" pitchFamily="34" charset="-122"/>
                <a:cs typeface="Calibri" pitchFamily="34" charset="-120"/>
              </a:rPr>
              <a:t>21 / 22</a:t>
            </a:r>
            <a:endParaRPr lang="en-US" sz="1000" dirty="0"/>
          </a:p>
        </p:txBody>
      </p:sp>
      <p:sp>
        <p:nvSpPr>
          <p:cNvPr id="40" name="TextBox 39"/>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41" name="TextBox 40"/>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21 / 27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B3A"/>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t"/>
          <a:lstStyle/>
          <a:p>
            <a:pPr indent="0" marL="0">
              <a:buNone/>
            </a:pPr>
            <a:r>
              <a:rPr lang="en-US" sz="1300" b="1" spc="300" kern="0" dirty="0">
                <a:solidFill>
                  <a:srgbClr val="FF8A4C"/>
                </a:solidFill>
                <a:latin typeface="Arial" pitchFamily="34" charset="0"/>
                <a:ea typeface="Arial" pitchFamily="34" charset="-122"/>
                <a:cs typeface="Arial" pitchFamily="34" charset="-120"/>
              </a:rPr>
              <a:t>KẾT LUẬN</a:t>
            </a:r>
            <a:endParaRPr lang="en-US" sz="1300" dirty="0"/>
          </a:p>
        </p:txBody>
      </p:sp>
      <p:sp>
        <p:nvSpPr>
          <p:cNvPr id="3" name="Text 1"/>
          <p:cNvSpPr txBox="1"/>
          <p:nvPr/>
        </p:nvSpPr>
        <p:spPr>
          <a:xfrm>
            <a:off x="548640" y="822960"/>
            <a:ext cx="11094415"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FixNear: từ vấn đề đến MVP</a:t>
            </a:r>
            <a:endParaRPr lang="en-US" sz="3800" dirty="0"/>
          </a:p>
        </p:txBody>
      </p:sp>
      <p:sp>
        <p:nvSpPr>
          <p:cNvPr id="4" name="Text 2"/>
          <p:cNvSpPr txBox="1"/>
          <p:nvPr/>
        </p:nvSpPr>
        <p:spPr>
          <a:xfrm>
            <a:off x="548640" y="1600200"/>
            <a:ext cx="11094415" cy="411480"/>
          </a:xfrm>
          <a:prstGeom prst="rect">
            <a:avLst/>
          </a:prstGeom>
          <a:noFill/>
          <a:ln/>
        </p:spPr>
        <p:txBody>
          <a:bodyPr wrap="square" lIns="0" tIns="0" rIns="0" bIns="0" rtlCol="0" anchor="ctr"/>
          <a:lstStyle/>
          <a:p>
            <a:pPr indent="0" marL="0">
              <a:buNone/>
            </a:pPr>
            <a:r>
              <a:rPr lang="en-US" sz="1800" dirty="0">
                <a:solidFill>
                  <a:srgbClr val="DCE8F7"/>
                </a:solidFill>
                <a:latin typeface="Calibri" pitchFamily="34" charset="0"/>
                <a:ea typeface="Calibri" pitchFamily="34" charset="-122"/>
                <a:cs typeface="Calibri" pitchFamily="34" charset="-120"/>
              </a:rPr>
              <a:t>Một website nhỏ, đúng phạm vi, được kiểm chứng bằng dữ liệu thật.</a:t>
            </a:r>
            <a:endParaRPr lang="en-US" sz="1800" dirty="0"/>
          </a:p>
        </p:txBody>
      </p:sp>
      <p:sp>
        <p:nvSpPr>
          <p:cNvPr id="5" name="Shape 3"/>
          <p:cNvSpPr/>
          <p:nvPr/>
        </p:nvSpPr>
        <p:spPr>
          <a:xfrm>
            <a:off x="548640" y="2331720"/>
            <a:ext cx="5432908" cy="2651760"/>
          </a:xfrm>
          <a:prstGeom prst="roundRect">
            <a:avLst>
              <a:gd name="adj" fmla="val 4138"/>
            </a:avLst>
          </a:prstGeom>
          <a:solidFill>
            <a:srgbClr val="14305C"/>
          </a:solidFill>
          <a:ln/>
        </p:spPr>
      </p:sp>
      <p:sp>
        <p:nvSpPr>
          <p:cNvPr id="6" name="Text 4"/>
          <p:cNvSpPr txBox="1"/>
          <p:nvPr/>
        </p:nvSpPr>
        <p:spPr>
          <a:xfrm>
            <a:off x="868680" y="2560320"/>
            <a:ext cx="4572000" cy="274320"/>
          </a:xfrm>
          <a:prstGeom prst="rect">
            <a:avLst/>
          </a:prstGeom>
          <a:noFill/>
          <a:ln/>
        </p:spPr>
        <p:txBody>
          <a:bodyPr wrap="square" lIns="0" tIns="0" rIns="0" bIns="0" rtlCol="0" anchor="t"/>
          <a:lstStyle/>
          <a:p>
            <a:pPr indent="0" marL="0">
              <a:buNone/>
            </a:pPr>
            <a:r>
              <a:rPr lang="en-US" sz="1200" b="1" spc="200" kern="0" dirty="0">
                <a:solidFill>
                  <a:srgbClr val="3DD6C6"/>
                </a:solidFill>
                <a:latin typeface="Calibri" pitchFamily="34" charset="0"/>
                <a:ea typeface="Calibri" pitchFamily="34" charset="-122"/>
                <a:cs typeface="Calibri" pitchFamily="34" charset="-120"/>
              </a:rPr>
              <a:t>THUẬN LỢI</a:t>
            </a:r>
            <a:endParaRPr lang="en-US" sz="1200" dirty="0"/>
          </a:p>
        </p:txBody>
      </p:sp>
      <p:sp>
        <p:nvSpPr>
          <p:cNvPr id="7" name="Text 5"/>
          <p:cNvSpPr txBox="1"/>
          <p:nvPr/>
        </p:nvSpPr>
        <p:spPr>
          <a:xfrm>
            <a:off x="868680" y="2971800"/>
            <a:ext cx="4792828" cy="19659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05 thành viên chia được theo web, dữ liệu, UI/UX, testing, nội dung.</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Phù hợp chuyên môn web; có thể demo trực tiếp.</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Dùng công cụ miễn phí để giảm kinh phí.</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Sinh viên dễ tiếp cận để khảo sát và dùng thử.</a:t>
            </a:r>
            <a:endParaRPr lang="en-US" sz="1500" dirty="0"/>
          </a:p>
        </p:txBody>
      </p:sp>
      <p:sp>
        <p:nvSpPr>
          <p:cNvPr id="8" name="Shape 6"/>
          <p:cNvSpPr/>
          <p:nvPr/>
        </p:nvSpPr>
        <p:spPr>
          <a:xfrm>
            <a:off x="6210148" y="2331720"/>
            <a:ext cx="5432908" cy="2651760"/>
          </a:xfrm>
          <a:prstGeom prst="roundRect">
            <a:avLst>
              <a:gd name="adj" fmla="val 4138"/>
            </a:avLst>
          </a:prstGeom>
          <a:solidFill>
            <a:srgbClr val="14305C"/>
          </a:solidFill>
          <a:ln/>
        </p:spPr>
      </p:sp>
      <p:sp>
        <p:nvSpPr>
          <p:cNvPr id="9" name="Text 7"/>
          <p:cNvSpPr txBox="1"/>
          <p:nvPr/>
        </p:nvSpPr>
        <p:spPr>
          <a:xfrm>
            <a:off x="6530188" y="2560320"/>
            <a:ext cx="4572000" cy="274320"/>
          </a:xfrm>
          <a:prstGeom prst="rect">
            <a:avLst/>
          </a:prstGeom>
          <a:noFill/>
          <a:ln/>
        </p:spPr>
        <p:txBody>
          <a:bodyPr wrap="square" lIns="0" tIns="0" rIns="0" bIns="0" rtlCol="0" anchor="t"/>
          <a:lstStyle/>
          <a:p>
            <a:pPr indent="0" marL="0">
              <a:buNone/>
            </a:pPr>
            <a:r>
              <a:rPr lang="en-US" sz="1200" b="1" spc="200" kern="0" dirty="0">
                <a:solidFill>
                  <a:srgbClr val="FF8A4C"/>
                </a:solidFill>
                <a:latin typeface="Calibri" pitchFamily="34" charset="0"/>
                <a:ea typeface="Calibri" pitchFamily="34" charset="-122"/>
                <a:cs typeface="Calibri" pitchFamily="34" charset="-120"/>
              </a:rPr>
              <a:t>KHÓ KHĂN DỰ KIẾN</a:t>
            </a:r>
            <a:endParaRPr lang="en-US" sz="1200" dirty="0"/>
          </a:p>
        </p:txBody>
      </p:sp>
      <p:sp>
        <p:nvSpPr>
          <p:cNvPr id="10" name="Text 8"/>
          <p:cNvSpPr txBox="1"/>
          <p:nvPr/>
        </p:nvSpPr>
        <p:spPr>
          <a:xfrm>
            <a:off x="6530188" y="2971800"/>
            <a:ext cx="4792828" cy="19659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Chỉ có 03 tuần, dễ trễ nếu mở rộng scope.</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Giá thật khó thu thập vì phụ thuộc model và tình trạng máy.</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Số cửa hàng quanh trường có thể ít; cần khảo sát bán kính để chốt phạm vi.</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Dữ liệu cửa hàng có thể thay đổi; cần ngày cập nhật.</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Review cần kiểm duyệt và không được tạo giả.</a:t>
            </a:r>
            <a:endParaRPr lang="en-US" sz="1500" dirty="0"/>
          </a:p>
        </p:txBody>
      </p:sp>
      <p:sp>
        <p:nvSpPr>
          <p:cNvPr id="11" name="Text 9"/>
          <p:cNvSpPr txBox="1"/>
          <p:nvPr/>
        </p:nvSpPr>
        <p:spPr>
          <a:xfrm>
            <a:off x="548640" y="5349240"/>
            <a:ext cx="7498080"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Nhóm FIXNEAR kính mong cô Nguyễn Khánh Ly góp ý về vấn đề trọng tâm, phạm vi laptop/điện thoại và kế hoạch 03 tuần.</a:t>
            </a:r>
            <a:endParaRPr lang="en-US" sz="1600" dirty="0"/>
          </a:p>
        </p:txBody>
      </p:sp>
      <p:sp>
        <p:nvSpPr>
          <p:cNvPr id="12" name="Text 10"/>
          <p:cNvSpPr txBox="1"/>
          <p:nvPr/>
        </p:nvSpPr>
        <p:spPr>
          <a:xfrm>
            <a:off x="8138160" y="5349240"/>
            <a:ext cx="3502152" cy="777240"/>
          </a:xfrm>
          <a:prstGeom prst="rect">
            <a:avLst/>
          </a:prstGeom>
          <a:noFill/>
          <a:ln/>
        </p:spPr>
        <p:txBody>
          <a:bodyPr wrap="square" lIns="0" tIns="0" rIns="0" bIns="0" rtlCol="0" anchor="ctr"/>
          <a:lstStyle/>
          <a:p>
            <a:pPr algn="r" indent="0" marL="0">
              <a:buNone/>
            </a:pPr>
            <a:r>
              <a:rPr lang="en-US" sz="3000" b="1" dirty="0">
                <a:solidFill>
                  <a:srgbClr val="FF8A4C"/>
                </a:solidFill>
                <a:latin typeface="Arial" pitchFamily="34" charset="0"/>
                <a:ea typeface="Arial" pitchFamily="34" charset="-122"/>
                <a:cs typeface="Arial" pitchFamily="34" charset="-120"/>
              </a:rPr>
              <a:t>XIN CẢM ƠN!</a:t>
            </a:r>
            <a:endParaRPr lang="en-US" sz="3000" dirty="0"/>
          </a:p>
        </p:txBody>
      </p:sp>
      <p:sp>
        <p:nvSpPr>
          <p:cNvPr id="13" name="Text 11"/>
          <p:cNvSpPr txBox="1"/>
          <p:nvPr/>
        </p:nvSpPr>
        <p:spPr>
          <a:xfrm>
            <a:off x="548640" y="6455664"/>
            <a:ext cx="5486400" cy="228600"/>
          </a:xfrm>
          <a:prstGeom prst="rect">
            <a:avLst/>
          </a:prstGeom>
          <a:noFill/>
          <a:ln/>
        </p:spPr>
        <p:txBody>
          <a:bodyPr wrap="square" lIns="0" tIns="0" rIns="0" bIns="0" rtlCol="0" anchor="ctr"/>
          <a:lstStyle/>
          <a:p>
            <a:pPr indent="0" marL="0">
              <a:buNone/>
            </a:pPr>
            <a:r>
              <a:rPr lang="en-US" sz="1000" dirty="0">
                <a:solidFill>
                  <a:srgbClr val="8FA3C4"/>
                </a:solidFill>
                <a:latin typeface="Calibri" pitchFamily="34" charset="0"/>
                <a:ea typeface="Calibri" pitchFamily="34" charset="-122"/>
                <a:cs typeface="Calibri" pitchFamily="34" charset="-120"/>
              </a:rPr>
              <a:t>FIXNEAR  ·  PDP104</a:t>
            </a:r>
            <a:endParaRPr lang="en-US" sz="1000" dirty="0"/>
          </a:p>
        </p:txBody>
      </p:sp>
      <p:sp>
        <p:nvSpPr>
          <p:cNvPr id="14" name="Text 12"/>
          <p:cNvSpPr txBox="1"/>
          <p:nvPr/>
        </p:nvSpPr>
        <p:spPr>
          <a:xfrm>
            <a:off x="10271455" y="6455664"/>
            <a:ext cx="1371600" cy="228600"/>
          </a:xfrm>
          <a:prstGeom prst="rect">
            <a:avLst/>
          </a:prstGeom>
          <a:noFill/>
          <a:ln/>
        </p:spPr>
        <p:txBody>
          <a:bodyPr wrap="square" lIns="0" tIns="0" rIns="0" bIns="0" rtlCol="0" anchor="ctr"/>
          <a:lstStyle/>
          <a:p>
            <a:pPr algn="r" indent="0" marL="0">
              <a:buNone/>
            </a:pPr>
            <a:r>
              <a:rPr lang="en-US" sz="1000" dirty="0">
                <a:solidFill>
                  <a:srgbClr val="8FA3C4"/>
                </a:solidFill>
                <a:latin typeface="Calibri" pitchFamily="34" charset="0"/>
                <a:ea typeface="Calibri" pitchFamily="34" charset="-122"/>
                <a:cs typeface="Calibri" pitchFamily="34" charset="-120"/>
              </a:rPr>
              <a:t>22 / 22</a:t>
            </a:r>
            <a:endParaRPr lang="en-US" sz="1000" dirty="0"/>
          </a:p>
        </p:txBody>
      </p:sp>
      <p:sp>
        <p:nvSpPr>
          <p:cNvPr id="15" name="TextBox 14"/>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16" name="TextBox 15"/>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601200" cy="365760"/>
          </a:xfrm>
          <a:prstGeom prst="rect">
            <a:avLst/>
          </a:prstGeom>
          <a:noFill/>
        </p:spPr>
        <p:txBody>
          <a:bodyPr wrap="square">
            <a:spAutoFit/>
          </a:bodyPr>
          <a:lstStyle/>
          <a:p>
            <a:pPr>
              <a:defRPr sz="1100" b="1">
                <a:solidFill>
                  <a:srgbClr val="EA580C"/>
                </a:solidFill>
              </a:defRPr>
            </a:pPr>
            <a:r>
              <a:t>I. TỔNG QUAN  ·  MỤC ĐÍCH &amp; MỨC ĐỘ THỰC NGHIỆM</a:t>
            </a:r>
          </a:p>
        </p:txBody>
      </p:sp>
      <p:sp>
        <p:nvSpPr>
          <p:cNvPr id="3" name="TextBox 2"/>
          <p:cNvSpPr txBox="1"/>
          <p:nvPr/>
        </p:nvSpPr>
        <p:spPr>
          <a:xfrm>
            <a:off x="548640" y="731520"/>
            <a:ext cx="11091672" cy="594360"/>
          </a:xfrm>
          <a:prstGeom prst="rect">
            <a:avLst/>
          </a:prstGeom>
          <a:noFill/>
        </p:spPr>
        <p:txBody>
          <a:bodyPr wrap="square">
            <a:spAutoFit/>
          </a:bodyPr>
          <a:lstStyle/>
          <a:p>
            <a:pPr>
              <a:defRPr sz="2200" b="1">
                <a:solidFill>
                  <a:srgbClr val="0F172A"/>
                </a:solidFill>
              </a:defRPr>
            </a:pPr>
            <a:r>
              <a:t>Mục Đích Dự Án &amp; Mức Độ Thực Nghiệm Thực Tế</a:t>
            </a:r>
          </a:p>
        </p:txBody>
      </p:sp>
      <p:sp>
        <p:nvSpPr>
          <p:cNvPr id="4" name="Rounded Rectangle 3"/>
          <p:cNvSpPr/>
          <p:nvPr/>
        </p:nvSpPr>
        <p:spPr>
          <a:xfrm>
            <a:off x="548640" y="1508760"/>
            <a:ext cx="5303520" cy="470916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B91C1C"/>
                </a:solidFill>
              </a:defRPr>
            </a:pPr>
            <a:r>
              <a:t>🎯 MỤC ĐÍCH DỰ ÁN &amp; BÀI TOÁN CẦN GIẢI QUYẾT</a:t>
            </a:r>
          </a:p>
          <a:p>
            <a:pPr>
              <a:defRPr b="1" sz="1100">
                <a:solidFill>
                  <a:srgbClr val="0F172A"/>
                </a:solidFill>
              </a:defRPr>
            </a:pPr>
            <a:r>
              <a:t>• Nỗi sợ 'luộc đồ' &amp; tráo linh kiện:</a:t>
            </a:r>
          </a:p>
          <a:p>
            <a:pPr>
              <a:defRPr sz="1000">
                <a:solidFill>
                  <a:srgbClr val="334155"/>
                </a:solidFill>
              </a:defRPr>
            </a:pPr>
            <a:r>
              <a:t>   Sinh viên và người dùng công nghệ luôn bất an khi gửi máy lại tiệm, sợ bị tráo màn hình zin, đổi pin kém chất lượng.</a:t>
            </a:r>
          </a:p>
          <a:p>
            <a:pPr>
              <a:defRPr b="1" sz="1100">
                <a:solidFill>
                  <a:srgbClr val="0F172A"/>
                </a:solidFill>
              </a:defRPr>
            </a:pPr>
            <a:r>
              <a:t>• Mù mờ về giá cả &amp; bị chặt chém:</a:t>
            </a:r>
          </a:p>
          <a:p>
            <a:pPr>
              <a:defRPr sz="1000">
                <a:solidFill>
                  <a:srgbClr val="334155"/>
                </a:solidFill>
              </a:defRPr>
            </a:pPr>
            <a:r>
              <a:t>   Không có chuẩn giá tham khảo, cùng một lỗi thay bàn phím hoặc sấy nước mỗi tiệm báo một giá chênh lệch hàng triệu đồng.</a:t>
            </a:r>
          </a:p>
          <a:p>
            <a:pPr>
              <a:defRPr b="1" sz="1100">
                <a:solidFill>
                  <a:srgbClr val="0F172A"/>
                </a:solidFill>
              </a:defRPr>
            </a:pPr>
            <a:r>
              <a:t>• Khó khăn xác định tay nghề thợ:</a:t>
            </a:r>
          </a:p>
          <a:p>
            <a:pPr>
              <a:defRPr sz="1000">
                <a:solidFill>
                  <a:srgbClr val="334155"/>
                </a:solidFill>
              </a:defRPr>
            </a:pPr>
            <a:r>
              <a:t>   Không biết tiệm nào chuyên sửa máy tính Windows, tiệm nào chuyên MacBook hay ép kính điện thoại chuẩn xác.</a:t>
            </a:r>
          </a:p>
          <a:p>
            <a:pPr>
              <a:defRPr b="1" sz="1100">
                <a:solidFill>
                  <a:srgbClr val="0F172A"/>
                </a:solidFill>
              </a:defRPr>
            </a:pPr>
            <a:r>
              <a:t>• Sứ mệnh của FixNear:</a:t>
            </a:r>
          </a:p>
          <a:p>
            <a:pPr>
              <a:defRPr sz="1000">
                <a:solidFill>
                  <a:srgbClr val="334155"/>
                </a:solidFill>
              </a:defRPr>
            </a:pPr>
            <a:r>
              <a:t>   Xây dựng nền tảng số hóa đầu tiên tại Miền Nam minh bạch hóa 100% bảng giá, kiểm định tay nghề thợ và cam kết ký tên linh kiện.</a:t>
            </a:r>
          </a:p>
        </p:txBody>
      </p:sp>
      <p:sp>
        <p:nvSpPr>
          <p:cNvPr id="5" name="Rounded Rectangle 4"/>
          <p:cNvSpPr/>
          <p:nvPr/>
        </p:nvSpPr>
        <p:spPr>
          <a:xfrm>
            <a:off x="6217920" y="1508760"/>
            <a:ext cx="5394960" cy="470916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6A34A"/>
                </a:solidFill>
              </a:defRPr>
            </a:pPr>
            <a:r>
              <a:t>📊 MỨC ĐỘ THỰC NGHIỆM VÀ SỐ HÓA THỰC TẾ</a:t>
            </a:r>
          </a:p>
          <a:p>
            <a:pPr>
              <a:defRPr b="1" sz="1100">
                <a:solidFill>
                  <a:srgbClr val="16A34A"/>
                </a:solidFill>
              </a:defRPr>
            </a:pPr>
            <a:r>
              <a:t>✓ Khảo sát &amp; số hóa 151 CỬA HÀNG THẬT 100%:</a:t>
            </a:r>
          </a:p>
          <a:p>
            <a:pPr>
              <a:defRPr sz="1000">
                <a:solidFill>
                  <a:srgbClr val="334155"/>
                </a:solidFill>
              </a:defRPr>
            </a:pPr>
            <a:r>
              <a:t>   Thu thập dữ liệu thực địa phủ khắp 28 quận/huyện TP.HCM và các tỉnh lân cận (Bình Dương, Đồng Nai, Vũng Tàu, Cần Thơ).</a:t>
            </a:r>
          </a:p>
          <a:p>
            <a:pPr>
              <a:defRPr b="1" sz="1100">
                <a:solidFill>
                  <a:srgbClr val="16A34A"/>
                </a:solidFill>
              </a:defRPr>
            </a:pPr>
            <a:r>
              <a:t>✓ Chuẩn hóa 18 danh mục dịch vụ quốc tế:</a:t>
            </a:r>
          </a:p>
          <a:p>
            <a:pPr>
              <a:defRPr sz="1000">
                <a:solidFill>
                  <a:srgbClr val="334155"/>
                </a:solidFill>
              </a:defRPr>
            </a:pPr>
            <a:r>
              <a:t>   Xây dựng bảng giá thị trường chuẩn theo mô hình RepairBookings (màn hình, pin, bàn phím, bản lề, SSD, VGA...).</a:t>
            </a:r>
          </a:p>
          <a:p>
            <a:pPr>
              <a:defRPr b="1" sz="1100">
                <a:solidFill>
                  <a:srgbClr val="16A34A"/>
                </a:solidFill>
              </a:defRPr>
            </a:pPr>
            <a:r>
              <a:t>✓ Dữ liệu đánh giá Google Reviews thật:</a:t>
            </a:r>
          </a:p>
          <a:p>
            <a:pPr>
              <a:defRPr sz="1000">
                <a:solidFill>
                  <a:srgbClr val="334155"/>
                </a:solidFill>
              </a:defRPr>
            </a:pPr>
            <a:r>
              <a:t>   Toàn bộ điểm rating từ 4.5 - 4.9 sao và hàng trăm nhận xét thực tế của khách hàng được tích hợp minh bạch.</a:t>
            </a:r>
          </a:p>
          <a:p>
            <a:pPr>
              <a:defRPr b="1" sz="1100">
                <a:solidFill>
                  <a:srgbClr val="16A34A"/>
                </a:solidFill>
              </a:defRPr>
            </a:pPr>
            <a:r>
              <a:t>✓ Kiểm định 3 Tiêu Chuẩn Vàng bắt buộc:</a:t>
            </a:r>
          </a:p>
          <a:p>
            <a:pPr>
              <a:defRPr sz="1000">
                <a:solidFill>
                  <a:srgbClr val="334155"/>
                </a:solidFill>
              </a:defRPr>
            </a:pPr>
            <a:r>
              <a:t>   100% tiệm đối tác cam kết: (1) Cho ngồi xem sửa trực tiếp; (2) Ký tên lên linh kiện; (3) Giảm 15% cho sinh viên FPT &amp; các trường.</a:t>
            </a:r>
          </a:p>
        </p:txBody>
      </p:sp>
      <p:sp>
        <p:nvSpPr>
          <p:cNvPr id="6" name="TextBox 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7" name="TextBox 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601200" cy="365760"/>
          </a:xfrm>
          <a:prstGeom prst="rect">
            <a:avLst/>
          </a:prstGeom>
          <a:noFill/>
        </p:spPr>
        <p:txBody>
          <a:bodyPr wrap="square">
            <a:spAutoFit/>
          </a:bodyPr>
          <a:lstStyle/>
          <a:p>
            <a:pPr>
              <a:defRPr sz="1100" b="1">
                <a:solidFill>
                  <a:srgbClr val="EA580C"/>
                </a:solidFill>
              </a:defRPr>
            </a:pPr>
            <a:r>
              <a:t>II. CẤU TRÚC HỆ THỐNG  ·  4 PHÂN HỆ NAVIGATION</a:t>
            </a:r>
          </a:p>
        </p:txBody>
      </p:sp>
      <p:sp>
        <p:nvSpPr>
          <p:cNvPr id="3" name="TextBox 2"/>
          <p:cNvSpPr txBox="1"/>
          <p:nvPr/>
        </p:nvSpPr>
        <p:spPr>
          <a:xfrm>
            <a:off x="548640" y="731520"/>
            <a:ext cx="11091672" cy="594360"/>
          </a:xfrm>
          <a:prstGeom prst="rect">
            <a:avLst/>
          </a:prstGeom>
          <a:noFill/>
        </p:spPr>
        <p:txBody>
          <a:bodyPr wrap="square">
            <a:spAutoFit/>
          </a:bodyPr>
          <a:lstStyle/>
          <a:p>
            <a:pPr>
              <a:defRPr sz="2200" b="1">
                <a:solidFill>
                  <a:srgbClr val="0F172A"/>
                </a:solidFill>
              </a:defRPr>
            </a:pPr>
            <a:r>
              <a:t>Cách Vận Hành Website Qua 4 Module Trọng Tâm</a:t>
            </a:r>
          </a:p>
        </p:txBody>
      </p:sp>
      <p:sp>
        <p:nvSpPr>
          <p:cNvPr id="4" name="Rounded Rectangle 3"/>
          <p:cNvSpPr/>
          <p:nvPr/>
        </p:nvSpPr>
        <p:spPr>
          <a:xfrm>
            <a:off x="548640" y="1508760"/>
            <a:ext cx="2606040" cy="4709160"/>
          </a:xfrm>
          <a:prstGeom prst="roundRect">
            <a:avLst/>
          </a:prstGeom>
          <a:solidFill>
            <a:srgbClr val="FFFFFF"/>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MODULE 1</a:t>
            </a:r>
          </a:p>
          <a:p>
            <a:pPr>
              <a:defRPr b="1" sz="1200">
                <a:solidFill>
                  <a:srgbClr val="0F172A"/>
                </a:solidFill>
              </a:defRPr>
            </a:pPr>
            <a:r>
              <a:t>🔍 Trang Chủ &amp; Tìm Kiếm Bản Đồ</a:t>
            </a:r>
          </a:p>
          <a:p>
            <a:pPr>
              <a:defRPr sz="900">
                <a:solidFill>
                  <a:srgbClr val="0284C7"/>
                </a:solidFill>
              </a:defRPr>
            </a:pPr>
            <a:r>
              <a:t>URL: index.php &amp; search.php</a:t>
            </a:r>
          </a:p>
          <a:p/>
          <a:p>
            <a:pPr>
              <a:defRPr sz="950">
                <a:solidFill>
                  <a:srgbClr val="334155"/>
                </a:solidFill>
              </a:defRPr>
            </a:pPr>
            <a:r>
              <a:t>• Wizard 2 bước chuẩn RepairBookings: Chọn dòng máy -&gt; Chọn pan bệnh.</a:t>
            </a:r>
          </a:p>
          <a:p>
            <a:pPr>
              <a:defRPr sz="950">
                <a:solidFill>
                  <a:srgbClr val="334155"/>
                </a:solidFill>
              </a:defRPr>
            </a:pPr>
            <a:r>
              <a:t>• Định vị GPS vệ tinh tính khoảng cách km đến từng tiệm gần nhất.</a:t>
            </a:r>
          </a:p>
          <a:p>
            <a:pPr>
              <a:defRPr sz="950">
                <a:solidFill>
                  <a:srgbClr val="334155"/>
                </a:solidFill>
              </a:defRPr>
            </a:pPr>
            <a:r>
              <a:t>• Bản đồ số tương tác Leaflet hiển thị trực quan các cửa hàng xung quanh.</a:t>
            </a:r>
          </a:p>
          <a:p>
            <a:pPr>
              <a:defRPr sz="950">
                <a:solidFill>
                  <a:srgbClr val="334155"/>
                </a:solidFill>
              </a:defRPr>
            </a:pPr>
            <a:r>
              <a:t>• Bộ lọc đa chiều: theo khoảng giá, bán kính 1km-20km, loại thiết bị.</a:t>
            </a:r>
          </a:p>
        </p:txBody>
      </p:sp>
      <p:sp>
        <p:nvSpPr>
          <p:cNvPr id="5" name="Rounded Rectangle 4"/>
          <p:cNvSpPr/>
          <p:nvPr/>
        </p:nvSpPr>
        <p:spPr>
          <a:xfrm>
            <a:off x="3374136" y="1508760"/>
            <a:ext cx="260604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MODULE 2</a:t>
            </a:r>
          </a:p>
          <a:p>
            <a:pPr>
              <a:defRPr b="1" sz="1200">
                <a:solidFill>
                  <a:srgbClr val="0F172A"/>
                </a:solidFill>
              </a:defRPr>
            </a:pPr>
            <a:r>
              <a:t>📝 Gửi Thông Tin Thiết Bị Báo Giá</a:t>
            </a:r>
          </a:p>
          <a:p>
            <a:pPr>
              <a:defRPr sz="900">
                <a:solidFill>
                  <a:srgbClr val="0284C7"/>
                </a:solidFill>
              </a:defRPr>
            </a:pPr>
            <a:r>
              <a:t>URL: request_repair.php</a:t>
            </a:r>
          </a:p>
          <a:p/>
          <a:p>
            <a:pPr>
              <a:defRPr sz="950">
                <a:solidFill>
                  <a:srgbClr val="334155"/>
                </a:solidFill>
              </a:defRPr>
            </a:pPr>
            <a:r>
              <a:t>• Khách hàng nhập model máy, triệu chứng hỏng hóc &amp; tải ảnh chụp.</a:t>
            </a:r>
          </a:p>
          <a:p>
            <a:pPr>
              <a:defRPr sz="950">
                <a:solidFill>
                  <a:srgbClr val="334155"/>
                </a:solidFill>
              </a:defRPr>
            </a:pPr>
            <a:r>
              <a:t>• Hệ thống phân tích pan bệnh và đưa ra khung giá chuẩn thị trường tức thì.</a:t>
            </a:r>
          </a:p>
          <a:p>
            <a:pPr>
              <a:defRPr sz="950">
                <a:solidFill>
                  <a:srgbClr val="334155"/>
                </a:solidFill>
              </a:defRPr>
            </a:pPr>
            <a:r>
              <a:t>• Tự động đề xuất top 4 cửa hàng gần nhất chuyên trị đúng lỗi đó.</a:t>
            </a:r>
          </a:p>
          <a:p>
            <a:pPr>
              <a:defRPr sz="950">
                <a:solidFill>
                  <a:srgbClr val="334155"/>
                </a:solidFill>
              </a:defRPr>
            </a:pPr>
            <a:r>
              <a:t>• Lưu trữ bền vững vào CSDL và cập nhật trạng thái xử lý cho khách.</a:t>
            </a:r>
          </a:p>
        </p:txBody>
      </p:sp>
      <p:sp>
        <p:nvSpPr>
          <p:cNvPr id="6" name="Rounded Rectangle 5"/>
          <p:cNvSpPr/>
          <p:nvPr/>
        </p:nvSpPr>
        <p:spPr>
          <a:xfrm>
            <a:off x="6199632" y="1508760"/>
            <a:ext cx="260604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MODULE 3</a:t>
            </a:r>
          </a:p>
          <a:p>
            <a:pPr>
              <a:defRPr b="1" sz="1200">
                <a:solidFill>
                  <a:srgbClr val="0F172A"/>
                </a:solidFill>
              </a:defRPr>
            </a:pPr>
            <a:r>
              <a:t>⭐ Thợ &amp; Tiệm Uy Tín Minh Bạch</a:t>
            </a:r>
          </a:p>
          <a:p>
            <a:pPr>
              <a:defRPr sz="900">
                <a:solidFill>
                  <a:srgbClr val="0284C7"/>
                </a:solidFill>
              </a:defRPr>
            </a:pPr>
            <a:r>
              <a:t>URL: shops.php</a:t>
            </a:r>
          </a:p>
          <a:p/>
          <a:p>
            <a:pPr>
              <a:defRPr sz="950">
                <a:solidFill>
                  <a:srgbClr val="334155"/>
                </a:solidFill>
              </a:defRPr>
            </a:pPr>
            <a:r>
              <a:t>• Hồ sơ năng lực thợ: số năm kinh nghiệm, các pan bệnh sở trường.</a:t>
            </a:r>
          </a:p>
          <a:p>
            <a:pPr>
              <a:defRPr sz="950">
                <a:solidFill>
                  <a:srgbClr val="334155"/>
                </a:solidFill>
              </a:defRPr>
            </a:pPr>
            <a:r>
              <a:t>• Cam kết 3 tiêu chuẩn: Xem sửa trực tiếp, Ký tên linh kiện, Bảo hành 6-36T.</a:t>
            </a:r>
          </a:p>
          <a:p>
            <a:pPr>
              <a:defRPr sz="950">
                <a:solidFill>
                  <a:srgbClr val="334155"/>
                </a:solidFill>
              </a:defRPr>
            </a:pPr>
            <a:r>
              <a:t>• Lọc theo tay nghề chuyên môn: Chuyên iPhone, Laptop gaming, MacBook.</a:t>
            </a:r>
          </a:p>
          <a:p>
            <a:pPr>
              <a:defRPr sz="950">
                <a:solidFill>
                  <a:srgbClr val="334155"/>
                </a:solidFill>
              </a:defRPr>
            </a:pPr>
            <a:r>
              <a:t>• Tích hợp nút xem bảng giá chi tiết và chỉ đường Google Maps 1 chạm.</a:t>
            </a:r>
          </a:p>
        </p:txBody>
      </p:sp>
      <p:sp>
        <p:nvSpPr>
          <p:cNvPr id="7" name="Rounded Rectangle 6"/>
          <p:cNvSpPr/>
          <p:nvPr/>
        </p:nvSpPr>
        <p:spPr>
          <a:xfrm>
            <a:off x="9025128" y="1508760"/>
            <a:ext cx="260604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MODULE 4</a:t>
            </a:r>
          </a:p>
          <a:p>
            <a:pPr>
              <a:defRPr b="1" sz="1200">
                <a:solidFill>
                  <a:srgbClr val="0F172A"/>
                </a:solidFill>
              </a:defRPr>
            </a:pPr>
            <a:r>
              <a:t>📞 Liên Hệ &amp; Đồng Hành Dự Án</a:t>
            </a:r>
          </a:p>
          <a:p>
            <a:pPr>
              <a:defRPr sz="900">
                <a:solidFill>
                  <a:srgbClr val="0284C7"/>
                </a:solidFill>
              </a:defRPr>
            </a:pPr>
            <a:r>
              <a:t>URL: contact.php</a:t>
            </a:r>
          </a:p>
          <a:p/>
          <a:p>
            <a:pPr>
              <a:defRPr sz="950">
                <a:solidFill>
                  <a:srgbClr val="334155"/>
                </a:solidFill>
              </a:defRPr>
            </a:pPr>
            <a:r>
              <a:t>• Tiếp nhận phản ánh, khiếu nại của khách hàng nếu tiệm có dấu hiệu sai phạm.</a:t>
            </a:r>
          </a:p>
          <a:p>
            <a:pPr>
              <a:defRPr sz="950">
                <a:solidFill>
                  <a:srgbClr val="334155"/>
                </a:solidFill>
              </a:defRPr>
            </a:pPr>
            <a:r>
              <a:t>• Cổng đăng ký dành cho các thợ sửa/cửa hàng muốn gia nhập mạng lưới.</a:t>
            </a:r>
          </a:p>
          <a:p>
            <a:pPr>
              <a:defRPr sz="950">
                <a:solidFill>
                  <a:srgbClr val="334155"/>
                </a:solidFill>
              </a:defRPr>
            </a:pPr>
            <a:r>
              <a:t>• Hotline kỹ thuật 24/7 &amp; kênh Zalo tư vấn xử lý sự cố thiết bị khẩn cấp.</a:t>
            </a:r>
          </a:p>
          <a:p>
            <a:pPr>
              <a:defRPr sz="950">
                <a:solidFill>
                  <a:srgbClr val="334155"/>
                </a:solidFill>
              </a:defRPr>
            </a:pPr>
            <a:r>
              <a:t>• Kênh kết nối nhà trường, đối tác học thuật và tài trợ sinh viên.</a:t>
            </a:r>
          </a:p>
        </p:txBody>
      </p:sp>
      <p:sp>
        <p:nvSpPr>
          <p:cNvPr id="8" name="TextBox 7"/>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9" name="TextBox 8"/>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601200" cy="365760"/>
          </a:xfrm>
          <a:prstGeom prst="rect">
            <a:avLst/>
          </a:prstGeom>
          <a:noFill/>
        </p:spPr>
        <p:txBody>
          <a:bodyPr wrap="square">
            <a:spAutoFit/>
          </a:bodyPr>
          <a:lstStyle/>
          <a:p>
            <a:pPr>
              <a:defRPr sz="1100" b="1">
                <a:solidFill>
                  <a:srgbClr val="EA580C"/>
                </a:solidFill>
              </a:defRPr>
            </a:pPr>
            <a:r>
              <a:t>III. GIẢI PHÁP NGHIỆP VỤ  ·  KẾT QUẢ CUỐI CÙNG</a:t>
            </a:r>
          </a:p>
        </p:txBody>
      </p:sp>
      <p:sp>
        <p:nvSpPr>
          <p:cNvPr id="3" name="TextBox 2"/>
          <p:cNvSpPr txBox="1"/>
          <p:nvPr/>
        </p:nvSpPr>
        <p:spPr>
          <a:xfrm>
            <a:off x="548640" y="731520"/>
            <a:ext cx="11091672" cy="594360"/>
          </a:xfrm>
          <a:prstGeom prst="rect">
            <a:avLst/>
          </a:prstGeom>
          <a:noFill/>
        </p:spPr>
        <p:txBody>
          <a:bodyPr wrap="square">
            <a:spAutoFit/>
          </a:bodyPr>
          <a:lstStyle/>
          <a:p>
            <a:pPr>
              <a:defRPr sz="2200" b="1">
                <a:solidFill>
                  <a:srgbClr val="0F172A"/>
                </a:solidFill>
              </a:defRPr>
            </a:pPr>
            <a:r>
              <a:t>Trang Trả Kết Quả Cuối Cùng Cho Người Dùng</a:t>
            </a:r>
          </a:p>
        </p:txBody>
      </p:sp>
      <p:sp>
        <p:nvSpPr>
          <p:cNvPr id="4" name="Rounded Rectangle 3"/>
          <p:cNvSpPr/>
          <p:nvPr/>
        </p:nvSpPr>
        <p:spPr>
          <a:xfrm>
            <a:off x="548640" y="1508760"/>
            <a:ext cx="4572000" cy="4709160"/>
          </a:xfrm>
          <a:prstGeom prst="roundRect">
            <a:avLst/>
          </a:prstGeom>
          <a:solidFill>
            <a:srgbClr val="0F172A"/>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FB923C"/>
                </a:solidFill>
              </a:defRPr>
            </a:pPr>
            <a:r>
              <a:t>❓ TRANG TRẢ KẾT QUẢ CUỐI CÙNG ĐÃ CÓ CHƯA?</a:t>
            </a:r>
          </a:p>
          <a:p>
            <a:pPr>
              <a:defRPr b="1" sz="1500">
                <a:solidFill>
                  <a:srgbClr val="22C55E"/>
                </a:solidFill>
              </a:defRPr>
            </a:pPr>
            <a:r>
              <a:t>KHẲNG ĐỊNH: ĐÃ CÓ &amp; HOÀN THIỆN 100%!</a:t>
            </a:r>
          </a:p>
          <a:p>
            <a:pPr>
              <a:defRPr sz="1050">
                <a:solidFill>
                  <a:srgbClr val="CBD5E1"/>
                </a:solidFill>
              </a:defRPr>
            </a:pPr>
            <a:r>
              <a:t>Đó chính là Trang Chi Tiết Cửa Hàng (shop_detail.php) kết hợp Bộ Lọc Bản Đồ (search.php):</a:t>
            </a:r>
          </a:p>
          <a:p/>
          <a:p>
            <a:pPr>
              <a:defRPr b="1" sz="1050">
                <a:solidFill>
                  <a:srgbClr val="FB923C"/>
                </a:solidFill>
              </a:defRPr>
            </a:pPr>
            <a:r>
              <a:t>1. Tiệm nào gần tôi nhất?</a:t>
            </a:r>
          </a:p>
          <a:p>
            <a:pPr>
              <a:defRPr sz="950">
                <a:solidFill>
                  <a:srgbClr val="F1F5F9"/>
                </a:solidFill>
              </a:defRPr>
            </a:pPr>
            <a:r>
              <a:t>→ Hệ thống định vị GPS tự động đo chính xác khoảng cách (vd: 900m, 1.6km) và xếp tiệm gần nhất lên đầu.</a:t>
            </a:r>
          </a:p>
          <a:p>
            <a:pPr>
              <a:defRPr b="1" sz="1050">
                <a:solidFill>
                  <a:srgbClr val="FB923C"/>
                </a:solidFill>
              </a:defRPr>
            </a:pPr>
            <a:r>
              <a:t>2. Sửa lỗi này hết bao nhiêu tiền?</a:t>
            </a:r>
          </a:p>
          <a:p>
            <a:pPr>
              <a:defRPr sz="950">
                <a:solidFill>
                  <a:srgbClr val="F1F5F9"/>
                </a:solidFill>
              </a:defRPr>
            </a:pPr>
            <a:r>
              <a:t>→ Niêm yết bảng giá chi tiết từng dịch vụ, minh bạch giá linh kiện zin và công thợ, không phát sinh.</a:t>
            </a:r>
          </a:p>
          <a:p>
            <a:pPr>
              <a:defRPr b="1" sz="1050">
                <a:solidFill>
                  <a:srgbClr val="FB923C"/>
                </a:solidFill>
              </a:defRPr>
            </a:pPr>
            <a:r>
              <a:t>3. Sửa bao lâu thì lấy được máy?</a:t>
            </a:r>
          </a:p>
          <a:p>
            <a:pPr>
              <a:defRPr sz="950">
                <a:solidFill>
                  <a:srgbClr val="F1F5F9"/>
                </a:solidFill>
              </a:defRPr>
            </a:pPr>
            <a:r>
              <a:t>→ Hiển thị thời gian xử lý cụ thể: 15-30 phút (lấy liền) hoặc 1-2 ngày đối với pan bệnh nặng.</a:t>
            </a:r>
          </a:p>
          <a:p>
            <a:pPr>
              <a:defRPr b="1" sz="1050">
                <a:solidFill>
                  <a:srgbClr val="FB923C"/>
                </a:solidFill>
              </a:defRPr>
            </a:pPr>
            <a:r>
              <a:t>4. Chế độ bảo hành ra sao?</a:t>
            </a:r>
          </a:p>
          <a:p>
            <a:pPr>
              <a:defRPr sz="950">
                <a:solidFill>
                  <a:srgbClr val="F1F5F9"/>
                </a:solidFill>
              </a:defRPr>
            </a:pPr>
            <a:r>
              <a:t>→ Ghi rõ thời hạn bảo hành từ 6 đến 36 tháng chính hãng cho từng linh kiện.</a:t>
            </a:r>
          </a:p>
          <a:p>
            <a:pPr>
              <a:defRPr b="1" sz="1050">
                <a:solidFill>
                  <a:srgbClr val="FB923C"/>
                </a:solidFill>
              </a:defRPr>
            </a:pPr>
            <a:r>
              <a:t>5. Có sợ bị tráo đổi đồ không?</a:t>
            </a:r>
          </a:p>
          <a:p>
            <a:pPr>
              <a:defRPr sz="950">
                <a:solidFill>
                  <a:srgbClr val="F1F5F9"/>
                </a:solidFill>
              </a:defRPr>
            </a:pPr>
            <a:r>
              <a:t>→ Cam kết cho khách ngồi xem trực tiếp tại bàn + ký tên niêm phong lên toàn bộ linh kiện máy.</a:t>
            </a:r>
          </a:p>
        </p:txBody>
      </p:sp>
      <p:sp>
        <p:nvSpPr>
          <p:cNvPr id="5" name="Rounded Rectangle 4"/>
          <p:cNvSpPr/>
          <p:nvPr/>
        </p:nvSpPr>
        <p:spPr>
          <a:xfrm>
            <a:off x="5303520" y="1508760"/>
            <a:ext cx="6309360" cy="4709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0F172A"/>
                </a:solidFill>
              </a:defRPr>
            </a:pPr>
            <a:r>
              <a:t>📱 CÁC TÁC VỤ THỰC CHIẾN TRÊN TRANG KẾT QUẢ CUỐI CÙNG</a:t>
            </a:r>
          </a:p>
          <a:p>
            <a:pPr>
              <a:defRPr b="1" sz="1100">
                <a:solidFill>
                  <a:srgbClr val="EA580C"/>
                </a:solidFill>
              </a:defRPr>
            </a:pPr>
            <a:r>
              <a:t>★ Bảng giá ma trận theo model máy:</a:t>
            </a:r>
          </a:p>
          <a:p>
            <a:pPr>
              <a:defRPr sz="1000">
                <a:solidFill>
                  <a:srgbClr val="334155"/>
                </a:solidFill>
              </a:defRPr>
            </a:pPr>
            <a:r>
              <a:t>   Khách hàng tra đúng dòng máy của mình (vd: Dell Inspiron 5510, iPhone 13 Pro) và xem đúng giá thay màn hình, thay pin, sửa nguồn.</a:t>
            </a:r>
          </a:p>
          <a:p>
            <a:pPr>
              <a:defRPr b="1" sz="1100">
                <a:solidFill>
                  <a:srgbClr val="EA580C"/>
                </a:solidFill>
              </a:defRPr>
            </a:pPr>
            <a:r>
              <a:t>★ Nút Gọi Hotline &amp; Chỉ Đường 1 Chạm:</a:t>
            </a:r>
          </a:p>
          <a:p>
            <a:pPr>
              <a:defRPr sz="1000">
                <a:solidFill>
                  <a:srgbClr val="334155"/>
                </a:solidFill>
              </a:defRPr>
            </a:pPr>
            <a:r>
              <a:t>   Bấm 'Chỉ đường' tự động mở Google Maps dẫn đường chính xác từ vị trí khách đến cửa hàng.</a:t>
            </a:r>
          </a:p>
          <a:p>
            <a:pPr>
              <a:defRPr b="1" sz="1100">
                <a:solidFill>
                  <a:srgbClr val="EA580C"/>
                </a:solidFill>
              </a:defRPr>
            </a:pPr>
            <a:r>
              <a:t>★ Đánh giá sao thật &amp; Đọc review khách trước:</a:t>
            </a:r>
          </a:p>
          <a:p>
            <a:pPr>
              <a:defRPr sz="1000">
                <a:solidFill>
                  <a:srgbClr val="334155"/>
                </a:solidFill>
              </a:defRPr>
            </a:pPr>
            <a:r>
              <a:t>   Khách hàng đăng nhập có thể viết nhận xét thực tế, chia sẻ trải nghiệm để cộng đồng cùng đánh giá.</a:t>
            </a:r>
          </a:p>
          <a:p>
            <a:pPr>
              <a:defRPr b="1" sz="1100">
                <a:solidFill>
                  <a:srgbClr val="EA580C"/>
                </a:solidFill>
              </a:defRPr>
            </a:pPr>
            <a:r>
              <a:t>★ Cơ chế Khiếu Nại Báo Cáo Sai Lệch (Report):</a:t>
            </a:r>
          </a:p>
          <a:p>
            <a:pPr>
              <a:defRPr sz="1000">
                <a:solidFill>
                  <a:srgbClr val="334155"/>
                </a:solidFill>
              </a:defRPr>
            </a:pPr>
            <a:r>
              <a:t>   Nếu tiệm báo giá cao hơn trên web hoặc phục vụ kém, khách bấm 'Báo cáo thông tin sai' để Admin xử lý và gỡ nhãn uy tín.</a:t>
            </a:r>
          </a:p>
          <a:p>
            <a:pPr>
              <a:defRPr b="1" sz="1100">
                <a:solidFill>
                  <a:srgbClr val="EA580C"/>
                </a:solidFill>
              </a:defRPr>
            </a:pPr>
            <a:r>
              <a:t>★ Nhận diện Ưu đãi 15% Sinh Viên:</a:t>
            </a:r>
          </a:p>
          <a:p>
            <a:pPr>
              <a:defRPr sz="1000">
                <a:solidFill>
                  <a:srgbClr val="334155"/>
                </a:solidFill>
              </a:defRPr>
            </a:pPr>
            <a:r>
              <a:t>   Badge giảm giá học sinh sinh viên hiển thị rõ ràng, giúp tiết kiệm chi phí tối đa.</a:t>
            </a:r>
          </a:p>
        </p:txBody>
      </p:sp>
      <p:sp>
        <p:nvSpPr>
          <p:cNvPr id="6" name="TextBox 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7" name="TextBox 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601200" cy="365760"/>
          </a:xfrm>
          <a:prstGeom prst="rect">
            <a:avLst/>
          </a:prstGeom>
          <a:noFill/>
        </p:spPr>
        <p:txBody>
          <a:bodyPr wrap="square">
            <a:spAutoFit/>
          </a:bodyPr>
          <a:lstStyle/>
          <a:p>
            <a:pPr>
              <a:defRPr sz="1100" b="1">
                <a:solidFill>
                  <a:srgbClr val="EA580C"/>
                </a:solidFill>
              </a:defRPr>
            </a:pPr>
            <a:r>
              <a:t>IV. KIẾN TRÚC KỸ THUẬT  ·  CÔNG NGHỆ VẬN HÀNH</a:t>
            </a:r>
          </a:p>
        </p:txBody>
      </p:sp>
      <p:sp>
        <p:nvSpPr>
          <p:cNvPr id="3" name="TextBox 2"/>
          <p:cNvSpPr txBox="1"/>
          <p:nvPr/>
        </p:nvSpPr>
        <p:spPr>
          <a:xfrm>
            <a:off x="548640" y="731520"/>
            <a:ext cx="11091672" cy="594360"/>
          </a:xfrm>
          <a:prstGeom prst="rect">
            <a:avLst/>
          </a:prstGeom>
          <a:noFill/>
        </p:spPr>
        <p:txBody>
          <a:bodyPr wrap="square">
            <a:spAutoFit/>
          </a:bodyPr>
          <a:lstStyle/>
          <a:p>
            <a:pPr>
              <a:defRPr sz="2200" b="1">
                <a:solidFill>
                  <a:srgbClr val="0F172A"/>
                </a:solidFill>
              </a:defRPr>
            </a:pPr>
            <a:r>
              <a:t>Kiến Trúc Công Nghệ &amp; Các Tính Năng Đột Phá</a:t>
            </a:r>
          </a:p>
        </p:txBody>
      </p:sp>
      <p:sp>
        <p:nvSpPr>
          <p:cNvPr id="4" name="Rounded Rectangle 3"/>
          <p:cNvSpPr/>
          <p:nvPr/>
        </p:nvSpPr>
        <p:spPr>
          <a:xfrm>
            <a:off x="548640" y="1508760"/>
            <a:ext cx="53949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DUAL-ENGINE DATABASE</a:t>
            </a:r>
          </a:p>
          <a:p>
            <a:pPr>
              <a:defRPr b="1" sz="1200">
                <a:solidFill>
                  <a:srgbClr val="0F172A"/>
                </a:solidFill>
              </a:defRPr>
            </a:pPr>
            <a:r>
              <a:t>Cơ Sở Dữ Liệu Kép Bền Vững 100%</a:t>
            </a:r>
          </a:p>
          <a:p>
            <a:pPr>
              <a:defRPr sz="950">
                <a:solidFill>
                  <a:srgbClr val="334155"/>
                </a:solidFill>
              </a:defRPr>
            </a:pPr>
            <a:r>
              <a:t>• Chạy trên MySQL PDO (XAMPP) với bảng quan hệ chuẩn hóa 3NF.</a:t>
            </a:r>
          </a:p>
          <a:p>
            <a:pPr>
              <a:defRPr sz="950">
                <a:solidFill>
                  <a:srgbClr val="334155"/>
                </a:solidFill>
              </a:defRPr>
            </a:pPr>
            <a:r>
              <a:t>• Tự động fallback sang JSON File DB nếu MySQL tắt -&gt; Web không bao giờ lỗi!</a:t>
            </a:r>
          </a:p>
          <a:p>
            <a:pPr>
              <a:defRPr sz="950">
                <a:solidFill>
                  <a:srgbClr val="334155"/>
                </a:solidFill>
              </a:defRPr>
            </a:pPr>
            <a:r>
              <a:t>• Lưu trữ an toàn: shops, users, reviews, bookings, wrong_info_reports.</a:t>
            </a:r>
          </a:p>
        </p:txBody>
      </p:sp>
      <p:sp>
        <p:nvSpPr>
          <p:cNvPr id="5" name="Rounded Rectangle 4"/>
          <p:cNvSpPr/>
          <p:nvPr/>
        </p:nvSpPr>
        <p:spPr>
          <a:xfrm>
            <a:off x="6217920" y="1508760"/>
            <a:ext cx="53949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ĐỊNH VỊ GPS THÔNG MINH</a:t>
            </a:r>
          </a:p>
          <a:p>
            <a:pPr>
              <a:defRPr b="1" sz="1200">
                <a:solidFill>
                  <a:srgbClr val="0F172A"/>
                </a:solidFill>
              </a:defRPr>
            </a:pPr>
            <a:r>
              <a:t>Smart Location Check Không Gây Phiền</a:t>
            </a:r>
          </a:p>
          <a:p>
            <a:pPr>
              <a:defRPr sz="950">
                <a:solidFill>
                  <a:srgbClr val="334155"/>
                </a:solidFill>
              </a:defRPr>
            </a:pPr>
            <a:r>
              <a:t>• Tự động kiểm tra: Đã bật vị trí rồi -&gt; Tuyệt đối không hỏi lại.</a:t>
            </a:r>
          </a:p>
          <a:p>
            <a:pPr>
              <a:defRPr sz="950">
                <a:solidFill>
                  <a:srgbClr val="334155"/>
                </a:solidFill>
              </a:defRPr>
            </a:pPr>
            <a:r>
              <a:t>• Chưa bật vị trí -&gt; Mời người dùng chọn quận hoặc kích hoạt GPS nhẹ nhàng.</a:t>
            </a:r>
          </a:p>
          <a:p>
            <a:pPr>
              <a:defRPr sz="950">
                <a:solidFill>
                  <a:srgbClr val="334155"/>
                </a:solidFill>
              </a:defRPr>
            </a:pPr>
            <a:r>
              <a:t>• Lưu trữ vĩnh viễn vào localStorage &amp; Cookie, URL luôn sạch sẽ.</a:t>
            </a:r>
          </a:p>
        </p:txBody>
      </p:sp>
      <p:sp>
        <p:nvSpPr>
          <p:cNvPr id="6" name="Rounded Rectangle 5"/>
          <p:cNvSpPr/>
          <p:nvPr/>
        </p:nvSpPr>
        <p:spPr>
          <a:xfrm>
            <a:off x="548640" y="3931920"/>
            <a:ext cx="53949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BANNER QUẢNG CÁO 3S</a:t>
            </a:r>
          </a:p>
          <a:p>
            <a:pPr>
              <a:defRPr b="1" sz="1200">
                <a:solidFill>
                  <a:srgbClr val="0F172A"/>
                </a:solidFill>
              </a:defRPr>
            </a:pPr>
            <a:r>
              <a:t>Popup Tiếp Thị Tự Động Thông Minh</a:t>
            </a:r>
          </a:p>
          <a:p>
            <a:pPr>
              <a:defRPr sz="950">
                <a:solidFill>
                  <a:srgbClr val="334155"/>
                </a:solidFill>
              </a:defRPr>
            </a:pPr>
            <a:r>
              <a:t>• Tự động xuất hiện sau 3 giây khi truy cập website.</a:t>
            </a:r>
          </a:p>
          <a:p>
            <a:pPr>
              <a:defRPr sz="950">
                <a:solidFill>
                  <a:srgbClr val="334155"/>
                </a:solidFill>
              </a:defRPr>
            </a:pPr>
            <a:r>
              <a:t>• Thiết kế đồ họa 3D hiện đại: Quảng bá chiến dịch Giảm 15% Học sinh - Sinh viên.</a:t>
            </a:r>
          </a:p>
          <a:p>
            <a:pPr>
              <a:defRPr sz="950">
                <a:solidFill>
                  <a:srgbClr val="334155"/>
                </a:solidFill>
              </a:defRPr>
            </a:pPr>
            <a:r>
              <a:t>• Điều hướng 1 chạm đến trang gửi báo giá thiết bị hoặc xem danh sách tiệm.</a:t>
            </a:r>
          </a:p>
        </p:txBody>
      </p:sp>
      <p:sp>
        <p:nvSpPr>
          <p:cNvPr id="7" name="Rounded Rectangle 6"/>
          <p:cNvSpPr/>
          <p:nvPr/>
        </p:nvSpPr>
        <p:spPr>
          <a:xfrm>
            <a:off x="6217920" y="3931920"/>
            <a:ext cx="5394960" cy="22402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EA580C"/>
                </a:solidFill>
              </a:defRPr>
            </a:pPr>
            <a:r>
              <a:t>TRỢ LÝ AI KỸ THUẬT VIÊN</a:t>
            </a:r>
          </a:p>
          <a:p>
            <a:pPr>
              <a:defRPr b="1" sz="1200">
                <a:solidFill>
                  <a:srgbClr val="0F172A"/>
                </a:solidFill>
              </a:defRPr>
            </a:pPr>
            <a:r>
              <a:t>Chatbot Hỗ Trợ Chẩn Đoán Pan Bệnh 24/7</a:t>
            </a:r>
          </a:p>
          <a:p>
            <a:pPr>
              <a:defRPr sz="950">
                <a:solidFill>
                  <a:srgbClr val="334155"/>
                </a:solidFill>
              </a:defRPr>
            </a:pPr>
            <a:r>
              <a:t>• Trả lời tức thì các câu hỏi về giá sửa, thời gian xử lý, cách cứu máy rơi nước.</a:t>
            </a:r>
          </a:p>
          <a:p>
            <a:pPr>
              <a:defRPr sz="950">
                <a:solidFill>
                  <a:srgbClr val="334155"/>
                </a:solidFill>
              </a:defRPr>
            </a:pPr>
            <a:r>
              <a:t>• Hướng dẫn quy trình ký tên linh kiện để tránh bị tráo đồ.</a:t>
            </a:r>
          </a:p>
          <a:p>
            <a:pPr>
              <a:defRPr sz="950">
                <a:solidFill>
                  <a:srgbClr val="334155"/>
                </a:solidFill>
              </a:defRPr>
            </a:pPr>
            <a:r>
              <a:t>• Hỗ trợ người dùng tra cứu cửa hàng gần nhất theo quận huyện.</a:t>
            </a:r>
          </a:p>
        </p:txBody>
      </p:sp>
      <p:sp>
        <p:nvSpPr>
          <p:cNvPr id="8" name="TextBox 7"/>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9" name="TextBox 8"/>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601200" cy="365760"/>
          </a:xfrm>
          <a:prstGeom prst="rect">
            <a:avLst/>
          </a:prstGeom>
          <a:noFill/>
        </p:spPr>
        <p:txBody>
          <a:bodyPr wrap="square">
            <a:spAutoFit/>
          </a:bodyPr>
          <a:lstStyle/>
          <a:p>
            <a:pPr>
              <a:defRPr sz="1100" b="1">
                <a:solidFill>
                  <a:srgbClr val="EA580C"/>
                </a:solidFill>
              </a:defRPr>
            </a:pPr>
            <a:r>
              <a:t>V. KẾ HOẠCH &amp; KIỂM SOÁT  ·  TIẾN ĐỘ THỰC TẾ</a:t>
            </a:r>
          </a:p>
        </p:txBody>
      </p:sp>
      <p:sp>
        <p:nvSpPr>
          <p:cNvPr id="3" name="TextBox 2"/>
          <p:cNvSpPr txBox="1"/>
          <p:nvPr/>
        </p:nvSpPr>
        <p:spPr>
          <a:xfrm>
            <a:off x="548640" y="731520"/>
            <a:ext cx="11091672" cy="594360"/>
          </a:xfrm>
          <a:prstGeom prst="rect">
            <a:avLst/>
          </a:prstGeom>
          <a:noFill/>
        </p:spPr>
        <p:txBody>
          <a:bodyPr wrap="square">
            <a:spAutoFit/>
          </a:bodyPr>
          <a:lstStyle/>
          <a:p>
            <a:pPr>
              <a:defRPr sz="2200" b="1">
                <a:solidFill>
                  <a:srgbClr val="0F172A"/>
                </a:solidFill>
              </a:defRPr>
            </a:pPr>
            <a:r>
              <a:t>Báo Cáo Tiến Độ Thực Tế Đạt 100% (Actual Progress)</a:t>
            </a:r>
          </a:p>
        </p:txBody>
      </p:sp>
      <p:sp>
        <p:nvSpPr>
          <p:cNvPr id="4" name="Rounded Rectangle 3"/>
          <p:cNvSpPr/>
          <p:nvPr/>
        </p:nvSpPr>
        <p:spPr>
          <a:xfrm>
            <a:off x="548640" y="1508760"/>
            <a:ext cx="11091672" cy="77724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200">
                <a:solidFill>
                  <a:srgbClr val="16A34A"/>
                </a:solidFill>
              </a:defRPr>
            </a:pPr>
            <a:r>
              <a:t>🎉 TIẾN ĐỘ THỰC TẾ: HOÀN THÀNH 100% CÁC MỤC TIÊU MVP VÀ VƯỢT TIẾN ĐỘ ĐỀ RA</a:t>
            </a:r>
          </a:p>
          <a:p>
            <a:pPr>
              <a:defRPr sz="1000">
                <a:solidFill>
                  <a:srgbClr val="166534"/>
                </a:solidFill>
              </a:defRPr>
            </a:pPr>
            <a:r>
              <a:t>Dự án không chỉ dừng lại ở bản thiết kế lý thuyết mà đã hoàn thiện mã nguồn, cơ sở dữ liệu và vận hành thực tế 100% trên Localhost &amp; XAMPP.</a:t>
            </a:r>
          </a:p>
        </p:txBody>
      </p:sp>
      <p:graphicFrame>
        <p:nvGraphicFramePr>
          <p:cNvPr id="5" name="Table 4"/>
          <p:cNvGraphicFramePr>
            <a:graphicFrameLocks noGrp="1"/>
          </p:cNvGraphicFramePr>
          <p:nvPr/>
        </p:nvGraphicFramePr>
        <p:xfrm>
          <a:off x="548640" y="2468880"/>
          <a:ext cx="11091672" cy="3657600"/>
        </p:xfrm>
        <a:graphic>
          <a:graphicData uri="http://schemas.openxmlformats.org/drawingml/2006/table">
            <a:tbl>
              <a:tblPr firstRow="1" bandRow="1">
                <a:tableStyleId>{5C22544A-7EE6-4342-B048-85BDC9FD1C3A}</a:tableStyleId>
              </a:tblPr>
              <a:tblGrid>
                <a:gridCol w="2926080"/>
                <a:gridCol w="3931920"/>
                <a:gridCol w="2011680"/>
                <a:gridCol w="2221992"/>
              </a:tblGrid>
              <a:tr h="609600">
                <a:tc>
                  <a:txBody>
                    <a:bodyPr/>
                    <a:lstStyle/>
                    <a:p>
                      <a:pPr algn="ctr">
                        <a:defRPr b="1" sz="1000">
                          <a:solidFill>
                            <a:srgbClr val="FFFFFF"/>
                          </a:solidFill>
                        </a:defRPr>
                      </a:pPr>
                      <a:r>
                        <a:t>HẠNG MỤC CÔNG VIỆC</a:t>
                      </a:r>
                    </a:p>
                  </a:txBody>
                  <a:tcPr>
                    <a:solidFill>
                      <a:srgbClr val="0F172A"/>
                    </a:solidFill>
                  </a:tcPr>
                </a:tc>
                <a:tc>
                  <a:txBody>
                    <a:bodyPr/>
                    <a:lstStyle/>
                    <a:p>
                      <a:pPr algn="ctr">
                        <a:defRPr b="1" sz="1000">
                          <a:solidFill>
                            <a:srgbClr val="FFFFFF"/>
                          </a:solidFill>
                        </a:defRPr>
                      </a:pPr>
                      <a:r>
                        <a:t>KẾT QUẢ THỰC NGHIỆM ĐẠT ĐƯỢC</a:t>
                      </a:r>
                    </a:p>
                  </a:txBody>
                  <a:tcPr>
                    <a:solidFill>
                      <a:srgbClr val="0F172A"/>
                    </a:solidFill>
                  </a:tcPr>
                </a:tc>
                <a:tc>
                  <a:txBody>
                    <a:bodyPr/>
                    <a:lstStyle/>
                    <a:p>
                      <a:pPr algn="ctr">
                        <a:defRPr b="1" sz="1000">
                          <a:solidFill>
                            <a:srgbClr val="FFFFFF"/>
                          </a:solidFill>
                        </a:defRPr>
                      </a:pPr>
                      <a:r>
                        <a:t>TIẾN ĐỘ KẾ HOẠCH</a:t>
                      </a:r>
                    </a:p>
                  </a:txBody>
                  <a:tcPr>
                    <a:solidFill>
                      <a:srgbClr val="0F172A"/>
                    </a:solidFill>
                  </a:tcPr>
                </a:tc>
                <a:tc>
                  <a:txBody>
                    <a:bodyPr/>
                    <a:lstStyle/>
                    <a:p>
                      <a:pPr algn="ctr">
                        <a:defRPr b="1" sz="1000">
                          <a:solidFill>
                            <a:srgbClr val="FFFFFF"/>
                          </a:solidFill>
                        </a:defRPr>
                      </a:pPr>
                      <a:r>
                        <a:t>TIẾN ĐỘ THỰC TẾ</a:t>
                      </a:r>
                    </a:p>
                  </a:txBody>
                  <a:tcPr>
                    <a:solidFill>
                      <a:srgbClr val="0F172A"/>
                    </a:solidFill>
                  </a:tcPr>
                </a:tc>
              </a:tr>
              <a:tr h="609600">
                <a:tc>
                  <a:txBody>
                    <a:bodyPr/>
                    <a:lstStyle/>
                    <a:p>
                      <a:pPr>
                        <a:defRPr sz="950" b="1">
                          <a:solidFill>
                            <a:srgbClr val="0F172A"/>
                          </a:solidFill>
                        </a:defRPr>
                      </a:pPr>
                      <a:r>
                        <a:t>1. Khảo sát &amp; Số hóa dữ liệu</a:t>
                      </a:r>
                    </a:p>
                  </a:txBody>
                  <a:tcPr>
                    <a:solidFill>
                      <a:srgbClr val="F8FAFC"/>
                    </a:solidFill>
                  </a:tcPr>
                </a:tc>
                <a:tc>
                  <a:txBody>
                    <a:bodyPr/>
                    <a:lstStyle/>
                    <a:p>
                      <a:pPr>
                        <a:defRPr sz="950">
                          <a:solidFill>
                            <a:srgbClr val="334155"/>
                          </a:solidFill>
                        </a:defRPr>
                      </a:pPr>
                      <a:r>
                        <a:t>151 cửa hàng thật phủ khắp 28 quận huyện TP.HCM &amp; Miền Nam; 18 dịch vụ chuẩn hóa</a:t>
                      </a:r>
                    </a:p>
                  </a:txBody>
                  <a:tcPr>
                    <a:solidFill>
                      <a:srgbClr val="F8FAFC"/>
                    </a:solidFill>
                  </a:tcPr>
                </a:tc>
                <a:tc>
                  <a:txBody>
                    <a:bodyPr/>
                    <a:lstStyle/>
                    <a:p>
                      <a:pPr algn="ctr">
                        <a:defRPr sz="950">
                          <a:solidFill>
                            <a:srgbClr val="64748B"/>
                          </a:solidFill>
                        </a:defRPr>
                      </a:pPr>
                      <a:r>
                        <a:t>Mục tiêu: 10-20 tiệm</a:t>
                      </a:r>
                    </a:p>
                  </a:txBody>
                  <a:tcPr>
                    <a:solidFill>
                      <a:srgbClr val="F8FAFC"/>
                    </a:solidFill>
                  </a:tcPr>
                </a:tc>
                <a:tc>
                  <a:txBody>
                    <a:bodyPr/>
                    <a:lstStyle/>
                    <a:p>
                      <a:pPr algn="ctr">
                        <a:defRPr sz="950" b="1">
                          <a:solidFill>
                            <a:srgbClr val="16A34A"/>
                          </a:solidFill>
                        </a:defRPr>
                      </a:pPr>
                      <a:r>
                        <a:t>151 Tiệm (Vượt 750%)</a:t>
                      </a:r>
                    </a:p>
                  </a:txBody>
                  <a:tcPr>
                    <a:solidFill>
                      <a:srgbClr val="F8FAFC"/>
                    </a:solidFill>
                  </a:tcPr>
                </a:tc>
              </a:tr>
              <a:tr h="609600">
                <a:tc>
                  <a:txBody>
                    <a:bodyPr/>
                    <a:lstStyle/>
                    <a:p>
                      <a:pPr>
                        <a:defRPr sz="950" b="1">
                          <a:solidFill>
                            <a:srgbClr val="0F172A"/>
                          </a:solidFill>
                        </a:defRPr>
                      </a:pPr>
                      <a:r>
                        <a:t>2. Thiết kế UI/UX &amp; Responsive</a:t>
                      </a:r>
                    </a:p>
                  </a:txBody>
                  <a:tcPr>
                    <a:solidFill>
                      <a:srgbClr val="FFFFFF"/>
                    </a:solidFill>
                  </a:tcPr>
                </a:tc>
                <a:tc>
                  <a:txBody>
                    <a:bodyPr/>
                    <a:lstStyle/>
                    <a:p>
                      <a:pPr>
                        <a:defRPr sz="950">
                          <a:solidFill>
                            <a:srgbClr val="334155"/>
                          </a:solidFill>
                        </a:defRPr>
                      </a:pPr>
                      <a:r>
                        <a:t>Giao diện cam/xanh hiện đại, chuẩn RepairBookings, tương thích 100% điện thoại &amp; máy tính</a:t>
                      </a:r>
                    </a:p>
                  </a:txBody>
                  <a:tcPr>
                    <a:solidFill>
                      <a:srgbClr val="FFFFFF"/>
                    </a:solidFill>
                  </a:tcPr>
                </a:tc>
                <a:tc>
                  <a:txBody>
                    <a:bodyPr/>
                    <a:lstStyle/>
                    <a:p>
                      <a:pPr algn="ctr">
                        <a:defRPr sz="950">
                          <a:solidFill>
                            <a:srgbClr val="64748B"/>
                          </a:solidFill>
                        </a:defRPr>
                      </a:pPr>
                      <a:r>
                        <a:t>Hoàn thành tuần 2</a:t>
                      </a:r>
                    </a:p>
                  </a:txBody>
                  <a:tcPr>
                    <a:solidFill>
                      <a:srgbClr val="FFFFFF"/>
                    </a:solidFill>
                  </a:tcPr>
                </a:tc>
                <a:tc>
                  <a:txBody>
                    <a:bodyPr/>
                    <a:lstStyle/>
                    <a:p>
                      <a:pPr algn="ctr">
                        <a:defRPr sz="950" b="1">
                          <a:solidFill>
                            <a:srgbClr val="16A34A"/>
                          </a:solidFill>
                        </a:defRPr>
                      </a:pPr>
                      <a:r>
                        <a:t>ĐÃ XONG 100%</a:t>
                      </a:r>
                    </a:p>
                  </a:txBody>
                  <a:tcPr>
                    <a:solidFill>
                      <a:srgbClr val="FFFFFF"/>
                    </a:solidFill>
                  </a:tcPr>
                </a:tc>
              </a:tr>
              <a:tr h="609600">
                <a:tc>
                  <a:txBody>
                    <a:bodyPr/>
                    <a:lstStyle/>
                    <a:p>
                      <a:pPr>
                        <a:defRPr sz="950" b="1">
                          <a:solidFill>
                            <a:srgbClr val="0F172A"/>
                          </a:solidFill>
                        </a:defRPr>
                      </a:pPr>
                      <a:r>
                        <a:t>3. Trọn bộ 4 Module Navigation</a:t>
                      </a:r>
                    </a:p>
                  </a:txBody>
                  <a:tcPr>
                    <a:solidFill>
                      <a:srgbClr val="F8FAFC"/>
                    </a:solidFill>
                  </a:tcPr>
                </a:tc>
                <a:tc>
                  <a:txBody>
                    <a:bodyPr/>
                    <a:lstStyle/>
                    <a:p>
                      <a:pPr>
                        <a:defRPr sz="950">
                          <a:solidFill>
                            <a:srgbClr val="334155"/>
                          </a:solidFill>
                        </a:defRPr>
                      </a:pPr>
                      <a:r>
                        <a:t>Module 1 (Tìm kiếm), Module 2 (Gửi báo giá), Module 3 (Thợ uy tín), Module 4 (Liên hệ)</a:t>
                      </a:r>
                    </a:p>
                  </a:txBody>
                  <a:tcPr>
                    <a:solidFill>
                      <a:srgbClr val="F8FAFC"/>
                    </a:solidFill>
                  </a:tcPr>
                </a:tc>
                <a:tc>
                  <a:txBody>
                    <a:bodyPr/>
                    <a:lstStyle/>
                    <a:p>
                      <a:pPr algn="ctr">
                        <a:defRPr sz="950">
                          <a:solidFill>
                            <a:srgbClr val="64748B"/>
                          </a:solidFill>
                        </a:defRPr>
                      </a:pPr>
                      <a:r>
                        <a:t>Mục tiêu 2 module</a:t>
                      </a:r>
                    </a:p>
                  </a:txBody>
                  <a:tcPr>
                    <a:solidFill>
                      <a:srgbClr val="F8FAFC"/>
                    </a:solidFill>
                  </a:tcPr>
                </a:tc>
                <a:tc>
                  <a:txBody>
                    <a:bodyPr/>
                    <a:lstStyle/>
                    <a:p>
                      <a:pPr algn="ctr">
                        <a:defRPr sz="950" b="1">
                          <a:solidFill>
                            <a:srgbClr val="16A34A"/>
                          </a:solidFill>
                        </a:defRPr>
                      </a:pPr>
                      <a:r>
                        <a:t>ĐỦ 4 MODULE (100%)</a:t>
                      </a:r>
                    </a:p>
                  </a:txBody>
                  <a:tcPr>
                    <a:solidFill>
                      <a:srgbClr val="F8FAFC"/>
                    </a:solidFill>
                  </a:tcPr>
                </a:tc>
              </a:tr>
              <a:tr h="609600">
                <a:tc>
                  <a:txBody>
                    <a:bodyPr/>
                    <a:lstStyle/>
                    <a:p>
                      <a:pPr>
                        <a:defRPr sz="950" b="1">
                          <a:solidFill>
                            <a:srgbClr val="0F172A"/>
                          </a:solidFill>
                        </a:defRPr>
                      </a:pPr>
                      <a:r>
                        <a:t>4. CSDL Dual-Engine &amp; Admin</a:t>
                      </a:r>
                    </a:p>
                  </a:txBody>
                  <a:tcPr>
                    <a:solidFill>
                      <a:srgbClr val="FFFFFF"/>
                    </a:solidFill>
                  </a:tcPr>
                </a:tc>
                <a:tc>
                  <a:txBody>
                    <a:bodyPr/>
                    <a:lstStyle/>
                    <a:p>
                      <a:pPr>
                        <a:defRPr sz="950">
                          <a:solidFill>
                            <a:srgbClr val="334155"/>
                          </a:solidFill>
                        </a:defRPr>
                      </a:pPr>
                      <a:r>
                        <a:t>MySQL + JSON bền vững; Cổng Admin CRUD tiệm, duyệt báo cáo sai phạm, quản lý bảng giá</a:t>
                      </a:r>
                    </a:p>
                  </a:txBody>
                  <a:tcPr>
                    <a:solidFill>
                      <a:srgbClr val="FFFFFF"/>
                    </a:solidFill>
                  </a:tcPr>
                </a:tc>
                <a:tc>
                  <a:txBody>
                    <a:bodyPr/>
                    <a:lstStyle/>
                    <a:p>
                      <a:pPr algn="ctr">
                        <a:defRPr sz="950">
                          <a:solidFill>
                            <a:srgbClr val="64748B"/>
                          </a:solidFill>
                        </a:defRPr>
                      </a:pPr>
                      <a:r>
                        <a:t>Hoàn thành tuần 3</a:t>
                      </a:r>
                    </a:p>
                  </a:txBody>
                  <a:tcPr>
                    <a:solidFill>
                      <a:srgbClr val="FFFFFF"/>
                    </a:solidFill>
                  </a:tcPr>
                </a:tc>
                <a:tc>
                  <a:txBody>
                    <a:bodyPr/>
                    <a:lstStyle/>
                    <a:p>
                      <a:pPr algn="ctr">
                        <a:defRPr sz="950" b="1">
                          <a:solidFill>
                            <a:srgbClr val="16A34A"/>
                          </a:solidFill>
                        </a:defRPr>
                      </a:pPr>
                      <a:r>
                        <a:t>ĐÃ XONG 100%</a:t>
                      </a:r>
                    </a:p>
                  </a:txBody>
                  <a:tcPr>
                    <a:solidFill>
                      <a:srgbClr val="FFFFFF"/>
                    </a:solidFill>
                  </a:tcPr>
                </a:tc>
              </a:tr>
              <a:tr h="609600">
                <a:tc>
                  <a:txBody>
                    <a:bodyPr/>
                    <a:lstStyle/>
                    <a:p>
                      <a:pPr>
                        <a:defRPr sz="950" b="1">
                          <a:solidFill>
                            <a:srgbClr val="0F172A"/>
                          </a:solidFill>
                        </a:defRPr>
                      </a:pPr>
                      <a:r>
                        <a:t>5. Tính năng đột phá mở rộng</a:t>
                      </a:r>
                    </a:p>
                  </a:txBody>
                  <a:tcPr>
                    <a:solidFill>
                      <a:srgbClr val="F8FAFC"/>
                    </a:solidFill>
                  </a:tcPr>
                </a:tc>
                <a:tc>
                  <a:txBody>
                    <a:bodyPr/>
                    <a:lstStyle/>
                    <a:p>
                      <a:pPr>
                        <a:defRPr sz="950">
                          <a:solidFill>
                            <a:srgbClr val="334155"/>
                          </a:solidFill>
                        </a:defRPr>
                      </a:pPr>
                      <a:r>
                        <a:t>GPS thông minh, Popup Banner khuyến mãi 3s, Chatbot AI kỹ thuật viên trực tuyến 24/7</a:t>
                      </a:r>
                    </a:p>
                  </a:txBody>
                  <a:tcPr>
                    <a:solidFill>
                      <a:srgbClr val="F8FAFC"/>
                    </a:solidFill>
                  </a:tcPr>
                </a:tc>
                <a:tc>
                  <a:txBody>
                    <a:bodyPr/>
                    <a:lstStyle/>
                    <a:p>
                      <a:pPr algn="ctr">
                        <a:defRPr sz="950">
                          <a:solidFill>
                            <a:srgbClr val="64748B"/>
                          </a:solidFill>
                        </a:defRPr>
                      </a:pPr>
                      <a:r>
                        <a:t>Tính năng tương lai</a:t>
                      </a:r>
                    </a:p>
                  </a:txBody>
                  <a:tcPr>
                    <a:solidFill>
                      <a:srgbClr val="F8FAFC"/>
                    </a:solidFill>
                  </a:tcPr>
                </a:tc>
                <a:tc>
                  <a:txBody>
                    <a:bodyPr/>
                    <a:lstStyle/>
                    <a:p>
                      <a:pPr algn="ctr">
                        <a:defRPr sz="950" b="1">
                          <a:solidFill>
                            <a:srgbClr val="16A34A"/>
                          </a:solidFill>
                        </a:defRPr>
                      </a:pPr>
                      <a:r>
                        <a:t>ĐÃ TÍCH HỢP 100%</a:t>
                      </a:r>
                    </a:p>
                  </a:txBody>
                  <a:tcPr>
                    <a:solidFill>
                      <a:srgbClr val="F8FAFC"/>
                    </a:solidFill>
                  </a:tcPr>
                </a:tc>
              </a:tr>
            </a:tbl>
          </a:graphicData>
        </a:graphic>
      </p:graphicFrame>
      <p:sp>
        <p:nvSpPr>
          <p:cNvPr id="6" name="TextBox 5"/>
          <p:cNvSpPr txBox="1"/>
          <p:nvPr/>
        </p:nvSpPr>
        <p:spPr>
          <a:xfrm>
            <a:off x="548640" y="6446520"/>
            <a:ext cx="5486400" cy="274320"/>
          </a:xfrm>
          <a:prstGeom prst="rect">
            <a:avLst/>
          </a:prstGeom>
          <a:noFill/>
        </p:spPr>
        <p:txBody>
          <a:bodyPr wrap="none">
            <a:spAutoFit/>
          </a:bodyPr>
          <a:lstStyle/>
          <a:p>
            <a:pPr>
              <a:defRPr sz="900">
                <a:solidFill>
                  <a:srgbClr val="64748B"/>
                </a:solidFill>
              </a:defRPr>
            </a:pPr>
            <a:r>
              <a:t>FIXNEAR  ·  PDP104  ·  BÁO CÁO THỰC CHIẾN ASM</a:t>
            </a:r>
          </a:p>
        </p:txBody>
      </p:sp>
      <p:sp>
        <p:nvSpPr>
          <p:cNvPr id="7" name="TextBox 6"/>
          <p:cNvSpPr txBox="1"/>
          <p:nvPr/>
        </p:nvSpPr>
        <p:spPr>
          <a:xfrm>
            <a:off x="10268712" y="6446520"/>
            <a:ext cx="1371600" cy="274320"/>
          </a:xfrm>
          <a:prstGeom prst="rect">
            <a:avLst/>
          </a:prstGeom>
          <a:noFill/>
        </p:spPr>
        <p:txBody>
          <a:bodyPr wrap="none">
            <a:spAutoFit/>
          </a:bodyPr>
          <a:lstStyle/>
          <a:p>
            <a:pPr algn="r">
              <a:defRPr sz="900">
                <a:solidFill>
                  <a:srgbClr val="64748B"/>
                </a:solidFill>
              </a:defRPr>
            </a:pPr>
            <a: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FixNear – Báo cáo dự án ASM giai đoạn 1 – Nhóm 666</dc:title>
  <dc:subject>PptxGenJS Presentation</dc:subject>
  <dc:creator>Nhóm 666 – PDP104</dc:creator>
  <cp:lastModifiedBy>Nhóm 666 – PDP104</cp:lastModifiedBy>
  <cp:revision>1</cp:revision>
  <dcterms:created xsi:type="dcterms:W3CDTF">2026-09-20T15:15:05Z</dcterms:created>
  <dcterms:modified xsi:type="dcterms:W3CDTF">2026-09-20T15:15:05Z</dcterms:modified>
</cp:coreProperties>
</file>