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6" r:id="rId3"/>
    <p:sldId id="284" r:id="rId5"/>
    <p:sldId id="278" r:id="rId6"/>
    <p:sldId id="287" r:id="rId7"/>
    <p:sldId id="304" r:id="rId8"/>
    <p:sldId id="305" r:id="rId9"/>
    <p:sldId id="306" r:id="rId10"/>
    <p:sldId id="308" r:id="rId11"/>
    <p:sldId id="316" r:id="rId12"/>
    <p:sldId id="309" r:id="rId13"/>
    <p:sldId id="311" r:id="rId14"/>
    <p:sldId id="321" r:id="rId15"/>
    <p:sldId id="322" r:id="rId16"/>
    <p:sldId id="323" r:id="rId17"/>
    <p:sldId id="317" r:id="rId18"/>
    <p:sldId id="32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7" userDrawn="1">
          <p15:clr>
            <a:srgbClr val="A4A3A4"/>
          </p15:clr>
        </p15:guide>
        <p15:guide id="2" orient="horz" pos="9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uyen Thi Mai Phuong (FE FPL HO)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49A1"/>
    <a:srgbClr val="F84455"/>
    <a:srgbClr val="F844BB"/>
    <a:srgbClr val="F448E6"/>
    <a:srgbClr val="A5A5A5"/>
    <a:srgbClr val="BEB9AA"/>
    <a:srgbClr val="C0C9C2"/>
    <a:srgbClr val="AA9D92"/>
    <a:srgbClr val="F2F1EE"/>
    <a:srgbClr val="D8D2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595" autoAdjust="0"/>
  </p:normalViewPr>
  <p:slideViewPr>
    <p:cSldViewPr snapToGrid="0" showGuides="1">
      <p:cViewPr varScale="1">
        <p:scale>
          <a:sx n="63" d="100"/>
          <a:sy n="63" d="100"/>
        </p:scale>
        <p:origin x="804" y="56"/>
      </p:cViewPr>
      <p:guideLst>
        <p:guide pos="4167"/>
        <p:guide orient="horz" pos="936"/>
      </p:guideLst>
    </p:cSldViewPr>
  </p:slideViewPr>
  <p:outlineViewPr>
    <p:cViewPr>
      <p:scale>
        <a:sx n="33" d="100"/>
        <a:sy n="33" d="100"/>
      </p:scale>
      <p:origin x="0" y="-402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2FC57-E1F8-4F59-A87C-2833007EAF5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A06BE-7519-4B21-9E1D-AE6D6E69C38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8ACAC0-59EA-4916-9995-398D6BEB88C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B2C62-FE30-453D-946B-754E9E42C84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spacing + Page numbers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9B2C62-FE30-453D-946B-754E9E42C84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GV </a:t>
            </a:r>
            <a:r>
              <a:rPr lang="en-US" dirty="0" err="1"/>
              <a:t>tổng</a:t>
            </a:r>
            <a:r>
              <a:rPr lang="en-US" baseline="0" dirty="0"/>
              <a:t> </a:t>
            </a:r>
            <a:r>
              <a:rPr lang="en-US" baseline="0" dirty="0" err="1"/>
              <a:t>kết</a:t>
            </a:r>
            <a:r>
              <a:rPr lang="en-US" baseline="0" dirty="0"/>
              <a:t> </a:t>
            </a:r>
            <a:r>
              <a:rPr lang="en-US" baseline="0" dirty="0" err="1"/>
              <a:t>lại</a:t>
            </a:r>
            <a:r>
              <a:rPr lang="en-US" baseline="0" dirty="0"/>
              <a:t> </a:t>
            </a:r>
            <a:r>
              <a:rPr lang="en-US" baseline="0" dirty="0" err="1"/>
              <a:t>nội</a:t>
            </a:r>
            <a:r>
              <a:rPr lang="en-US" baseline="0" dirty="0"/>
              <a:t> dung </a:t>
            </a:r>
            <a:r>
              <a:rPr lang="en-US" baseline="0" dirty="0" err="1"/>
              <a:t>bài</a:t>
            </a:r>
            <a:r>
              <a:rPr lang="en-US" baseline="0" dirty="0"/>
              <a:t> </a:t>
            </a:r>
            <a:r>
              <a:rPr lang="en-US" baseline="0" dirty="0" err="1"/>
              <a:t>học</a:t>
            </a:r>
            <a:r>
              <a:rPr lang="en-US" baseline="0" dirty="0"/>
              <a:t> </a:t>
            </a:r>
            <a:r>
              <a:rPr lang="en-US" baseline="0" dirty="0" err="1"/>
              <a:t>hôm</a:t>
            </a:r>
            <a:r>
              <a:rPr lang="en-US" baseline="0" dirty="0"/>
              <a:t>  nay,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08B06C-FE5E-4C33-BFB0-30D4E7827C14}" type="slidenum">
              <a:rPr 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1. Dự án quản l</a:t>
            </a:r>
            <a:r>
              <a:rPr lang="en-US" altLang="en-US"/>
              <a:t>ý</a:t>
            </a:r>
            <a:r>
              <a:rPr lang="en-US" altLang="en-US"/>
              <a:t> và vận chuyển hàng từ thiện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Nhóm sinh viên lên kế hoạch thu gom </a:t>
            </a:r>
            <a:r>
              <a:rPr lang="en-US" altLang="en-US"/>
              <a:t>đ</a:t>
            </a:r>
            <a:r>
              <a:rPr lang="en-US" altLang="en-US"/>
              <a:t>ồ từ thiện, phân loại, </a:t>
            </a:r>
            <a:r>
              <a:rPr lang="en-US" altLang="en-US"/>
              <a:t>đ</a:t>
            </a:r>
            <a:r>
              <a:rPr lang="en-US" altLang="en-US"/>
              <a:t>óng gói, sắp xếp vận chuyển </a:t>
            </a:r>
            <a:r>
              <a:rPr lang="en-US" altLang="en-US"/>
              <a:t>đ</a:t>
            </a:r>
            <a:r>
              <a:rPr lang="en-US" altLang="en-US"/>
              <a:t>ến nơi cần.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Gồm các b</a:t>
            </a:r>
            <a:r>
              <a:rPr lang="en-US" altLang="en-US"/>
              <a:t>ư</a:t>
            </a:r>
            <a:r>
              <a:rPr lang="en-US" altLang="en-US"/>
              <a:t>ớc: lập kế hoạch thu gom – dự trù chi phí – phân công nhân sự – báo cáo kết quả.</a:t>
            </a:r>
            <a:endParaRPr lang="en-US" altLang="en-US"/>
          </a:p>
          <a:p>
            <a:r>
              <a:rPr lang="en-US" altLang="en-US"/>
              <a:t>2. Khảo sát logistics tại doanh nghiệp </a:t>
            </a:r>
            <a:r>
              <a:rPr lang="en-US" altLang="en-US"/>
              <a:t>đ</a:t>
            </a:r>
            <a:r>
              <a:rPr lang="en-US" altLang="en-US"/>
              <a:t>ịa ph</a:t>
            </a:r>
            <a:r>
              <a:rPr lang="en-US" altLang="en-US"/>
              <a:t>ư</a:t>
            </a:r>
            <a:r>
              <a:rPr lang="en-US" altLang="en-US"/>
              <a:t>ơng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Liên hệ với một công ty giao nhận, kho bãi hoặc siêu thị.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Thực hiện khảo sát quy trình logistics, phỏng vấn nhân viên.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Tổng hợp thành báo cáo phân tích thực trạng &amp; </a:t>
            </a:r>
            <a:r>
              <a:rPr lang="en-US" altLang="en-US"/>
              <a:t>đ</a:t>
            </a:r>
            <a:r>
              <a:rPr lang="en-US" altLang="en-US"/>
              <a:t>ề xuất cải tiến.</a:t>
            </a:r>
            <a:endParaRPr lang="en-US" altLang="en-US"/>
          </a:p>
          <a:p>
            <a:r>
              <a:rPr lang="en-US" altLang="en-US"/>
              <a:t>3. Tổ chức sự kiện trong tr</a:t>
            </a:r>
            <a:r>
              <a:rPr lang="en-US" altLang="en-US"/>
              <a:t>ư</a:t>
            </a:r>
            <a:r>
              <a:rPr lang="en-US" altLang="en-US"/>
              <a:t>ờng (logistics cho sự kiện)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Ví dụ: tổ chức hội thảo nghề nghiệp hoặc hội chợ việc làm.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Sinh viên sẽ chịu trách nhiệm lên kế hoạch, phân công nhóm phụ trách hậu cần (vận chuyển, sắp xếp thiết bị, </a:t>
            </a:r>
            <a:r>
              <a:rPr lang="en-US" altLang="en-US"/>
              <a:t>đ</a:t>
            </a:r>
            <a:r>
              <a:rPr lang="en-US" altLang="en-US"/>
              <a:t>iều phối nhân sự, tiếp </a:t>
            </a:r>
            <a:r>
              <a:rPr lang="en-US" altLang="en-US"/>
              <a:t>đ</a:t>
            </a:r>
            <a:r>
              <a:rPr lang="en-US" altLang="en-US"/>
              <a:t>ón khách).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Đ</a:t>
            </a:r>
            <a:r>
              <a:rPr lang="en-US" altLang="en-US"/>
              <a:t>ây c</a:t>
            </a:r>
            <a:r>
              <a:rPr lang="en-US" altLang="en-US"/>
              <a:t>ũ</a:t>
            </a:r>
            <a:r>
              <a:rPr lang="en-US" altLang="en-US"/>
              <a:t>ng là môi tr</a:t>
            </a:r>
            <a:r>
              <a:rPr lang="en-US" altLang="en-US"/>
              <a:t>ư</a:t>
            </a:r>
            <a:r>
              <a:rPr lang="en-US" altLang="en-US"/>
              <a:t>ờng logistics thực tế ở quy mô nhỏ.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1"/>
          <p:cNvSpPr>
            <a:spLocks noGrp="1"/>
          </p:cNvSpPr>
          <p:nvPr>
            <p:ph type="body" sz="quarter" idx="12"/>
          </p:nvPr>
        </p:nvSpPr>
        <p:spPr>
          <a:xfrm>
            <a:off x="1028700" y="5078187"/>
            <a:ext cx="3222058" cy="96462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Picture Placeholder 19"/>
          <p:cNvSpPr>
            <a:spLocks noGrp="1"/>
          </p:cNvSpPr>
          <p:nvPr>
            <p:ph type="pic" sz="quarter" idx="11"/>
          </p:nvPr>
        </p:nvSpPr>
        <p:spPr>
          <a:xfrm>
            <a:off x="6221413" y="0"/>
            <a:ext cx="4941887" cy="57261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noFill/>
          <a:ln w="15875" cap="flat" cmpd="sng" algn="ctr">
            <a:solidFill>
              <a:schemeClr val="accent2">
                <a:lumMod val="50000"/>
              </a:schemeClr>
            </a:solidFill>
            <a:prstDash val="solid"/>
            <a:miter lim="800000"/>
          </a:ln>
          <a:effec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7200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11"/>
          </p:nvPr>
        </p:nvSpPr>
        <p:spPr>
          <a:xfrm>
            <a:off x="7258050" y="2000250"/>
            <a:ext cx="4667250" cy="339883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5" name="Date Placeholder 3"/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D4DA8-2D4A-4F06-BECA-044AF4113FB4}" type="datetime1">
              <a:rPr lang="en-US" smtClean="0"/>
            </a:fld>
            <a:endParaRPr lang="en-US" dirty="0"/>
          </a:p>
        </p:txBody>
      </p:sp>
      <p:sp>
        <p:nvSpPr>
          <p:cNvPr id="3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513" y="876299"/>
            <a:ext cx="5181486" cy="224244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lnSpc>
                <a:spcPts val="65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5"/>
          <p:cNvSpPr>
            <a:spLocks noGrp="1"/>
          </p:cNvSpPr>
          <p:nvPr>
            <p:ph type="pic" sz="quarter" idx="12"/>
          </p:nvPr>
        </p:nvSpPr>
        <p:spPr>
          <a:xfrm>
            <a:off x="8847137" y="3862387"/>
            <a:ext cx="2316163" cy="25384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/>
          </p:nvPr>
        </p:nvSpPr>
        <p:spPr>
          <a:xfrm>
            <a:off x="6210300" y="3854450"/>
            <a:ext cx="2316163" cy="25384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30908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01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1040130" y="2009775"/>
            <a:ext cx="3924300" cy="439102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Date Placeholder 3"/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81873-7D47-483D-BCB4-50DD9806C720}" type="datetime1">
              <a:rPr lang="en-US" smtClean="0"/>
            </a:fld>
            <a:endParaRPr lang="en-US" dirty="0"/>
          </a:p>
        </p:txBody>
      </p:sp>
      <p:sp>
        <p:nvSpPr>
          <p:cNvPr id="3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28700" y="465137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2773045" y="2426610"/>
            <a:ext cx="2378075" cy="111125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02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155" y="2714986"/>
            <a:ext cx="6674802" cy="6553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A6C54-2562-43EA-9A1B-F808D04718E7}" type="datetime1">
              <a:rPr lang="en-US" smtClean="0"/>
            </a:fld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A6C54-2562-43EA-9A1B-F808D04718E7}" type="datetime1">
              <a:rPr lang="en-US" smtClean="0"/>
            </a:fld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022147" y="0"/>
            <a:ext cx="3938588" cy="64008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pic>
        <p:nvPicPr>
          <p:cNvPr id="4" name="Picture 3" hidden="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47967" y="2105933"/>
            <a:ext cx="5297883" cy="1024217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947966" y="2105933"/>
            <a:ext cx="5297883" cy="2237467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B74C9-B808-4394-A017-79C83B2524EF}" type="datetime1">
              <a:rPr lang="en-US" smtClean="0"/>
            </a:fld>
            <a:endParaRPr lang="en-US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854075" y="1625600"/>
            <a:ext cx="10499725" cy="4860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54074" y="122239"/>
            <a:ext cx="10499725" cy="1355724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2"/>
          <p:cNvSpPr>
            <a:spLocks noGrp="1"/>
          </p:cNvSpPr>
          <p:nvPr>
            <p:ph type="body" sz="quarter" idx="21" hasCustomPrompt="1"/>
          </p:nvPr>
        </p:nvSpPr>
        <p:spPr>
          <a:xfrm>
            <a:off x="761917" y="517972"/>
            <a:ext cx="31089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01</a:t>
            </a:r>
            <a:endParaRPr lang="en-US" dirty="0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1"/>
          </p:nvPr>
        </p:nvSpPr>
        <p:spPr>
          <a:xfrm>
            <a:off x="1036601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22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3101197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5166324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24" name="Picture Placeholder 20"/>
          <p:cNvSpPr>
            <a:spLocks noGrp="1"/>
          </p:cNvSpPr>
          <p:nvPr>
            <p:ph type="pic" sz="quarter" idx="14"/>
          </p:nvPr>
        </p:nvSpPr>
        <p:spPr>
          <a:xfrm>
            <a:off x="7239069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25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9296046" y="3552677"/>
            <a:ext cx="1874874" cy="28481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30" name="Date Placeholder 3"/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2DF6D-B715-4785-8DEA-9165C638CF44}" type="datetime1">
              <a:rPr lang="en-US" smtClean="0"/>
            </a:fld>
            <a:endParaRPr lang="en-US" dirty="0"/>
          </a:p>
        </p:txBody>
      </p:sp>
      <p:sp>
        <p:nvSpPr>
          <p:cNvPr id="3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560" y="651507"/>
            <a:ext cx="8991563" cy="1005839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defRPr lang="en-US">
                <a:solidFill>
                  <a:schemeClr val="accent2">
                    <a:lumMod val="50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1036638" y="2717800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  <a:endParaRPr lang="en-US" dirty="0"/>
          </a:p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308610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  <a:endParaRPr lang="en-US" dirty="0"/>
          </a:p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14350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  <a:endParaRPr lang="en-US" dirty="0"/>
          </a:p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723907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  <a:endParaRPr lang="en-US" dirty="0"/>
          </a:p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29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9304020" y="2718405"/>
            <a:ext cx="1866900" cy="711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Name</a:t>
            </a:r>
            <a:endParaRPr lang="en-US" dirty="0"/>
          </a:p>
          <a:p>
            <a:pPr lvl="0"/>
            <a:r>
              <a:rPr lang="en-US" dirty="0"/>
              <a:t>Title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1028700" y="3543300"/>
            <a:ext cx="3924300" cy="33147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4294967295"/>
          </p:nvPr>
        </p:nvSpPr>
        <p:spPr>
          <a:xfrm>
            <a:off x="6191250" y="1981200"/>
            <a:ext cx="4972050" cy="4473575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sz="1600">
                <a:solidFill>
                  <a:schemeClr val="tx2">
                    <a:lumMod val="50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Click to edit Master text styles</a:t>
            </a:r>
            <a:endParaRPr lang="en-US" sz="160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AE72A-09B6-4D56-855D-4360BD347914}" type="datetime1">
              <a:rPr lang="en-US" smtClean="0"/>
            </a:fld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95534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0"/>
          </p:nvPr>
        </p:nvSpPr>
        <p:spPr>
          <a:xfrm>
            <a:off x="6210300" y="0"/>
            <a:ext cx="4953000" cy="330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idx="4294967295" hasCustomPrompt="1"/>
          </p:nvPr>
        </p:nvSpPr>
        <p:spPr>
          <a:xfrm>
            <a:off x="1028700" y="3556002"/>
            <a:ext cx="3108960" cy="2286000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9" hasCustomPrompt="1"/>
          </p:nvPr>
        </p:nvSpPr>
        <p:spPr>
          <a:xfrm>
            <a:off x="4541520" y="3556001"/>
            <a:ext cx="3108960" cy="2285999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9" name="Content Placeholder 2"/>
          <p:cNvSpPr>
            <a:spLocks noGrp="1"/>
          </p:cNvSpPr>
          <p:nvPr>
            <p:ph idx="19" hasCustomPrompt="1"/>
          </p:nvPr>
        </p:nvSpPr>
        <p:spPr>
          <a:xfrm>
            <a:off x="8054340" y="3556001"/>
            <a:ext cx="3108960" cy="2285999"/>
          </a:xfrm>
        </p:spPr>
        <p:txBody>
          <a:bodyPr>
            <a:normAutofit/>
          </a:bodyPr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C9C2">
                    <a:lumMod val="50000"/>
                  </a:srgbClr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Insert text</a:t>
            </a:r>
            <a:endParaRPr lang="en-US" sz="1400" dirty="0">
              <a:solidFill>
                <a:srgbClr val="C0C9C2">
                  <a:lumMod val="50000"/>
                </a:srgb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C9C2">
                  <a:lumMod val="50000"/>
                </a:srgbClr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  <a:p>
            <a:endParaRPr lang="en-US" sz="1600" dirty="0">
              <a:solidFill>
                <a:schemeClr val="tx2">
                  <a:lumMod val="50000"/>
                </a:schemeClr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4" name="Date Placeholder 3"/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9D1A0-04AB-4DD4-B9DB-BDEC5E64C94C}" type="datetime1">
              <a:rPr lang="en-US" smtClean="0"/>
            </a:fld>
            <a:endParaRPr lang="en-US" dirty="0"/>
          </a:p>
        </p:txBody>
      </p:sp>
      <p:sp>
        <p:nvSpPr>
          <p:cNvPr id="2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895530" y="539225"/>
            <a:ext cx="3924300" cy="243438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7200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add title</a:t>
            </a:r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3EA80-260A-4EE9-83BB-E6DD04DEA906}" type="datetime1">
              <a:rPr lang="en-US" smtClean="0"/>
            </a:fld>
            <a:endParaRPr lang="en-US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96829" y="573503"/>
            <a:ext cx="10156826" cy="1369591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720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028700" y="457211"/>
            <a:ext cx="1142999" cy="0"/>
          </a:xfrm>
          <a:prstGeom prst="line">
            <a:avLst/>
          </a:prstGeom>
          <a:ln w="158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5"/>
          <p:cNvSpPr>
            <a:spLocks noGrp="1"/>
          </p:cNvSpPr>
          <p:nvPr>
            <p:ph type="pic" sz="quarter" idx="11"/>
          </p:nvPr>
        </p:nvSpPr>
        <p:spPr>
          <a:xfrm>
            <a:off x="6210300" y="3543302"/>
            <a:ext cx="4953000" cy="28495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6210300" y="465138"/>
            <a:ext cx="4953000" cy="28495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761917" y="517972"/>
            <a:ext cx="2956560" cy="13335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8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01</a:t>
            </a:r>
            <a:endParaRPr lang="en-US" dirty="0"/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1040130" y="2009776"/>
            <a:ext cx="3924300" cy="284956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039813" y="5067300"/>
            <a:ext cx="3913187" cy="1319213"/>
          </a:xfrm>
        </p:spPr>
        <p:txBody>
          <a:bodyPr>
            <a:normAutofit/>
          </a:bodyPr>
          <a:lstStyle>
            <a:lvl1pPr>
              <a:defRPr lang="en-US" sz="1600" kern="1200" dirty="0" smtClean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80274-DEF2-4F5D-8F74-69D0554CED55}" type="datetime1">
              <a:rPr lang="en-US" smtClean="0"/>
            </a:fld>
            <a:endParaRPr lang="en-US" dirty="0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</a:fld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1040130" y="465136"/>
            <a:ext cx="3935647" cy="1340615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9052935" y="2929930"/>
            <a:ext cx="2506635" cy="853771"/>
          </a:xfr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Quire Sans" panose="020B0502040400020003" pitchFamily="34" charset="0"/>
              </a:defRPr>
            </a:lvl1pPr>
            <a:lvl2pPr marL="45720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32" name="Straight Connector 31"/>
          <p:cNvCxnSpPr/>
          <p:nvPr userDrawn="1"/>
        </p:nvCxnSpPr>
        <p:spPr>
          <a:xfrm>
            <a:off x="6096000" y="1501378"/>
            <a:ext cx="0" cy="512244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40"/>
          <p:cNvSpPr>
            <a:spLocks noGrp="1"/>
          </p:cNvSpPr>
          <p:nvPr>
            <p:ph type="body" sz="quarter" idx="82" hasCustomPrompt="1"/>
          </p:nvPr>
        </p:nvSpPr>
        <p:spPr>
          <a:xfrm>
            <a:off x="9052905" y="2316769"/>
            <a:ext cx="2491396" cy="532359"/>
          </a:xfrm>
        </p:spPr>
        <p:txBody>
          <a:bodyPr lIns="0" r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3600" dirty="0">
                <a:latin typeface="+mj-lt"/>
              </a:defRPr>
            </a:lvl1pPr>
            <a:lvl2pPr marL="45720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ADD DAY</a:t>
            </a:r>
            <a:endParaRPr lang="en-US" dirty="0"/>
          </a:p>
        </p:txBody>
      </p:sp>
      <p:sp>
        <p:nvSpPr>
          <p:cNvPr id="34" name="Title 1"/>
          <p:cNvSpPr>
            <a:spLocks noGrp="1"/>
          </p:cNvSpPr>
          <p:nvPr>
            <p:ph type="title"/>
          </p:nvPr>
        </p:nvSpPr>
        <p:spPr>
          <a:xfrm>
            <a:off x="838200" y="238203"/>
            <a:ext cx="10515600" cy="1055661"/>
          </a:xfrm>
        </p:spPr>
        <p:txBody>
          <a:bodyPr>
            <a:normAutofit/>
          </a:bodyPr>
          <a:lstStyle>
            <a:lvl1pPr algn="ctr">
              <a:defRPr sz="4400" cap="all" spc="3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Quire Sans" panose="020B05020404000200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Picture Placeholder 12"/>
          <p:cNvSpPr>
            <a:spLocks noGrp="1"/>
          </p:cNvSpPr>
          <p:nvPr>
            <p:ph type="pic" sz="quarter" idx="83"/>
          </p:nvPr>
        </p:nvSpPr>
        <p:spPr>
          <a:xfrm>
            <a:off x="3375630" y="2080932"/>
            <a:ext cx="2506635" cy="1472630"/>
          </a:xfrm>
          <a:prstGeom prst="rect">
            <a:avLst/>
          </a:prstGeom>
          <a:solidFill>
            <a:schemeClr val="accent4"/>
          </a:solidFill>
        </p:spPr>
        <p:txBody>
          <a:bodyPr anchor="ctr">
            <a:normAutofit/>
          </a:bodyPr>
          <a:lstStyle>
            <a:lvl1pPr algn="ctr">
              <a:defRPr sz="1200">
                <a:latin typeface="+mn-lt"/>
                <a:cs typeface="Quire Sans" panose="020B0502040400020003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ID" dirty="0"/>
          </a:p>
        </p:txBody>
      </p:sp>
      <p:sp>
        <p:nvSpPr>
          <p:cNvPr id="38" name="Text Placeholder 40"/>
          <p:cNvSpPr>
            <a:spLocks noGrp="1"/>
          </p:cNvSpPr>
          <p:nvPr>
            <p:ph type="body" sz="quarter" idx="84"/>
          </p:nvPr>
        </p:nvSpPr>
        <p:spPr>
          <a:xfrm>
            <a:off x="611462" y="2707599"/>
            <a:ext cx="2506635" cy="853771"/>
          </a:xfr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Quire Sans" panose="020B0502040400020003" pitchFamily="34" charset="0"/>
              </a:defRPr>
            </a:lvl1pPr>
            <a:lvl2pPr marL="45720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9" name="Text Placeholder 40"/>
          <p:cNvSpPr>
            <a:spLocks noGrp="1"/>
          </p:cNvSpPr>
          <p:nvPr>
            <p:ph type="body" sz="quarter" idx="85" hasCustomPrompt="1"/>
          </p:nvPr>
        </p:nvSpPr>
        <p:spPr>
          <a:xfrm>
            <a:off x="611432" y="2105051"/>
            <a:ext cx="2491396" cy="532359"/>
          </a:xfrm>
        </p:spPr>
        <p:txBody>
          <a:bodyPr lIns="0" r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3600" dirty="0">
                <a:latin typeface="+mj-lt"/>
              </a:defRPr>
            </a:lvl1pPr>
            <a:lvl2pPr marL="45720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ADD DAY</a:t>
            </a:r>
            <a:endParaRPr lang="en-US" dirty="0"/>
          </a:p>
        </p:txBody>
      </p:sp>
      <p:cxnSp>
        <p:nvCxnSpPr>
          <p:cNvPr id="43" name="Straight Connector 42"/>
          <p:cNvCxnSpPr/>
          <p:nvPr userDrawn="1"/>
        </p:nvCxnSpPr>
        <p:spPr>
          <a:xfrm>
            <a:off x="6096000" y="2066846"/>
            <a:ext cx="2962464" cy="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ot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 userDrawn="1"/>
        </p:nvCxnSpPr>
        <p:spPr>
          <a:xfrm flipH="1">
            <a:off x="3125817" y="1835876"/>
            <a:ext cx="2970183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ot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icture Placeholder 12"/>
          <p:cNvSpPr>
            <a:spLocks noGrp="1"/>
          </p:cNvSpPr>
          <p:nvPr>
            <p:ph type="pic" sz="quarter" idx="86"/>
          </p:nvPr>
        </p:nvSpPr>
        <p:spPr>
          <a:xfrm>
            <a:off x="6332565" y="4970650"/>
            <a:ext cx="2506635" cy="1472630"/>
          </a:xfrm>
          <a:prstGeom prst="rect">
            <a:avLst/>
          </a:prstGeom>
          <a:solidFill>
            <a:schemeClr val="accent4"/>
          </a:solidFill>
        </p:spPr>
        <p:txBody>
          <a:bodyPr anchor="ctr">
            <a:normAutofit/>
          </a:bodyPr>
          <a:lstStyle>
            <a:lvl1pPr algn="ctr">
              <a:defRPr sz="1200">
                <a:latin typeface="+mn-lt"/>
                <a:cs typeface="Quire Sans" panose="020B0502040400020003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ID" dirty="0"/>
          </a:p>
        </p:txBody>
      </p:sp>
      <p:cxnSp>
        <p:nvCxnSpPr>
          <p:cNvPr id="46" name="Straight Connector 45"/>
          <p:cNvCxnSpPr/>
          <p:nvPr userDrawn="1"/>
        </p:nvCxnSpPr>
        <p:spPr>
          <a:xfrm>
            <a:off x="6096000" y="4736834"/>
            <a:ext cx="2962464" cy="1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ot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 Placeholder 40"/>
          <p:cNvSpPr>
            <a:spLocks noGrp="1"/>
          </p:cNvSpPr>
          <p:nvPr>
            <p:ph type="body" sz="quarter" idx="87"/>
          </p:nvPr>
        </p:nvSpPr>
        <p:spPr>
          <a:xfrm>
            <a:off x="9052935" y="5572659"/>
            <a:ext cx="2506635" cy="853771"/>
          </a:xfr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Quire Sans" panose="020B0502040400020003" pitchFamily="34" charset="0"/>
              </a:defRPr>
            </a:lvl1pPr>
            <a:lvl2pPr marL="45720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8" name="Text Placeholder 40"/>
          <p:cNvSpPr>
            <a:spLocks noGrp="1"/>
          </p:cNvSpPr>
          <p:nvPr>
            <p:ph type="body" sz="quarter" idx="88" hasCustomPrompt="1"/>
          </p:nvPr>
        </p:nvSpPr>
        <p:spPr>
          <a:xfrm>
            <a:off x="9052905" y="4959498"/>
            <a:ext cx="2491396" cy="532359"/>
          </a:xfrm>
        </p:spPr>
        <p:txBody>
          <a:bodyPr lIns="0" r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3600" dirty="0">
                <a:latin typeface="+mj-lt"/>
              </a:defRPr>
            </a:lvl1pPr>
            <a:lvl2pPr marL="45720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ADD DAY</a:t>
            </a:r>
            <a:endParaRPr lang="en-US" dirty="0"/>
          </a:p>
        </p:txBody>
      </p:sp>
      <p:sp>
        <p:nvSpPr>
          <p:cNvPr id="50" name="Text Placeholder 40"/>
          <p:cNvSpPr>
            <a:spLocks noGrp="1"/>
          </p:cNvSpPr>
          <p:nvPr>
            <p:ph type="body" sz="quarter" idx="90"/>
          </p:nvPr>
        </p:nvSpPr>
        <p:spPr>
          <a:xfrm>
            <a:off x="611462" y="4635134"/>
            <a:ext cx="2506635" cy="853771"/>
          </a:xfr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Quire Sans" panose="020B0502040400020003" pitchFamily="34" charset="0"/>
              </a:defRPr>
            </a:lvl1pPr>
            <a:lvl2pPr marL="45720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1" name="Text Placeholder 40"/>
          <p:cNvSpPr>
            <a:spLocks noGrp="1"/>
          </p:cNvSpPr>
          <p:nvPr>
            <p:ph type="body" sz="quarter" idx="91" hasCustomPrompt="1"/>
          </p:nvPr>
        </p:nvSpPr>
        <p:spPr>
          <a:xfrm>
            <a:off x="611432" y="4032586"/>
            <a:ext cx="2491396" cy="532359"/>
          </a:xfrm>
        </p:spPr>
        <p:txBody>
          <a:bodyPr lIns="0" r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3600" dirty="0">
                <a:latin typeface="+mj-lt"/>
              </a:defRPr>
            </a:lvl1pPr>
            <a:lvl2pPr marL="45720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ADD DAY</a:t>
            </a:r>
            <a:endParaRPr lang="en-US" dirty="0"/>
          </a:p>
        </p:txBody>
      </p:sp>
      <p:cxnSp>
        <p:nvCxnSpPr>
          <p:cNvPr id="52" name="Straight Connector 51"/>
          <p:cNvCxnSpPr/>
          <p:nvPr userDrawn="1"/>
        </p:nvCxnSpPr>
        <p:spPr>
          <a:xfrm flipH="1">
            <a:off x="3143856" y="3787378"/>
            <a:ext cx="2952144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ot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Picture Placeholder 12"/>
          <p:cNvSpPr>
            <a:spLocks noGrp="1"/>
          </p:cNvSpPr>
          <p:nvPr>
            <p:ph type="pic" sz="quarter" idx="92"/>
          </p:nvPr>
        </p:nvSpPr>
        <p:spPr>
          <a:xfrm>
            <a:off x="3355189" y="4021194"/>
            <a:ext cx="2506635" cy="2200551"/>
          </a:xfrm>
          <a:prstGeom prst="rect">
            <a:avLst/>
          </a:prstGeom>
          <a:solidFill>
            <a:schemeClr val="accent4"/>
          </a:solidFill>
        </p:spPr>
        <p:txBody>
          <a:bodyPr anchor="ctr">
            <a:normAutofit/>
          </a:bodyPr>
          <a:lstStyle>
            <a:lvl1pPr algn="ctr">
              <a:defRPr sz="1200">
                <a:latin typeface="+mn-lt"/>
                <a:cs typeface="Quire Sans" panose="020B0502040400020003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ID" dirty="0"/>
          </a:p>
        </p:txBody>
      </p:sp>
      <p:sp>
        <p:nvSpPr>
          <p:cNvPr id="54" name="Picture Placeholder 12"/>
          <p:cNvSpPr>
            <a:spLocks noGrp="1"/>
          </p:cNvSpPr>
          <p:nvPr>
            <p:ph type="pic" sz="quarter" idx="93"/>
          </p:nvPr>
        </p:nvSpPr>
        <p:spPr>
          <a:xfrm>
            <a:off x="6321414" y="2302467"/>
            <a:ext cx="2506635" cy="2200551"/>
          </a:xfrm>
          <a:prstGeom prst="rect">
            <a:avLst/>
          </a:prstGeom>
          <a:solidFill>
            <a:schemeClr val="accent4"/>
          </a:solidFill>
        </p:spPr>
        <p:txBody>
          <a:bodyPr anchor="ctr">
            <a:normAutofit/>
          </a:bodyPr>
          <a:lstStyle>
            <a:lvl1pPr algn="ctr">
              <a:defRPr sz="1200">
                <a:latin typeface="+mn-lt"/>
                <a:cs typeface="Quire Sans" panose="020B0502040400020003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ID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93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" name="Picture Placeholder 37"/>
          <p:cNvSpPr>
            <a:spLocks noGrp="1"/>
          </p:cNvSpPr>
          <p:nvPr>
            <p:ph type="pic" sz="quarter" idx="28"/>
          </p:nvPr>
        </p:nvSpPr>
        <p:spPr>
          <a:xfrm>
            <a:off x="0" y="0"/>
            <a:ext cx="2980944" cy="6858000"/>
          </a:xfrm>
          <a:custGeom>
            <a:avLst/>
            <a:gdLst>
              <a:gd name="connsiteX0" fmla="*/ 0 w 2743200"/>
              <a:gd name="connsiteY0" fmla="*/ 0 h 4309164"/>
              <a:gd name="connsiteX1" fmla="*/ 2743200 w 2743200"/>
              <a:gd name="connsiteY1" fmla="*/ 0 h 4309164"/>
              <a:gd name="connsiteX2" fmla="*/ 2743200 w 2743200"/>
              <a:gd name="connsiteY2" fmla="*/ 4309164 h 4309164"/>
              <a:gd name="connsiteX3" fmla="*/ 0 w 2743200"/>
              <a:gd name="connsiteY3" fmla="*/ 4309164 h 4309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4309164">
                <a:moveTo>
                  <a:pt x="0" y="0"/>
                </a:moveTo>
                <a:lnTo>
                  <a:pt x="2743200" y="0"/>
                </a:lnTo>
                <a:lnTo>
                  <a:pt x="2743200" y="4309164"/>
                </a:lnTo>
                <a:lnTo>
                  <a:pt x="0" y="4309164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37909" y="5347251"/>
            <a:ext cx="2905125" cy="1492250"/>
          </a:xfrm>
        </p:spPr>
        <p:txBody>
          <a:bodyPr lIns="0" r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Quire Sans" panose="020B0502040400020003" pitchFamily="34" charset="0"/>
              </a:defRPr>
            </a:lvl1pPr>
            <a:lvl2pPr marL="45720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6" name="Text Placeholder 35"/>
          <p:cNvSpPr>
            <a:spLocks noGrp="1"/>
          </p:cNvSpPr>
          <p:nvPr>
            <p:ph type="body" sz="quarter" idx="14" hasCustomPrompt="1"/>
          </p:nvPr>
        </p:nvSpPr>
        <p:spPr>
          <a:xfrm>
            <a:off x="3516255" y="4661297"/>
            <a:ext cx="2266950" cy="36845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Avenir Next LT Pro" panose="020B0504020202020204" pitchFamily="34" charset="0"/>
                <a:cs typeface="Quire Sans" panose="020B0502040400020003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  <a:endParaRPr lang="en-US" dirty="0"/>
          </a:p>
        </p:txBody>
      </p:sp>
      <p:sp>
        <p:nvSpPr>
          <p:cNvPr id="47" name="Text Placeholder 40"/>
          <p:cNvSpPr>
            <a:spLocks noGrp="1"/>
          </p:cNvSpPr>
          <p:nvPr>
            <p:ph type="body" sz="quarter" idx="15"/>
          </p:nvPr>
        </p:nvSpPr>
        <p:spPr>
          <a:xfrm>
            <a:off x="3516286" y="5029200"/>
            <a:ext cx="2266950" cy="1492250"/>
          </a:xfr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Avenir Next LT Pro" panose="020B0504020202020204" pitchFamily="34" charset="0"/>
                <a:cs typeface="Quire Sans" panose="020B0502040400020003" pitchFamily="34" charset="0"/>
              </a:defRPr>
            </a:lvl1pPr>
            <a:lvl2pPr marL="45720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9" name="Text Placeholder 35"/>
          <p:cNvSpPr>
            <a:spLocks noGrp="1"/>
          </p:cNvSpPr>
          <p:nvPr>
            <p:ph type="body" sz="quarter" idx="17" hasCustomPrompt="1"/>
          </p:nvPr>
        </p:nvSpPr>
        <p:spPr>
          <a:xfrm>
            <a:off x="6424347" y="4661297"/>
            <a:ext cx="2266950" cy="36845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Avenir Next LT Pro" panose="020B0504020202020204" pitchFamily="34" charset="0"/>
                <a:cs typeface="Quire Sans" panose="020B0502040400020003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  <a:endParaRPr lang="en-US" dirty="0"/>
          </a:p>
        </p:txBody>
      </p:sp>
      <p:sp>
        <p:nvSpPr>
          <p:cNvPr id="50" name="Text Placeholder 40"/>
          <p:cNvSpPr>
            <a:spLocks noGrp="1"/>
          </p:cNvSpPr>
          <p:nvPr>
            <p:ph type="body" sz="quarter" idx="18"/>
          </p:nvPr>
        </p:nvSpPr>
        <p:spPr>
          <a:xfrm>
            <a:off x="6424378" y="5029200"/>
            <a:ext cx="2266950" cy="1492250"/>
          </a:xfrm>
        </p:spPr>
        <p:txBody>
          <a:bodyPr lIns="0" r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Avenir Next LT Pro" panose="020B0504020202020204" pitchFamily="34" charset="0"/>
                <a:cs typeface="Quire Sans" panose="020B0502040400020003" pitchFamily="34" charset="0"/>
              </a:defRPr>
            </a:lvl1pPr>
            <a:lvl2pPr marL="45720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9" name="Picture Placeholder 38"/>
          <p:cNvSpPr>
            <a:spLocks noGrp="1"/>
          </p:cNvSpPr>
          <p:nvPr>
            <p:ph type="pic" sz="quarter" idx="29"/>
          </p:nvPr>
        </p:nvSpPr>
        <p:spPr>
          <a:xfrm>
            <a:off x="3066314" y="0"/>
            <a:ext cx="2980944" cy="6890301"/>
          </a:xfrm>
          <a:custGeom>
            <a:avLst/>
            <a:gdLst>
              <a:gd name="connsiteX0" fmla="*/ 0 w 2743200"/>
              <a:gd name="connsiteY0" fmla="*/ 0 h 4309164"/>
              <a:gd name="connsiteX1" fmla="*/ 2743200 w 2743200"/>
              <a:gd name="connsiteY1" fmla="*/ 0 h 4309164"/>
              <a:gd name="connsiteX2" fmla="*/ 2743200 w 2743200"/>
              <a:gd name="connsiteY2" fmla="*/ 4309164 h 4309164"/>
              <a:gd name="connsiteX3" fmla="*/ 0 w 2743200"/>
              <a:gd name="connsiteY3" fmla="*/ 4309164 h 4309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4309164">
                <a:moveTo>
                  <a:pt x="0" y="0"/>
                </a:moveTo>
                <a:lnTo>
                  <a:pt x="2743200" y="0"/>
                </a:lnTo>
                <a:lnTo>
                  <a:pt x="2743200" y="4309164"/>
                </a:lnTo>
                <a:lnTo>
                  <a:pt x="0" y="4309164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/>
          <p:cNvSpPr>
            <a:spLocks noGrp="1"/>
          </p:cNvSpPr>
          <p:nvPr>
            <p:ph type="pic" sz="quarter" idx="30"/>
          </p:nvPr>
        </p:nvSpPr>
        <p:spPr>
          <a:xfrm>
            <a:off x="9211056" y="-16151"/>
            <a:ext cx="2980944" cy="6906451"/>
          </a:xfrm>
          <a:custGeom>
            <a:avLst/>
            <a:gdLst>
              <a:gd name="connsiteX0" fmla="*/ 0 w 2743200"/>
              <a:gd name="connsiteY0" fmla="*/ 0 h 4309164"/>
              <a:gd name="connsiteX1" fmla="*/ 2743200 w 2743200"/>
              <a:gd name="connsiteY1" fmla="*/ 0 h 4309164"/>
              <a:gd name="connsiteX2" fmla="*/ 2743200 w 2743200"/>
              <a:gd name="connsiteY2" fmla="*/ 4309164 h 4309164"/>
              <a:gd name="connsiteX3" fmla="*/ 0 w 2743200"/>
              <a:gd name="connsiteY3" fmla="*/ 4309164 h 4309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4309164">
                <a:moveTo>
                  <a:pt x="0" y="0"/>
                </a:moveTo>
                <a:lnTo>
                  <a:pt x="2743200" y="0"/>
                </a:lnTo>
                <a:lnTo>
                  <a:pt x="2743200" y="4309164"/>
                </a:lnTo>
                <a:lnTo>
                  <a:pt x="0" y="4309164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/>
          <p:cNvSpPr>
            <a:spLocks noGrp="1"/>
          </p:cNvSpPr>
          <p:nvPr>
            <p:ph type="pic" sz="quarter" idx="31"/>
          </p:nvPr>
        </p:nvSpPr>
        <p:spPr>
          <a:xfrm>
            <a:off x="6139245" y="-1"/>
            <a:ext cx="2980944" cy="6890301"/>
          </a:xfrm>
          <a:custGeom>
            <a:avLst/>
            <a:gdLst>
              <a:gd name="connsiteX0" fmla="*/ 0 w 2743200"/>
              <a:gd name="connsiteY0" fmla="*/ 0 h 4309164"/>
              <a:gd name="connsiteX1" fmla="*/ 2743200 w 2743200"/>
              <a:gd name="connsiteY1" fmla="*/ 0 h 4309164"/>
              <a:gd name="connsiteX2" fmla="*/ 2743200 w 2743200"/>
              <a:gd name="connsiteY2" fmla="*/ 4309164 h 4309164"/>
              <a:gd name="connsiteX3" fmla="*/ 0 w 2743200"/>
              <a:gd name="connsiteY3" fmla="*/ 4309164 h 4309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4309164">
                <a:moveTo>
                  <a:pt x="0" y="0"/>
                </a:moveTo>
                <a:lnTo>
                  <a:pt x="2743200" y="0"/>
                </a:lnTo>
                <a:lnTo>
                  <a:pt x="2743200" y="4309164"/>
                </a:lnTo>
                <a:lnTo>
                  <a:pt x="0" y="4309164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Text Placeholder 40"/>
          <p:cNvSpPr>
            <a:spLocks noGrp="1"/>
          </p:cNvSpPr>
          <p:nvPr>
            <p:ph type="body" sz="quarter" idx="32"/>
          </p:nvPr>
        </p:nvSpPr>
        <p:spPr>
          <a:xfrm>
            <a:off x="3104741" y="5379001"/>
            <a:ext cx="2905125" cy="1492250"/>
          </a:xfrm>
        </p:spPr>
        <p:txBody>
          <a:bodyPr lIns="0" r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Quire Sans" panose="020B0502040400020003" pitchFamily="34" charset="0"/>
              </a:defRPr>
            </a:lvl1pPr>
            <a:lvl2pPr marL="45720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9" name="Text Placeholder 40"/>
          <p:cNvSpPr>
            <a:spLocks noGrp="1"/>
          </p:cNvSpPr>
          <p:nvPr>
            <p:ph type="body" sz="quarter" idx="33"/>
          </p:nvPr>
        </p:nvSpPr>
        <p:spPr>
          <a:xfrm>
            <a:off x="6152959" y="5366301"/>
            <a:ext cx="2905125" cy="1492250"/>
          </a:xfrm>
        </p:spPr>
        <p:txBody>
          <a:bodyPr lIns="0" r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Quire Sans" panose="020B0502040400020003" pitchFamily="34" charset="0"/>
              </a:defRPr>
            </a:lvl1pPr>
            <a:lvl2pPr marL="45720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0" name="Text Placeholder 40"/>
          <p:cNvSpPr>
            <a:spLocks noGrp="1"/>
          </p:cNvSpPr>
          <p:nvPr>
            <p:ph type="body" sz="quarter" idx="34"/>
          </p:nvPr>
        </p:nvSpPr>
        <p:spPr>
          <a:xfrm>
            <a:off x="9219791" y="5398051"/>
            <a:ext cx="2905125" cy="1492250"/>
          </a:xfrm>
        </p:spPr>
        <p:txBody>
          <a:bodyPr lIns="0" r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Quire Sans" panose="020B0502040400020003" pitchFamily="34" charset="0"/>
              </a:defRPr>
            </a:lvl1pPr>
            <a:lvl2pPr marL="457200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11472533" y="6120400"/>
            <a:ext cx="719600" cy="7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53" name="Google Shape;53;p11"/>
          <p:cNvSpPr/>
          <p:nvPr/>
        </p:nvSpPr>
        <p:spPr>
          <a:xfrm>
            <a:off x="520980" y="506503"/>
            <a:ext cx="11150039" cy="5844995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  <p:transition spd="slow"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379200" y="6356349"/>
            <a:ext cx="812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fld id="{4FBF7160-D20F-4920-8B4A-EB3E15149808}" type="slidenum">
              <a:rPr lang="en-US" smtClean="0"/>
            </a:fld>
            <a:endParaRPr lang="en-US" dirty="0"/>
          </a:p>
        </p:txBody>
      </p:sp>
      <p:sp>
        <p:nvSpPr>
          <p:cNvPr id="8" name="Right Arrow 7"/>
          <p:cNvSpPr/>
          <p:nvPr userDrawn="1"/>
        </p:nvSpPr>
        <p:spPr>
          <a:xfrm>
            <a:off x="2032000" y="0"/>
            <a:ext cx="10160000" cy="838200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8651" y="137319"/>
            <a:ext cx="10163349" cy="563562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6857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0" y="61880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E6A9B9B-D9CE-4E44-AAD1-B8EFE8F91FD2}" type="slidenum">
              <a:rPr lang="en-US" sz="1600" smtClean="0">
                <a:solidFill>
                  <a:prstClr val="white"/>
                </a:solidFill>
                <a:latin typeface="Segoe UI" panose="020B0502040204020203" pitchFamily="34" charset="0"/>
                <a:ea typeface="Roboto Lt" pitchFamily="2" charset="0"/>
                <a:cs typeface="Segoe UI" panose="020B0502040204020203" pitchFamily="34" charset="0"/>
              </a:rPr>
            </a:fld>
            <a:endParaRPr lang="en-US" sz="1600">
              <a:solidFill>
                <a:prstClr val="white"/>
              </a:solidFill>
              <a:latin typeface="Segoe UI" panose="020B0502040204020203" pitchFamily="34" charset="0"/>
              <a:ea typeface="Roboto Lt" pitchFamily="2" charset="0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2032000" cy="838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99" y="179607"/>
            <a:ext cx="1625601" cy="414141"/>
          </a:xfrm>
          <a:prstGeom prst="rect">
            <a:avLst/>
          </a:prstGeom>
        </p:spPr>
      </p:pic>
      <p:sp>
        <p:nvSpPr>
          <p:cNvPr id="11" name="Slide Number Placeholder 1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074400" y="6356349"/>
            <a:ext cx="1117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0E279FB-6DEB-4435-B76D-F38C362DCE52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074400" y="6356349"/>
            <a:ext cx="1117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fld id="{D0E279FB-6DEB-4435-B76D-F38C362DCE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D568-E205-4FFD-8B42-2C5E1CBA934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6B7EB-BE5F-4245-8FFB-EEB69095AF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33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577C8-AB8C-4B8A-A01F-113B16C4DCA3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15450" y="648698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Biome Light" panose="020B0303030204020804" pitchFamily="34" charset="0"/>
                <a:cs typeface="Biome Light" panose="020B0303030204020804" pitchFamily="34" charset="0"/>
              </a:defRPr>
            </a:lvl1pPr>
          </a:lstStyle>
          <a:p>
            <a:fld id="{294A09A9-5501-47C1-A89A-A340965A2BE2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4.png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4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17.jpe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27.jpeg"/><Relationship Id="rId4" Type="http://schemas.openxmlformats.org/officeDocument/2006/relationships/image" Target="../media/image26.jpeg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4.png"/><Relationship Id="rId2" Type="http://schemas.openxmlformats.org/officeDocument/2006/relationships/image" Target="../media/image29.png"/><Relationship Id="rId1" Type="http://schemas.openxmlformats.org/officeDocument/2006/relationships/image" Target="../media/image2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4400" y="2453640"/>
            <a:ext cx="5181600" cy="291528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MÔN HỌC PDP104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Kỹ năng làm việc nhóm hiệu quả - Bí quyết vàng dẫn lối thành cô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837610" y="719085"/>
            <a:ext cx="5752676" cy="4314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99"/>
          <p:cNvPicPr/>
          <p:nvPr/>
        </p:nvPicPr>
        <p:blipFill>
          <a:blip r:embed="rId2"/>
          <a:stretch>
            <a:fillRect/>
          </a:stretch>
        </p:blipFill>
        <p:spPr>
          <a:xfrm>
            <a:off x="1946910" y="286385"/>
            <a:ext cx="3005455" cy="12020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pink flower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1995" y="-31115"/>
            <a:ext cx="4239260" cy="6889115"/>
          </a:xfrm>
        </p:spPr>
      </p:pic>
      <p:sp>
        <p:nvSpPr>
          <p:cNvPr id="15" name="Date Placeholder 1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93BF043-A0E2-48C9-80FB-0A3EF98DDCEF}" type="datetime1">
              <a:rPr lang="en-US" smtClean="0"/>
            </a:fld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</a:fld>
            <a:endParaRPr lang="en-US" dirty="0"/>
          </a:p>
        </p:txBody>
      </p:sp>
      <p:sp>
        <p:nvSpPr>
          <p:cNvPr id="6" name="Text Placeholder 24"/>
          <p:cNvSpPr txBox="1"/>
          <p:nvPr/>
        </p:nvSpPr>
        <p:spPr>
          <a:xfrm>
            <a:off x="5120005" y="1214120"/>
            <a:ext cx="1951990" cy="1411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800" b="1">
                <a:solidFill>
                  <a:schemeClr val="bg1"/>
                </a:solidFill>
                <a:latin typeface="+mj-lt"/>
              </a:defRPr>
            </a:lvl1pPr>
            <a:lvl2pPr marL="685800" indent="-22860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1500" dirty="0"/>
              <a:t>01</a:t>
            </a:r>
            <a:endParaRPr lang="en-US" sz="11500" dirty="0"/>
          </a:p>
        </p:txBody>
      </p:sp>
      <p:sp>
        <p:nvSpPr>
          <p:cNvPr id="7" name="Title 17"/>
          <p:cNvSpPr>
            <a:spLocks noGrp="1"/>
          </p:cNvSpPr>
          <p:nvPr>
            <p:ph type="title"/>
          </p:nvPr>
        </p:nvSpPr>
        <p:spPr>
          <a:xfrm>
            <a:off x="6615430" y="934720"/>
            <a:ext cx="4581525" cy="217360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7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Giới thiệu làm quen</a:t>
            </a:r>
            <a:endParaRPr lang="en-US" sz="7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0" name="Picture 99"/>
          <p:cNvPicPr/>
          <p:nvPr/>
        </p:nvPicPr>
        <p:blipFill>
          <a:blip r:embed="rId2"/>
          <a:stretch>
            <a:fillRect/>
          </a:stretch>
        </p:blipFill>
        <p:spPr>
          <a:xfrm>
            <a:off x="5495290" y="3318510"/>
            <a:ext cx="6136640" cy="35394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10297795" y="212090"/>
            <a:ext cx="1760855" cy="606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146050" y="1633678"/>
            <a:ext cx="4730667" cy="3727946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 KHÁNH LY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LYNK18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P: 0908387543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M: Lynk18@fe.edu.vn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Date Placeholder 3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FEF76E7-2EBE-4103-B764-AD23619BE076}" type="datetime1">
              <a:rPr lang="en-US" smtClean="0"/>
            </a:fld>
            <a:endParaRPr lang="en-US" dirty="0"/>
          </a:p>
        </p:txBody>
      </p:sp>
      <p:sp>
        <p:nvSpPr>
          <p:cNvPr id="35" name="Slide Number Placeholder 3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</a:fld>
            <a:endParaRPr lang="en-US" dirty="0"/>
          </a:p>
        </p:txBody>
      </p:sp>
      <p:pic>
        <p:nvPicPr>
          <p:cNvPr id="4" name="Picture 3" descr="A person in a dress standing on stairs in front of a building&#10;&#10;Description automatically generated with low confidence"/>
          <p:cNvPicPr>
            <a:picLocks noChangeAspect="1"/>
          </p:cNvPicPr>
          <p:nvPr/>
        </p:nvPicPr>
        <p:blipFill rotWithShape="1">
          <a:blip r:embed="rId1"/>
          <a:srcRect t="13305" b="5090"/>
          <a:stretch>
            <a:fillRect/>
          </a:stretch>
        </p:blipFill>
        <p:spPr>
          <a:xfrm>
            <a:off x="9015665" y="3742772"/>
            <a:ext cx="2689860" cy="2926772"/>
          </a:xfrm>
          <a:prstGeom prst="rect">
            <a:avLst/>
          </a:prstGeom>
        </p:spPr>
      </p:pic>
      <p:pic>
        <p:nvPicPr>
          <p:cNvPr id="8" name="Picture 7" descr="A person sitting on a bench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563633"/>
            <a:ext cx="3792137" cy="568873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6155" y="256304"/>
            <a:ext cx="2468880" cy="3291840"/>
          </a:xfrm>
          <a:prstGeom prst="rect">
            <a:avLst/>
          </a:prstGeom>
        </p:spPr>
      </p:pic>
      <p:pic>
        <p:nvPicPr>
          <p:cNvPr id="100" name="Picture 99"/>
          <p:cNvPicPr/>
          <p:nvPr/>
        </p:nvPicPr>
        <p:blipFill>
          <a:blip r:embed="rId4"/>
          <a:stretch>
            <a:fillRect/>
          </a:stretch>
        </p:blipFill>
        <p:spPr>
          <a:xfrm>
            <a:off x="946785" y="393065"/>
            <a:ext cx="2687320" cy="10642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2580005" y="2523216"/>
            <a:ext cx="2378075" cy="1111250"/>
          </a:xfrm>
        </p:spPr>
        <p:txBody>
          <a:bodyPr/>
          <a:lstStyle/>
          <a:p>
            <a:r>
              <a:rPr lang="en-US" sz="11500" dirty="0"/>
              <a:t>02</a:t>
            </a:r>
            <a:endParaRPr lang="en-US" sz="115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75461" y="3261721"/>
            <a:ext cx="6674802" cy="655320"/>
          </a:xfrm>
        </p:spPr>
        <p:txBody>
          <a:bodyPr>
            <a:noAutofit/>
          </a:bodyPr>
          <a:lstStyle/>
          <a:p>
            <a:r>
              <a:rPr lang="en-US" sz="6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6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6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6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6600" dirty="0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Quy Định Trong Lớp Học Trực Tuyến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8" t="43704" r="54695" b="34014"/>
          <a:stretch>
            <a:fillRect/>
          </a:stretch>
        </p:blipFill>
        <p:spPr bwMode="auto">
          <a:xfrm>
            <a:off x="4594383" y="4377283"/>
            <a:ext cx="2649061" cy="2311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Quy Định Trong Lớp Học Trực Tuyến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5" t="14847" r="52496" b="61351"/>
          <a:stretch>
            <a:fillRect/>
          </a:stretch>
        </p:blipFill>
        <p:spPr bwMode="auto">
          <a:xfrm>
            <a:off x="850667" y="4527550"/>
            <a:ext cx="2339811" cy="2010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Quy Định Trong Lớp Học Trực Tuyến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02" t="67406" r="5853" b="7853"/>
          <a:stretch>
            <a:fillRect/>
          </a:stretch>
        </p:blipFill>
        <p:spPr bwMode="auto">
          <a:xfrm>
            <a:off x="8647252" y="4226788"/>
            <a:ext cx="2823229" cy="2311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338455" y="301308"/>
            <a:ext cx="1687195" cy="21545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Picture 101"/>
          <p:cNvPicPr/>
          <p:nvPr/>
        </p:nvPicPr>
        <p:blipFill>
          <a:blip r:embed="rId3"/>
          <a:srcRect l="29137" t="14035" r="29205" b="14059"/>
          <a:stretch>
            <a:fillRect/>
          </a:stretch>
        </p:blipFill>
        <p:spPr>
          <a:xfrm>
            <a:off x="6318250" y="332423"/>
            <a:ext cx="1443990" cy="2092325"/>
          </a:xfrm>
          <a:prstGeom prst="roundRect">
            <a:avLst/>
          </a:prstGeom>
          <a:noFill/>
          <a:ln w="9525">
            <a:noFill/>
          </a:ln>
        </p:spPr>
      </p:pic>
      <p:pic>
        <p:nvPicPr>
          <p:cNvPr id="103" name="Picture 102"/>
          <p:cNvPicPr/>
          <p:nvPr/>
        </p:nvPicPr>
        <p:blipFill>
          <a:blip r:embed="rId4"/>
          <a:stretch>
            <a:fillRect/>
          </a:stretch>
        </p:blipFill>
        <p:spPr>
          <a:xfrm>
            <a:off x="8901430" y="306388"/>
            <a:ext cx="2245995" cy="21443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Picture 3"/>
          <p:cNvPicPr/>
          <p:nvPr/>
        </p:nvPicPr>
        <p:blipFill>
          <a:blip r:embed="rId5"/>
          <a:srcRect l="36400"/>
          <a:stretch>
            <a:fillRect/>
          </a:stretch>
        </p:blipFill>
        <p:spPr>
          <a:xfrm>
            <a:off x="3164840" y="246698"/>
            <a:ext cx="2014220" cy="2263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0" name="Picture 99"/>
          <p:cNvPicPr/>
          <p:nvPr/>
        </p:nvPicPr>
        <p:blipFill>
          <a:blip r:embed="rId6"/>
          <a:stretch>
            <a:fillRect/>
          </a:stretch>
        </p:blipFill>
        <p:spPr>
          <a:xfrm>
            <a:off x="11157585" y="137160"/>
            <a:ext cx="994410" cy="3721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BD77F05-2BB1-48E0-9409-3486820D2350}" type="slidenum">
              <a:rPr lang="en-US" smtClean="0">
                <a:solidFill>
                  <a:schemeClr val="tx1">
                    <a:lumMod val="65000"/>
                    <a:lumOff val="35000"/>
                  </a:schemeClr>
                </a:solidFill>
              </a:rPr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nộp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email - Giao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endParaRPr lang="en-GB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10000" y="2362200"/>
            <a:ext cx="3352800" cy="381000"/>
          </a:xfrm>
          <a:prstGeom prst="rect">
            <a:avLst/>
          </a:prstGeom>
          <a:solidFill>
            <a:srgbClr val="FFFF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828800" y="1012914"/>
            <a:ext cx="8892540" cy="56159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nộp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CMS / Google Drive / group </a:t>
            </a:r>
            <a:r>
              <a:rPr lang="en-US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Zalo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email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lynk18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48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.edu.vn   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&lt;lynk18@</a:t>
            </a:r>
            <a:r>
              <a:rPr lang="en-US" sz="4000" strike="sngStrike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fpt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.edu.vn&gt;</a:t>
            </a:r>
            <a:b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619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Tựa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email: </a:t>
            </a:r>
            <a:r>
              <a:rPr lang="en-US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LỚP_Nhóm/Họ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SV_Chủ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nhỏ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sz="2000" strike="sngStrik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MSSV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US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619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chào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email</a:t>
            </a:r>
            <a:endParaRPr lang="en-US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619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endParaRPr lang="en-US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619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email</a:t>
            </a:r>
            <a:endParaRPr lang="en-US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619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GỬI FILE NÉN</a:t>
            </a:r>
            <a:b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  	</a:t>
            </a:r>
            <a:b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619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thắc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mắc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nghỉ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trễ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(xin trước khi giờ học bắt đầu)</a:t>
            </a:r>
            <a:endParaRPr 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619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nói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strike="sngStrik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 </a:t>
            </a:r>
            <a:r>
              <a:rPr lang="en-US" sz="2000" strike="sngStrike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ơi</a:t>
            </a:r>
            <a:r>
              <a:rPr lang="en-US" sz="2000" strike="sngStrik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!!!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619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 22h cô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endParaRPr 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9625" lvl="1" indent="-3619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trưởng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lẫn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endParaRPr 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4495800"/>
            <a:ext cx="540000" cy="540000"/>
          </a:xfrm>
          <a:prstGeom prst="rect">
            <a:avLst/>
          </a:prstGeom>
        </p:spPr>
      </p:pic>
      <p:pic>
        <p:nvPicPr>
          <p:cNvPr id="100" name="Picture 99"/>
          <p:cNvPicPr/>
          <p:nvPr/>
        </p:nvPicPr>
        <p:blipFill>
          <a:blip r:embed="rId2"/>
          <a:stretch>
            <a:fillRect/>
          </a:stretch>
        </p:blipFill>
        <p:spPr>
          <a:xfrm>
            <a:off x="190500" y="137160"/>
            <a:ext cx="1760855" cy="606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Terminator 7"/>
          <p:cNvSpPr/>
          <p:nvPr/>
        </p:nvSpPr>
        <p:spPr>
          <a:xfrm>
            <a:off x="2586990" y="63500"/>
            <a:ext cx="8231505" cy="1158875"/>
          </a:xfrm>
          <a:prstGeom prst="flowChartTermina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999" y="298929"/>
            <a:ext cx="7622059" cy="685799"/>
          </a:xfrm>
        </p:spPr>
        <p:txBody>
          <a:bodyPr>
            <a:noAutofit/>
          </a:bodyPr>
          <a:lstStyle/>
          <a:p>
            <a:pPr algn="ctr"/>
            <a:r>
              <a:rPr lang="en-US" sz="4800" b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ĐIỂM DANH</a:t>
            </a:r>
            <a:endParaRPr lang="en-US" sz="4800" b="1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4294967295"/>
          </p:nvPr>
        </p:nvSpPr>
        <p:spPr>
          <a:xfrm>
            <a:off x="1551940" y="1354455"/>
            <a:ext cx="8610600" cy="5387975"/>
          </a:xfrm>
        </p:spPr>
        <p:txBody>
          <a:bodyPr>
            <a:noAutofit/>
          </a:bodyPr>
          <a:lstStyle/>
          <a:p>
            <a:pPr>
              <a:spcBef>
                <a:spcPts val="2400"/>
              </a:spcBef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GV điểm danh vào</a:t>
            </a:r>
            <a:r>
              <a:rPr 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u="sng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 </a:t>
            </a:r>
            <a:r>
              <a:rPr lang="en-US" sz="2800" b="1" u="sng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phút đầu giờ</a:t>
            </a:r>
            <a:r>
              <a:rPr 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en-US" sz="28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</a:pPr>
            <a:r>
              <a:rPr lang="en-US" sz="2800" b="1" u="sng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Đi trễ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 b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nhắn tin xin cô + vào lớp chào cô + xưng tên + xin lỗi + xin điểm danh!!!</a:t>
            </a:r>
            <a:endParaRPr lang="en-US" sz="2800" b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spcBef>
                <a:spcPts val="2400"/>
              </a:spcBef>
            </a:pPr>
            <a:r>
              <a:rPr 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Vắng có lý do hợp lý + </a:t>
            </a:r>
            <a:r>
              <a:rPr lang="en-US" sz="2800" b="1" u="sng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nhắn tin xin phép</a:t>
            </a:r>
            <a:r>
              <a:rPr 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 trước khi buổi học diễn ra </a:t>
            </a:r>
            <a:r>
              <a:rPr lang="en-US" sz="2800" b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cô cho khôi phục điểm danh (1 lần/môn)</a:t>
            </a:r>
            <a:endParaRPr lang="en-US" sz="2800" b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spcBef>
                <a:spcPts val="2400"/>
              </a:spcBef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Vắng tối đa</a:t>
            </a:r>
            <a:r>
              <a:rPr lang="en-US" sz="2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2</a:t>
            </a:r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8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buổi</a:t>
            </a:r>
            <a:r>
              <a:rPr lang="en-US" sz="2800" b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 FAIL ĐIỂM DANH</a:t>
            </a:r>
            <a:r>
              <a:rPr lang="en-US" sz="2800" b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</a:t>
            </a:r>
            <a:endParaRPr lang="en-US" sz="28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356349"/>
            <a:ext cx="609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BD77F05-2BB1-48E0-9409-3486820D2350}" type="slidenum">
              <a:rPr lang="en-US" smtClean="0">
                <a:solidFill>
                  <a:schemeClr val="tx1">
                    <a:lumMod val="65000"/>
                    <a:lumOff val="35000"/>
                  </a:schemeClr>
                </a:solidFill>
              </a:rPr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Terminator 7"/>
          <p:cNvSpPr/>
          <p:nvPr/>
        </p:nvSpPr>
        <p:spPr>
          <a:xfrm>
            <a:off x="2586990" y="571500"/>
            <a:ext cx="8231505" cy="1158875"/>
          </a:xfrm>
          <a:prstGeom prst="flowChartTermina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999" y="806929"/>
            <a:ext cx="7622059" cy="685799"/>
          </a:xfrm>
        </p:spPr>
        <p:txBody>
          <a:bodyPr>
            <a:noAutofit/>
          </a:bodyPr>
          <a:lstStyle/>
          <a:p>
            <a:pPr algn="ctr"/>
            <a:r>
              <a:rPr lang="en-US" sz="4800" b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ĐIỂM CỘNG</a:t>
            </a:r>
            <a:endParaRPr lang="en-US" sz="4800" b="1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4294967295"/>
          </p:nvPr>
        </p:nvSpPr>
        <p:spPr>
          <a:xfrm>
            <a:off x="1551940" y="2187575"/>
            <a:ext cx="9697720" cy="3684905"/>
          </a:xfrm>
        </p:spPr>
        <p:txBody>
          <a:bodyPr>
            <a:noAutofit/>
          </a:bodyPr>
          <a:lstStyle/>
          <a:p>
            <a:pPr>
              <a:spcBef>
                <a:spcPts val="2400"/>
              </a:spcBef>
            </a:pPr>
            <a:r>
              <a:rPr lang="en-US" sz="28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lần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phát biểu khi được mời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được </a:t>
            </a:r>
            <a:r>
              <a:rPr lang="en-US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 +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spcBef>
                <a:spcPts val="2400"/>
              </a:spcBef>
            </a:pPr>
            <a:r>
              <a:rPr lang="en-US" sz="2800" b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 = 0.25 điểm</a:t>
            </a:r>
            <a:endParaRPr lang="en-US" sz="2800" b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</a:pPr>
            <a:r>
              <a:rPr 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Được phép </a:t>
            </a:r>
            <a:r>
              <a:rPr lang="en-US" sz="2800" b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cộng vào bất kì</a:t>
            </a:r>
            <a:r>
              <a:rPr 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 cột nào khi tổng kết.</a:t>
            </a:r>
            <a:endParaRPr lang="en-US" sz="2800" b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356349"/>
            <a:ext cx="609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BD77F05-2BB1-48E0-9409-3486820D2350}" type="slidenum">
              <a:rPr lang="en-US" smtClean="0">
                <a:solidFill>
                  <a:schemeClr val="tx1">
                    <a:lumMod val="65000"/>
                    <a:lumOff val="35000"/>
                  </a:schemeClr>
                </a:solidFill>
              </a:rPr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ChangeAspect="1"/>
          </p:cNvPicPr>
          <p:nvPr>
            <p:ph sz="quarter" idx="11"/>
          </p:nvPr>
        </p:nvPicPr>
        <p:blipFill>
          <a:blip r:embed="rId1"/>
          <a:stretch>
            <a:fillRect/>
          </a:stretch>
        </p:blipFill>
        <p:spPr>
          <a:xfrm>
            <a:off x="6460490" y="2559050"/>
            <a:ext cx="5731510" cy="4298950"/>
          </a:xfrm>
          <a:prstGeom prst="rect">
            <a:avLst/>
          </a:prstGeom>
        </p:spPr>
      </p:pic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1598929" y="122239"/>
            <a:ext cx="10499725" cy="135572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6000" b="1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Mục</a:t>
            </a:r>
            <a:r>
              <a:rPr lang="en-US" sz="6000" b="1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6000" b="1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tiêu</a:t>
            </a:r>
            <a:r>
              <a:rPr lang="en-US" sz="6000" b="1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6000" b="1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môn</a:t>
            </a:r>
            <a:r>
              <a:rPr lang="en-US" sz="6000" b="1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6000" b="1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học</a:t>
            </a:r>
            <a:endParaRPr lang="en-US" sz="6000" b="1" err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D0E279FB-6DEB-4435-B76D-F38C362DCE52}" type="slidenum">
              <a:rPr lang="en-US" smtClean="0">
                <a:solidFill>
                  <a:prstClr val="white"/>
                </a:solidFill>
              </a:rPr>
            </a:fld>
            <a:endParaRPr lang="en-US">
              <a:solidFill>
                <a:prstClr val="white"/>
              </a:solidFill>
            </a:endParaRPr>
          </a:p>
        </p:txBody>
      </p:sp>
      <p:pic>
        <p:nvPicPr>
          <p:cNvPr id="5" name="Picture 2" descr="http://freedesignfile.com/upload/2012/11/Red-Target-Aim-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191" y="103504"/>
            <a:ext cx="1219199" cy="1267967"/>
          </a:xfrm>
          <a:prstGeom prst="rect">
            <a:avLst/>
          </a:prstGeom>
          <a:noFill/>
        </p:spPr>
      </p:pic>
      <p:sp>
        <p:nvSpPr>
          <p:cNvPr id="7" name="Content Placeholder 2"/>
          <p:cNvSpPr txBox="1"/>
          <p:nvPr/>
        </p:nvSpPr>
        <p:spPr>
          <a:xfrm>
            <a:off x="788670" y="1371600"/>
            <a:ext cx="10836910" cy="2893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Sau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KNLV,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viên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b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vi-V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àm việc nhóm hiệu quả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 bị hồ sơ ứng tuyển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2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huẩn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sàng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phỏng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tuyển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sz="2400" b="1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5"/>
          <p:cNvSpPr txBox="1"/>
          <p:nvPr/>
        </p:nvSpPr>
        <p:spPr>
          <a:xfrm>
            <a:off x="9982200" y="6356349"/>
            <a:ext cx="685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0E279FB-6DEB-4435-B76D-F38C362DCE52}" type="slidenum">
              <a:rPr lang="en-US" smtClean="0">
                <a:solidFill>
                  <a:schemeClr val="tx1">
                    <a:lumMod val="65000"/>
                    <a:lumOff val="35000"/>
                  </a:schemeClr>
                </a:solidFill>
              </a:rPr>
            </a:fld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0" name="Picture 99"/>
          <p:cNvPicPr/>
          <p:nvPr/>
        </p:nvPicPr>
        <p:blipFill>
          <a:blip r:embed="rId3"/>
          <a:stretch>
            <a:fillRect/>
          </a:stretch>
        </p:blipFill>
        <p:spPr>
          <a:xfrm>
            <a:off x="10274935" y="243840"/>
            <a:ext cx="1760855" cy="606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506" name="Group 2"/>
          <p:cNvGrpSpPr/>
          <p:nvPr/>
        </p:nvGrpSpPr>
        <p:grpSpPr>
          <a:xfrm>
            <a:off x="9499600" y="85725"/>
            <a:ext cx="3855509" cy="6858000"/>
            <a:chOff x="0" y="0"/>
            <a:chExt cx="8422129" cy="13716000"/>
          </a:xfrm>
        </p:grpSpPr>
        <p:pic>
          <p:nvPicPr>
            <p:cNvPr id="21513" name="Picture 3"/>
            <p:cNvPicPr>
              <a:picLocks noChangeAspect="1"/>
            </p:cNvPicPr>
            <p:nvPr/>
          </p:nvPicPr>
          <p:blipFill>
            <a:blip r:embed="rId1"/>
            <a:srcRect l="32800" r="26192"/>
            <a:stretch>
              <a:fillRect/>
            </a:stretch>
          </p:blipFill>
          <p:spPr>
            <a:xfrm>
              <a:off x="0" y="0"/>
              <a:ext cx="8422129" cy="13716000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150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797629" flipH="1">
            <a:off x="10890250" y="-147108"/>
            <a:ext cx="1762125" cy="154410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8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35364" flipV="1">
            <a:off x="9683750" y="5254625"/>
            <a:ext cx="2807759" cy="2460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9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797629">
            <a:off x="11761259" y="855133"/>
            <a:ext cx="271991" cy="27093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10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52734">
            <a:off x="10866967" y="6217709"/>
            <a:ext cx="281517" cy="28151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11" name="TextBox 8"/>
          <p:cNvSpPr txBox="1"/>
          <p:nvPr/>
        </p:nvSpPr>
        <p:spPr>
          <a:xfrm>
            <a:off x="98425" y="1438910"/>
            <a:ext cx="9042400" cy="477901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792480" lvl="1" indent="-396875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à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 1: Giới thiệu môn học, kỹ năng thuyết trình dự án</a:t>
            </a:r>
            <a:endParaRPr lang="vi-VN" altLang="en-US" sz="2400" dirty="0">
              <a:solidFill>
                <a:srgbClr val="1B364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792480" lvl="1" indent="-396875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vi-VN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</a:t>
            </a:r>
            <a:r>
              <a:rPr lang="vi-VN" altLang="en-US" sz="2400" dirty="0">
                <a:solidFill>
                  <a:srgbClr val="1B364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à</a:t>
            </a:r>
            <a:r>
              <a:rPr lang="vi-VN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 2: 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Nhân đôi hiệu suất l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à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 việc</a:t>
            </a:r>
            <a:endParaRPr lang="en-US" altLang="en-US" sz="2400" dirty="0">
              <a:solidFill>
                <a:srgbClr val="1B364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792480" lvl="1" indent="-396875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à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 3: Thấu hiểu t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à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 chính cá nhân</a:t>
            </a:r>
            <a:endParaRPr lang="en-US" altLang="en-US" sz="2400" dirty="0">
              <a:solidFill>
                <a:srgbClr val="1B364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792480" lvl="1" indent="-396875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à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vi-VN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Chinh phục nh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à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tuyển dụng </a:t>
            </a:r>
            <a:r>
              <a:rPr lang="vi-VN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 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</a:t>
            </a:r>
            <a:r>
              <a:rPr lang="vi-VN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ấn tượng</a:t>
            </a:r>
            <a:endParaRPr lang="en-US" altLang="en-US" sz="2400" dirty="0">
              <a:solidFill>
                <a:srgbClr val="1B364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92480" lvl="1" indent="-396875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à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vi-VN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Tự tin p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hỏng vấn để có được công việc mong muốn</a:t>
            </a:r>
            <a:endParaRPr lang="vi-VN" altLang="en-US" sz="2400" dirty="0">
              <a:solidFill>
                <a:srgbClr val="1B364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92480" lvl="1" indent="-396875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vi-VN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vi-VN" altLang="en-US" sz="2400" dirty="0">
                <a:solidFill>
                  <a:srgbClr val="1B364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à</a:t>
            </a:r>
            <a:r>
              <a:rPr lang="vi-VN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6 : Giao tiếp nơi công sở</a:t>
            </a:r>
            <a:endParaRPr lang="en-US" altLang="en-US" sz="2400" dirty="0">
              <a:solidFill>
                <a:srgbClr val="1B364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92480" lvl="1" indent="-396875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à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7: Tình yêu v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à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hôn nhân </a:t>
            </a:r>
            <a:r>
              <a:rPr lang="vi-VN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à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 trang v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à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đời.</a:t>
            </a:r>
            <a:endParaRPr lang="en-US" altLang="en-US" sz="2400" dirty="0">
              <a:solidFill>
                <a:srgbClr val="1B364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92480" lvl="1" indent="-396875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à</a:t>
            </a:r>
            <a:r>
              <a:rPr lang="en-US" altLang="en-US" sz="2400" dirty="0">
                <a:solidFill>
                  <a:srgbClr val="1B36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8: Lãnh đạo nhóm hiệu quả</a:t>
            </a:r>
            <a:endParaRPr lang="en-US" altLang="en-US" sz="2400" dirty="0">
              <a:solidFill>
                <a:srgbClr val="1B364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1512" name="TextBox 9"/>
          <p:cNvSpPr txBox="1"/>
          <p:nvPr/>
        </p:nvSpPr>
        <p:spPr>
          <a:xfrm>
            <a:off x="758190" y="555837"/>
            <a:ext cx="8569325" cy="82042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6400"/>
              </a:lnSpc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FA96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 MÔN KỸ NĂNG LÀM VIỆC</a:t>
            </a:r>
            <a:endParaRPr lang="en-US" altLang="en-US" sz="3600" b="1" dirty="0">
              <a:solidFill>
                <a:srgbClr val="FA962E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867410" y="1486535"/>
            <a:ext cx="7358380" cy="564515"/>
          </a:xfrm>
          <a:prstGeom prst="roundRect">
            <a:avLst/>
          </a:prstGeom>
          <a:solidFill>
            <a:srgbClr val="C00000">
              <a:alpha val="21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867410" y="3072765"/>
            <a:ext cx="8028305" cy="1097280"/>
          </a:xfrm>
          <a:prstGeom prst="roundRect">
            <a:avLst/>
          </a:prstGeom>
          <a:solidFill>
            <a:srgbClr val="C00000">
              <a:alpha val="21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bldLvl="0" animBg="1"/>
      <p:bldP spid="3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57"/>
          <p:cNvSpPr>
            <a:spLocks noGrp="1"/>
          </p:cNvSpPr>
          <p:nvPr>
            <p:ph type="body" sz="quarter" idx="21"/>
          </p:nvPr>
        </p:nvSpPr>
        <p:spPr>
          <a:xfrm>
            <a:off x="762000" y="323850"/>
            <a:ext cx="1638935" cy="1333500"/>
          </a:xfrm>
        </p:spPr>
        <p:txBody>
          <a:bodyPr/>
          <a:lstStyle/>
          <a:p>
            <a:r>
              <a:rPr lang="en-US" sz="9600" dirty="0"/>
              <a:t>03</a:t>
            </a:r>
            <a:endParaRPr lang="en-US" sz="9600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114550" y="651510"/>
            <a:ext cx="3241675" cy="1005840"/>
          </a:xfrm>
        </p:spPr>
        <p:txBody>
          <a:bodyPr/>
          <a:lstStyle/>
          <a:p>
            <a:r>
              <a:rPr lang="en-US" sz="9600" dirty="0"/>
              <a:t>Team</a:t>
            </a:r>
            <a:endParaRPr lang="en-US" sz="9600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1097280" y="2675890"/>
            <a:ext cx="2248535" cy="711200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trưởng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7"/>
          </p:nvPr>
        </p:nvSpPr>
        <p:spPr>
          <a:xfrm>
            <a:off x="3211830" y="2722850"/>
            <a:ext cx="1866900" cy="711200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Larissa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8"/>
          </p:nvPr>
        </p:nvSpPr>
        <p:spPr>
          <a:xfrm>
            <a:off x="5153025" y="2722850"/>
            <a:ext cx="1866900" cy="711200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Roman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9"/>
          </p:nvPr>
        </p:nvSpPr>
        <p:spPr>
          <a:xfrm>
            <a:off x="7184460" y="2718405"/>
            <a:ext cx="1866900" cy="711200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Federico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9150350" y="2722850"/>
            <a:ext cx="1866900" cy="711200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Alejandra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Placeholder 18" descr="portait"/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27375" y="3647123"/>
            <a:ext cx="1873250" cy="2846705"/>
          </a:xfrm>
        </p:spPr>
      </p:pic>
      <p:pic>
        <p:nvPicPr>
          <p:cNvPr id="22" name="Picture Placeholder 21" descr="portait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53025" y="3646488"/>
            <a:ext cx="1871980" cy="2847975"/>
          </a:xfrm>
        </p:spPr>
      </p:pic>
      <p:pic>
        <p:nvPicPr>
          <p:cNvPr id="25" name="Picture Placeholder 24" descr="portait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7405" y="3646488"/>
            <a:ext cx="1873885" cy="2847975"/>
          </a:xfrm>
        </p:spPr>
      </p:pic>
      <p:pic>
        <p:nvPicPr>
          <p:cNvPr id="29" name="Picture Placeholder 28" descr="portait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51290" y="3648710"/>
            <a:ext cx="1875155" cy="2843530"/>
          </a:xfrm>
        </p:spPr>
      </p:pic>
      <p:sp>
        <p:nvSpPr>
          <p:cNvPr id="36" name="Date Placeholder 3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65208FE-0220-403B-8209-06D9990EA4C9}" type="datetime1">
              <a:rPr lang="en-US" smtClean="0"/>
            </a:fld>
            <a:endParaRPr lang="en-US" dirty="0"/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</a:fld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836485" y="1651829"/>
            <a:ext cx="89725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Hãy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0" name="Picture 99"/>
          <p:cNvPicPr/>
          <p:nvPr/>
        </p:nvPicPr>
        <p:blipFill>
          <a:blip r:embed="rId5"/>
          <a:srcRect l="62292" t="2286" r="7802"/>
          <a:stretch>
            <a:fillRect/>
          </a:stretch>
        </p:blipFill>
        <p:spPr>
          <a:xfrm>
            <a:off x="1159510" y="3662045"/>
            <a:ext cx="1831340" cy="28168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Picture 2"/>
          <p:cNvPicPr/>
          <p:nvPr/>
        </p:nvPicPr>
        <p:blipFill>
          <a:blip r:embed="rId6"/>
          <a:stretch>
            <a:fillRect/>
          </a:stretch>
        </p:blipFill>
        <p:spPr>
          <a:xfrm>
            <a:off x="10165715" y="212090"/>
            <a:ext cx="1760855" cy="606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ttp://www.saintstephenstl.org/wp-content/uploads/2011/05/education_board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309" y="948561"/>
            <a:ext cx="6769691" cy="3723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D0E279FB-6DEB-4435-B76D-F38C362DCE52}" type="slidenum">
              <a:rPr lang="en-US" smtClean="0">
                <a:solidFill>
                  <a:prstClr val="white"/>
                </a:solidFill>
              </a:rPr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0379" y="1465533"/>
            <a:ext cx="4512821" cy="2564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vi-VN" sz="240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Điểm </a:t>
            </a:r>
            <a:r>
              <a:rPr lang="vi-VN" sz="2400" b="1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bảo vệ </a:t>
            </a:r>
            <a:r>
              <a:rPr lang="vi-VN" sz="240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Assignment </a:t>
            </a:r>
            <a:r>
              <a:rPr lang="vi-VN" sz="2400" b="1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≥ 5 </a:t>
            </a:r>
            <a:endParaRPr lang="vi-VN" sz="240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20000"/>
              </a:spcBef>
              <a:defRPr/>
            </a:pPr>
            <a:r>
              <a:rPr lang="vi-VN" sz="240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Điểm </a:t>
            </a:r>
            <a:r>
              <a:rPr lang="vi-VN" sz="2400" b="1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tổng kết môn ≥ 5 </a:t>
            </a:r>
            <a:endParaRPr lang="vi-VN" sz="2400" b="1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20000"/>
              </a:spcBef>
              <a:defRPr/>
            </a:pPr>
            <a:endParaRPr lang="vi-VN" b="1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20000"/>
              </a:spcBef>
              <a:defRPr/>
            </a:pPr>
            <a:endParaRPr lang="vi-VN" b="1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spcBef>
                <a:spcPct val="20000"/>
              </a:spcBef>
              <a:defRPr/>
            </a:pPr>
            <a:r>
              <a:rPr lang="vi-VN">
                <a:solidFill>
                  <a:srgbClr val="FFFC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Đủ điều kiện thi final:</a:t>
            </a:r>
            <a:endParaRPr lang="vi-VN">
              <a:solidFill>
                <a:srgbClr val="FFFC00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lvl="2">
              <a:spcBef>
                <a:spcPct val="20000"/>
              </a:spcBef>
              <a:defRPr/>
            </a:pPr>
            <a:r>
              <a:rPr lang="vi-VN">
                <a:solidFill>
                  <a:srgbClr val="FFFC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- Học CMS 100%</a:t>
            </a:r>
            <a:endParaRPr lang="vi-VN">
              <a:solidFill>
                <a:srgbClr val="FFFC00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lvl="2">
              <a:spcBef>
                <a:spcPct val="20000"/>
              </a:spcBef>
              <a:defRPr/>
            </a:pPr>
            <a:r>
              <a:rPr lang="vi-VN">
                <a:solidFill>
                  <a:srgbClr val="FFFC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- Điểm quá trình ≥5/10 (~3/6)</a:t>
            </a:r>
            <a:endParaRPr lang="vi-VN">
              <a:solidFill>
                <a:srgbClr val="FFFC00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133600"/>
            <a:ext cx="4997154" cy="4858467"/>
          </a:xfrm>
          <a:prstGeom prst="rect">
            <a:avLst/>
          </a:prstGeom>
        </p:spPr>
      </p:pic>
      <p:sp>
        <p:nvSpPr>
          <p:cNvPr id="11" name="Title 1"/>
          <p:cNvSpPr txBox="1"/>
          <p:nvPr/>
        </p:nvSpPr>
        <p:spPr>
          <a:xfrm>
            <a:off x="2451735" y="122555"/>
            <a:ext cx="8463915" cy="5632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1" kern="1200">
                <a:solidFill>
                  <a:schemeClr val="bg1"/>
                </a:solidFill>
                <a:latin typeface="+mj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vi-VN" sz="4000"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Đánh cuối học phần - thi final 40%</a:t>
            </a:r>
            <a:endParaRPr lang="vi-VN" sz="4000"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/>
          <p:cNvPicPr/>
          <p:nvPr/>
        </p:nvPicPr>
        <p:blipFill>
          <a:blip r:embed="rId3"/>
          <a:stretch>
            <a:fillRect/>
          </a:stretch>
        </p:blipFill>
        <p:spPr>
          <a:xfrm>
            <a:off x="222885" y="122555"/>
            <a:ext cx="1606550" cy="6515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685800" y="638175"/>
            <a:ext cx="10819765" cy="549529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073150" y="2643505"/>
            <a:ext cx="4897755" cy="249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1. Chuyên ngành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2. Truyền thông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3. Workshop/sự kiện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036570" y="140970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40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GỢI Ý CÁC LOẠI DỰ ÁN</a:t>
            </a:r>
            <a:endParaRPr lang="en-US" sz="4000" b="1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8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363075" y="729615"/>
            <a:ext cx="2026073" cy="88646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6977380" y="2428240"/>
            <a:ext cx="410146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Môi trường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5. Thiện nguyện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6. Bán hàng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214620" y="5027295"/>
            <a:ext cx="216662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7. Phim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p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787400"/>
            <a:ext cx="11294957" cy="6318250"/>
          </a:xfrm>
          <a:prstGeom prst="rect">
            <a:avLst/>
          </a:prstGeom>
        </p:spPr>
      </p:pic>
      <p:sp>
        <p:nvSpPr>
          <p:cNvPr id="4" name="TextBox 9"/>
          <p:cNvSpPr txBox="1"/>
          <p:nvPr/>
        </p:nvSpPr>
        <p:spPr>
          <a:xfrm>
            <a:off x="695113" y="-60537"/>
            <a:ext cx="10701020" cy="768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altLang="vi-VN" sz="3335" b="1" dirty="0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ĐỀ XUẤT CHO 2026 TH</a:t>
            </a:r>
            <a:r>
              <a:rPr lang="vi-VN" altLang="en-US" sz="3335" b="1" dirty="0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Ầ</a:t>
            </a:r>
            <a:r>
              <a:rPr lang="en-US" altLang="vi-VN" sz="3335" b="1" dirty="0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Y TRÒ FPOLY CHUNG TAY</a:t>
            </a:r>
            <a:r>
              <a:rPr lang="vi-VN" sz="3335" b="1" dirty="0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 </a:t>
            </a:r>
            <a:endParaRPr lang="en-US" sz="3335" b="1" dirty="0">
              <a:solidFill>
                <a:srgbClr val="DD620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15703" y="5867400"/>
            <a:ext cx="1739619" cy="173961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DD620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000930" y="-1145065"/>
            <a:ext cx="2490354" cy="249035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DD620A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8" name="Freeform 8"/>
          <p:cNvSpPr/>
          <p:nvPr/>
        </p:nvSpPr>
        <p:spPr>
          <a:xfrm>
            <a:off x="242691" y="293547"/>
            <a:ext cx="1743463" cy="592224"/>
          </a:xfrm>
          <a:custGeom>
            <a:avLst/>
            <a:gdLst/>
            <a:ahLst/>
            <a:cxnLst/>
            <a:rect l="l" t="t" r="r" b="b"/>
            <a:pathLst>
              <a:path w="2615194" h="888336">
                <a:moveTo>
                  <a:pt x="0" y="0"/>
                </a:moveTo>
                <a:lnTo>
                  <a:pt x="2615193" y="0"/>
                </a:lnTo>
                <a:lnTo>
                  <a:pt x="2615193" y="888336"/>
                </a:lnTo>
                <a:lnTo>
                  <a:pt x="0" y="8883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26849" y="498502"/>
            <a:ext cx="9907543" cy="153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333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QUỸ CÔNG KHAI MINH BẠCH ĐƯỢC NHÀ NƯỚC CHO PHÉP HOẠT ĐỘNG VÀ KIỂM SOÁT</a:t>
            </a:r>
            <a:endParaRPr lang="en-US" sz="3335" b="1">
              <a:solidFill>
                <a:srgbClr val="DD620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02920" y="1885950"/>
            <a:ext cx="11517630" cy="43599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60" lvl="1" indent="-367030" algn="l">
              <a:lnSpc>
                <a:spcPts val="6800"/>
              </a:lnSpc>
              <a:buFont typeface="Arial" panose="020B0604020202020204"/>
              <a:buChar char="•"/>
            </a:pPr>
            <a:r>
              <a:rPr lang="en-US" sz="226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QUỸ HY VỌNG (HOPE)</a:t>
            </a:r>
            <a:endParaRPr lang="en-US" sz="2265" b="1">
              <a:solidFill>
                <a:srgbClr val="DD620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734060" lvl="1" indent="-367030" algn="l">
              <a:lnSpc>
                <a:spcPts val="6800"/>
              </a:lnSpc>
              <a:buFont typeface="Arial" panose="020B0604020202020204"/>
              <a:buChar char="•"/>
            </a:pPr>
            <a:r>
              <a:rPr lang="en-US" sz="2265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STK: </a:t>
            </a:r>
            <a:r>
              <a:rPr lang="en-US" sz="226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73007300602.</a:t>
            </a:r>
            <a:endParaRPr lang="en-US" sz="2265" b="1">
              <a:solidFill>
                <a:srgbClr val="DD620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734060" lvl="1" indent="-367030" algn="l">
              <a:lnSpc>
                <a:spcPts val="6800"/>
              </a:lnSpc>
              <a:buFont typeface="Arial" panose="020B0604020202020204"/>
              <a:buChar char="•"/>
            </a:pPr>
            <a:r>
              <a:rPr lang="en-US" sz="2265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Ngân hàng TPB - CN Hoàn Kiếm.</a:t>
            </a:r>
            <a:endParaRPr lang="en-US" sz="22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34060" lvl="1" indent="-367030" algn="l">
              <a:lnSpc>
                <a:spcPts val="6800"/>
              </a:lnSpc>
              <a:buFont typeface="Arial" panose="020B0604020202020204"/>
              <a:buChar char="•"/>
            </a:pPr>
            <a:r>
              <a:rPr lang="en-US" sz="2265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Cú pháp: </a:t>
            </a:r>
            <a:r>
              <a:rPr lang="en-US" sz="226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Mã nhóm _ CB FPL HCM for love</a:t>
            </a:r>
            <a:endParaRPr lang="en-US" sz="2265" b="1">
              <a:solidFill>
                <a:srgbClr val="DD620A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marL="734060" lvl="1" indent="-367030" algn="l">
              <a:lnSpc>
                <a:spcPts val="6800"/>
              </a:lnSpc>
              <a:buFont typeface="Arial" panose="020B0604020202020204"/>
              <a:buChar char="•"/>
            </a:pPr>
            <a:r>
              <a:rPr lang="en-US" sz="2265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Thời gian </a:t>
            </a:r>
            <a:r>
              <a:rPr lang="en-US" sz="226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Hope sao kê</a:t>
            </a:r>
            <a:r>
              <a:rPr lang="en-US" sz="2265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vào ngày cuối cùng của tháng, </a:t>
            </a:r>
            <a:r>
              <a:rPr lang="en-US" sz="2265" b="1">
                <a:solidFill>
                  <a:srgbClr val="DD620A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mỗi tháng 1 lần</a:t>
            </a:r>
            <a:r>
              <a:rPr lang="en-US" sz="2265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cho Fpoly.</a:t>
            </a:r>
            <a:endParaRPr lang="en-US" sz="22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794333" y="6108717"/>
            <a:ext cx="6781133" cy="69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1600" b="1" i="1">
                <a:solidFill>
                  <a:srgbClr val="000000"/>
                </a:solidFill>
                <a:latin typeface="Arial Bold Italics" panose="020B0802020202090204"/>
                <a:ea typeface="Arial Bold Italics" panose="020B0802020202090204"/>
                <a:cs typeface="Arial Bold Italics" panose="020B0802020202090204"/>
                <a:sym typeface="Arial Bold Italics" panose="020B0802020202090204"/>
              </a:rPr>
              <a:t>Gieo trồng điều tử tế - cho đi là còn mãi</a:t>
            </a:r>
            <a:endParaRPr lang="en-US" sz="1600" b="1" i="1">
              <a:solidFill>
                <a:srgbClr val="000000"/>
              </a:solidFill>
              <a:latin typeface="Arial Bold Italics" panose="020B0802020202090204"/>
              <a:ea typeface="Arial Bold Italics" panose="020B0802020202090204"/>
              <a:cs typeface="Arial Bold Italics" panose="020B0802020202090204"/>
              <a:sym typeface="Arial Bold Italics" panose="020B0802020202090204"/>
            </a:endParaRPr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Content Placeholder 26"/>
          <p:cNvPicPr>
            <a:picLocks noChangeAspect="1"/>
          </p:cNvPicPr>
          <p:nvPr>
            <p:ph sz="quarter" idx="11"/>
          </p:nvPr>
        </p:nvPicPr>
        <p:blipFill>
          <a:blip r:embed="rId1"/>
          <a:stretch>
            <a:fillRect/>
          </a:stretch>
        </p:blipFill>
        <p:spPr>
          <a:xfrm>
            <a:off x="308610" y="2324100"/>
            <a:ext cx="11275695" cy="2355850"/>
          </a:xfrm>
          <a:prstGeom prst="rect">
            <a:avLst/>
          </a:prstGeom>
        </p:spPr>
      </p:pic>
      <p:sp>
        <p:nvSpPr>
          <p:cNvPr id="141" name="Date Placeholder 140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871AD0A-72DC-49A1-AA89-5509B2193035}" type="datetime1">
              <a:rPr lang="en-US" smtClean="0"/>
            </a:fld>
            <a:endParaRPr lang="en-US" dirty="0"/>
          </a:p>
        </p:txBody>
      </p:sp>
      <p:sp>
        <p:nvSpPr>
          <p:cNvPr id="142" name="Slide Number Placeholder 14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</a:fld>
            <a:endParaRPr lang="en-US" dirty="0"/>
          </a:p>
        </p:txBody>
      </p:sp>
      <p:sp>
        <p:nvSpPr>
          <p:cNvPr id="5" name="Text Placeholder 5"/>
          <p:cNvSpPr txBox="1"/>
          <p:nvPr/>
        </p:nvSpPr>
        <p:spPr>
          <a:xfrm>
            <a:off x="658054" y="140546"/>
            <a:ext cx="3111306" cy="12973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800">
                <a:solidFill>
                  <a:schemeClr val="bg1"/>
                </a:solidFill>
              </a:defRPr>
            </a:lvl1pPr>
            <a:lvl2pPr marL="685800" indent="-22860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8800" b="1" dirty="0">
                <a:solidFill>
                  <a:srgbClr val="FFC000"/>
                </a:solidFill>
              </a:rPr>
              <a:t>04</a:t>
            </a:r>
            <a:endParaRPr lang="en-US" sz="8800" b="1" dirty="0">
              <a:solidFill>
                <a:srgbClr val="FFC000"/>
              </a:solidFill>
            </a:endParaRP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1880234" y="122239"/>
            <a:ext cx="10499725" cy="135572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US" sz="60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6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6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6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6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6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6000" b="1" dirty="0" err="1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367665" y="3743325"/>
            <a:ext cx="1223010" cy="2252980"/>
            <a:chOff x="3031" y="5784"/>
            <a:chExt cx="1926" cy="3548"/>
          </a:xfrm>
        </p:grpSpPr>
        <p:sp>
          <p:nvSpPr>
            <p:cNvPr id="15" name="Down Arrow 14"/>
            <p:cNvSpPr/>
            <p:nvPr/>
          </p:nvSpPr>
          <p:spPr>
            <a:xfrm>
              <a:off x="3782" y="7220"/>
              <a:ext cx="486" cy="1006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7" name="Rectangles 16"/>
            <p:cNvSpPr/>
            <p:nvPr/>
          </p:nvSpPr>
          <p:spPr>
            <a:xfrm>
              <a:off x="3379" y="5784"/>
              <a:ext cx="1258" cy="1257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" name="Text Box 17"/>
            <p:cNvSpPr txBox="1"/>
            <p:nvPr/>
          </p:nvSpPr>
          <p:spPr>
            <a:xfrm>
              <a:off x="3031" y="8316"/>
              <a:ext cx="192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36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CMS</a:t>
              </a:r>
              <a:endParaRPr lang="en-US" sz="36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1" name="Picture 20"/>
          <p:cNvPicPr/>
          <p:nvPr/>
        </p:nvPicPr>
        <p:blipFill>
          <a:blip r:embed="rId2"/>
          <a:stretch>
            <a:fillRect/>
          </a:stretch>
        </p:blipFill>
        <p:spPr>
          <a:xfrm>
            <a:off x="11031855" y="137160"/>
            <a:ext cx="1026795" cy="39624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" name="Group 2"/>
          <p:cNvGrpSpPr/>
          <p:nvPr/>
        </p:nvGrpSpPr>
        <p:grpSpPr>
          <a:xfrm>
            <a:off x="8465185" y="3636645"/>
            <a:ext cx="2026285" cy="2718435"/>
            <a:chOff x="7769" y="5602"/>
            <a:chExt cx="3191" cy="4281"/>
          </a:xfrm>
        </p:grpSpPr>
        <p:sp>
          <p:nvSpPr>
            <p:cNvPr id="4" name="Text Box 3"/>
            <p:cNvSpPr txBox="1"/>
            <p:nvPr/>
          </p:nvSpPr>
          <p:spPr>
            <a:xfrm>
              <a:off x="7769" y="8964"/>
              <a:ext cx="3191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320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ASM 2</a:t>
              </a:r>
              <a:endParaRPr lang="en-US" sz="32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s 9"/>
            <p:cNvSpPr/>
            <p:nvPr/>
          </p:nvSpPr>
          <p:spPr>
            <a:xfrm>
              <a:off x="8297" y="5602"/>
              <a:ext cx="1785" cy="1643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" name="Down Arrow 1"/>
            <p:cNvSpPr/>
            <p:nvPr/>
          </p:nvSpPr>
          <p:spPr>
            <a:xfrm>
              <a:off x="8845" y="7729"/>
              <a:ext cx="688" cy="1073"/>
            </a:xfrm>
            <a:prstGeom prst="downArrow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211955" y="3636645"/>
            <a:ext cx="2218690" cy="2950845"/>
            <a:chOff x="4012" y="5693"/>
            <a:chExt cx="3494" cy="4647"/>
          </a:xfrm>
        </p:grpSpPr>
        <p:sp>
          <p:nvSpPr>
            <p:cNvPr id="20" name="Rectangles 19"/>
            <p:cNvSpPr/>
            <p:nvPr/>
          </p:nvSpPr>
          <p:spPr>
            <a:xfrm>
              <a:off x="4973" y="5693"/>
              <a:ext cx="1509" cy="1459"/>
            </a:xfrm>
            <a:prstGeom prst="rect">
              <a:avLst/>
            </a:prstGeom>
            <a:noFill/>
            <a:ln w="28575">
              <a:solidFill>
                <a:srgbClr val="FFC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" name="Down Arrow 8"/>
            <p:cNvSpPr/>
            <p:nvPr/>
          </p:nvSpPr>
          <p:spPr>
            <a:xfrm>
              <a:off x="5550" y="7410"/>
              <a:ext cx="386" cy="1895"/>
            </a:xfrm>
            <a:prstGeom prst="down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4012" y="9422"/>
              <a:ext cx="3494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3200" b="1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Phỏng vấn </a:t>
              </a:r>
              <a:endParaRPr lang="en-US" sz="3200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093460" y="3636645"/>
            <a:ext cx="1069340" cy="2566035"/>
            <a:chOff x="9596" y="5727"/>
            <a:chExt cx="1684" cy="4041"/>
          </a:xfrm>
        </p:grpSpPr>
        <p:sp>
          <p:nvSpPr>
            <p:cNvPr id="12" name="Rectangles 11"/>
            <p:cNvSpPr/>
            <p:nvPr/>
          </p:nvSpPr>
          <p:spPr>
            <a:xfrm>
              <a:off x="9596" y="5727"/>
              <a:ext cx="1685" cy="1426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" name="Down Arrow 22"/>
            <p:cNvSpPr/>
            <p:nvPr/>
          </p:nvSpPr>
          <p:spPr>
            <a:xfrm>
              <a:off x="10288" y="7676"/>
              <a:ext cx="335" cy="1090"/>
            </a:xfrm>
            <a:prstGeom prst="down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" name="Text Box 23"/>
            <p:cNvSpPr txBox="1"/>
            <p:nvPr/>
          </p:nvSpPr>
          <p:spPr>
            <a:xfrm>
              <a:off x="9751" y="8766"/>
              <a:ext cx="1375" cy="100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l">
                <a:buClrTx/>
                <a:buSzTx/>
                <a:buFontTx/>
              </a:pPr>
              <a:r>
                <a:rPr lang="en-US" sz="3600" b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CV</a:t>
              </a:r>
              <a:endParaRPr lang="en-US" sz="36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298565" y="3731260"/>
            <a:ext cx="3322320" cy="3147060"/>
            <a:chOff x="9919" y="5876"/>
            <a:chExt cx="5232" cy="4956"/>
          </a:xfrm>
        </p:grpSpPr>
        <p:sp>
          <p:nvSpPr>
            <p:cNvPr id="11" name="Rectangles 10"/>
            <p:cNvSpPr/>
            <p:nvPr/>
          </p:nvSpPr>
          <p:spPr>
            <a:xfrm>
              <a:off x="11474" y="5876"/>
              <a:ext cx="2039" cy="1276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" name="Up Arrow 24"/>
            <p:cNvSpPr/>
            <p:nvPr/>
          </p:nvSpPr>
          <p:spPr>
            <a:xfrm rot="10800000">
              <a:off x="12230" y="7370"/>
              <a:ext cx="459" cy="2439"/>
            </a:xfrm>
            <a:prstGeom prst="upArrow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6" name="Text Box 25"/>
            <p:cNvSpPr txBox="1"/>
            <p:nvPr/>
          </p:nvSpPr>
          <p:spPr>
            <a:xfrm>
              <a:off x="9919" y="9830"/>
              <a:ext cx="5233" cy="100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ctr">
                <a:buClrTx/>
                <a:buSzTx/>
                <a:buFontTx/>
              </a:pPr>
              <a:r>
                <a:rPr lang="vi-VN" altLang="en-US" sz="3600" b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Điểm </a:t>
              </a:r>
              <a:r>
                <a:rPr lang="vi-VN" altLang="en-US" sz="3600" b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danh</a:t>
              </a:r>
              <a:endParaRPr lang="vi-VN" altLang="en-US" sz="36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1703070" y="3651250"/>
            <a:ext cx="2768600" cy="2643505"/>
            <a:chOff x="2682" y="5750"/>
            <a:chExt cx="4360" cy="4163"/>
          </a:xfrm>
        </p:grpSpPr>
        <p:sp>
          <p:nvSpPr>
            <p:cNvPr id="29" name="Rectangles 28"/>
            <p:cNvSpPr/>
            <p:nvPr/>
          </p:nvSpPr>
          <p:spPr>
            <a:xfrm>
              <a:off x="2682" y="5750"/>
              <a:ext cx="4360" cy="1526"/>
            </a:xfrm>
            <a:prstGeom prst="rect">
              <a:avLst/>
            </a:prstGeom>
            <a:noFill/>
            <a:ln w="38100">
              <a:solidFill>
                <a:srgbClr val="F448E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0" name="Down Arrow 29"/>
            <p:cNvSpPr/>
            <p:nvPr/>
          </p:nvSpPr>
          <p:spPr>
            <a:xfrm>
              <a:off x="4521" y="7545"/>
              <a:ext cx="570" cy="1274"/>
            </a:xfrm>
            <a:prstGeom prst="downArrow">
              <a:avLst/>
            </a:prstGeom>
            <a:solidFill>
              <a:srgbClr val="F448E6"/>
            </a:solidFill>
            <a:ln>
              <a:solidFill>
                <a:srgbClr val="F448E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1" name="Text Box 30"/>
            <p:cNvSpPr txBox="1"/>
            <p:nvPr/>
          </p:nvSpPr>
          <p:spPr>
            <a:xfrm>
              <a:off x="3209" y="8994"/>
              <a:ext cx="310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3200" b="1">
                  <a:solidFill>
                    <a:srgbClr val="F349A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ASM 1</a:t>
              </a:r>
              <a:endParaRPr lang="en-US" sz="3200" b="1">
                <a:solidFill>
                  <a:srgbClr val="F349A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Up Arrow 34"/>
          <p:cNvSpPr/>
          <p:nvPr/>
        </p:nvSpPr>
        <p:spPr>
          <a:xfrm>
            <a:off x="10699750" y="1847850"/>
            <a:ext cx="255270" cy="340360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10086340" y="1217930"/>
            <a:ext cx="1555750" cy="3435985"/>
            <a:chOff x="15884" y="1918"/>
            <a:chExt cx="2450" cy="5411"/>
          </a:xfrm>
        </p:grpSpPr>
        <p:sp>
          <p:nvSpPr>
            <p:cNvPr id="34" name="Rectangles 33"/>
            <p:cNvSpPr/>
            <p:nvPr/>
          </p:nvSpPr>
          <p:spPr>
            <a:xfrm>
              <a:off x="15884" y="3631"/>
              <a:ext cx="2451" cy="369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6" name="Text Box 35"/>
            <p:cNvSpPr txBox="1"/>
            <p:nvPr/>
          </p:nvSpPr>
          <p:spPr>
            <a:xfrm>
              <a:off x="16168" y="1918"/>
              <a:ext cx="1858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40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THI</a:t>
              </a:r>
              <a:endParaRPr lang="en-US" sz="4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506" name="Group 2"/>
          <p:cNvGrpSpPr/>
          <p:nvPr/>
        </p:nvGrpSpPr>
        <p:grpSpPr>
          <a:xfrm>
            <a:off x="9499600" y="85725"/>
            <a:ext cx="3855509" cy="6858000"/>
            <a:chOff x="0" y="0"/>
            <a:chExt cx="8422129" cy="13716000"/>
          </a:xfrm>
        </p:grpSpPr>
        <p:pic>
          <p:nvPicPr>
            <p:cNvPr id="21513" name="Picture 3"/>
            <p:cNvPicPr>
              <a:picLocks noChangeAspect="1"/>
            </p:cNvPicPr>
            <p:nvPr/>
          </p:nvPicPr>
          <p:blipFill>
            <a:blip r:embed="rId1"/>
            <a:srcRect l="32800" r="26192"/>
            <a:stretch>
              <a:fillRect/>
            </a:stretch>
          </p:blipFill>
          <p:spPr>
            <a:xfrm>
              <a:off x="0" y="0"/>
              <a:ext cx="8422129" cy="13716000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150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797629" flipH="1">
            <a:off x="10890250" y="-147108"/>
            <a:ext cx="1762125" cy="154410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8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35364" flipV="1">
            <a:off x="9683750" y="5254625"/>
            <a:ext cx="2807759" cy="2460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9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797629">
            <a:off x="11761259" y="855133"/>
            <a:ext cx="271991" cy="27093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10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52734">
            <a:off x="10866967" y="6217709"/>
            <a:ext cx="281517" cy="28151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11" name="TextBox 8"/>
          <p:cNvSpPr txBox="1"/>
          <p:nvPr/>
        </p:nvSpPr>
        <p:spPr>
          <a:xfrm>
            <a:off x="322580" y="1202055"/>
            <a:ext cx="9105900" cy="518858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95605" lvl="1" indent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3000" dirty="0">
                <a:solidFill>
                  <a:srgbClr val="1B364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1. Các thành viên nhóm làm 1 bài test tính cách bất kỳ MBTI, DISC, Holland code =&gt; Rút ra ưu điểm và nhược điểm liên quan đến công việc </a:t>
            </a:r>
            <a:endParaRPr lang="en-US" altLang="en-US" sz="3000" dirty="0">
              <a:solidFill>
                <a:srgbClr val="1B364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95605" lvl="1" indent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3000" dirty="0">
                <a:solidFill>
                  <a:srgbClr val="1B364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=&gt; Nộp cho nhóm trưởng =&gt; Nhóm trưởng tổng hợp thành 1 file gửi cho cô trước buổi học 2</a:t>
            </a:r>
            <a:endParaRPr lang="en-US" altLang="en-US" sz="3000" dirty="0">
              <a:solidFill>
                <a:srgbClr val="1B364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95605" lvl="1" indent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3000" dirty="0">
              <a:solidFill>
                <a:srgbClr val="1B364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95605" lvl="1" indent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3000" dirty="0">
                <a:solidFill>
                  <a:srgbClr val="1B364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2. Mỗi nhóm thảo luận 1 ý tưởng dự án dựa trên 5W1H</a:t>
            </a:r>
            <a:endParaRPr lang="en-US" altLang="en-US" sz="3000" dirty="0">
              <a:solidFill>
                <a:srgbClr val="1B3641"/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512" name="TextBox 9"/>
          <p:cNvSpPr txBox="1"/>
          <p:nvPr/>
        </p:nvSpPr>
        <p:spPr>
          <a:xfrm>
            <a:off x="758190" y="413597"/>
            <a:ext cx="8569325" cy="82042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ts val="6400"/>
              </a:lnSpc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FA962E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BÀI TẬP VỀ NHÀ</a:t>
            </a:r>
            <a:endParaRPr lang="en-US" altLang="en-US" sz="3600" b="1" dirty="0">
              <a:solidFill>
                <a:srgbClr val="FA962E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Minimalist Presentation">
      <a:dk1>
        <a:sysClr val="windowText" lastClr="000000"/>
      </a:dk1>
      <a:lt1>
        <a:sysClr val="window" lastClr="FFFFFF"/>
      </a:lt1>
      <a:dk2>
        <a:srgbClr val="ABABAB"/>
      </a:dk2>
      <a:lt2>
        <a:srgbClr val="F2F1EE"/>
      </a:lt2>
      <a:accent1>
        <a:srgbClr val="D8D2CD"/>
      </a:accent1>
      <a:accent2>
        <a:srgbClr val="C0C9C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Biome Light"/>
        <a:ea typeface=""/>
        <a:cs typeface=""/>
      </a:majorFont>
      <a:minorFont>
        <a:latin typeface="Biom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{9793B7EF-6260-4A42-BADF-350714EE9CDE}tf16411245_win32</Template>
  <TotalTime>0</TotalTime>
  <Words>2656</Words>
  <Application>WPS Presentation</Application>
  <PresentationFormat>Widescreen</PresentationFormat>
  <Paragraphs>172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Arial</vt:lpstr>
      <vt:lpstr>SimSun</vt:lpstr>
      <vt:lpstr>Wingdings</vt:lpstr>
      <vt:lpstr>Biome Light</vt:lpstr>
      <vt:lpstr>Yu Gothic UI Light</vt:lpstr>
      <vt:lpstr>Quire Sans</vt:lpstr>
      <vt:lpstr>Yu Gothic UI</vt:lpstr>
      <vt:lpstr>Avenir Next LT Pro</vt:lpstr>
      <vt:lpstr>Segoe UI</vt:lpstr>
      <vt:lpstr>Roboto Lt</vt:lpstr>
      <vt:lpstr>Times New Roman</vt:lpstr>
      <vt:lpstr>Microsoft YaHei</vt:lpstr>
      <vt:lpstr>Arial Unicode MS</vt:lpstr>
      <vt:lpstr>Calibri</vt:lpstr>
      <vt:lpstr>Arial Bold</vt:lpstr>
      <vt:lpstr>Arial</vt:lpstr>
      <vt:lpstr>Arial Bold Italics</vt:lpstr>
      <vt:lpstr>Segoe Print</vt:lpstr>
      <vt:lpstr>Office Theme</vt:lpstr>
      <vt:lpstr>GIỚI THIỆU MÔN HỌC PDP104</vt:lpstr>
      <vt:lpstr>Giới thiệu làm quen</vt:lpstr>
      <vt:lpstr>PowerPoint 演示文稿</vt:lpstr>
      <vt:lpstr>Quy định lớp học</vt:lpstr>
      <vt:lpstr>Cách nộp bài - Gửi email - Giao tiếp chung</vt:lpstr>
      <vt:lpstr>ĐIỂM DANH</vt:lpstr>
      <vt:lpstr>ĐIỂM CỘNG</vt:lpstr>
      <vt:lpstr>Mục tiêu môn học</vt:lpstr>
      <vt:lpstr>PowerPoint 演示文稿</vt:lpstr>
      <vt:lpstr>Team</vt:lpstr>
      <vt:lpstr>PowerPoint 演示文稿</vt:lpstr>
      <vt:lpstr>PowerPoint 演示文稿</vt:lpstr>
      <vt:lpstr>PowerPoint 演示文稿</vt:lpstr>
      <vt:lpstr>PowerPoint 演示文稿</vt:lpstr>
      <vt:lpstr>Quy cách đánh giá môn học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VÀ  LÀM QUEN</dc:title>
  <dc:creator>khanhlynguyen.a2@gmail.com</dc:creator>
  <cp:lastModifiedBy>Ly Nguyễn</cp:lastModifiedBy>
  <cp:revision>119</cp:revision>
  <dcterms:created xsi:type="dcterms:W3CDTF">2023-01-04T02:50:00Z</dcterms:created>
  <dcterms:modified xsi:type="dcterms:W3CDTF">2026-03-10T00:32:43Z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29749212E4FB428791705BD654236A66</vt:lpwstr>
  </property>
  <property fmtid="{D5CDD505-2E9C-101B-9397-08002B2CF9AE}" pid="4" name="KSOProductBuildVer">
    <vt:lpwstr>1033-12.2.0.23155</vt:lpwstr>
  </property>
</Properties>
</file>